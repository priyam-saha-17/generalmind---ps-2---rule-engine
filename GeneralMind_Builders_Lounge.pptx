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 · Title · ~1 min
SAY
- Welcome to the Builders Lounge. I'm Pranav, engineering at GeneralMind Bengaluru; Sergiu Soima co-hosts and is running the twin session in Berlin today.
- The next ~20 minutes are the quick version of one idea: a model class that returns decisions instead of text. Two models: Jev (TypeSafe, closed, hosted) and Laya (Convai, open weights, self-hosted).
- After that the room is yours. Small group, approval-based, so please interrupt.
THREE TAKEAWAYS TO PROMISE
1. What a System One model is and how it differs from wrapping an LLM in JSON mode.
2. What Jev and Laya actually are, with real numbers and the caveats behind them.
3. One concrete thing to build this afternoon, with a number at the end.
HOUSEKEEPING
- Wi-Fi and refreshments; show and tell at the end, 3 minutes per team.
- Deck and links will be shared afterwards; no need to photograph slides.
TRANSITION
- "First, 90 seconds on who we are, because it explains why we care about this."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2 · Who we are · ~2 min
SAY
- GeneralMind builds AI employees for supply-chain operations. Berlin and Bengaluru. Formerly Ada AI.
- Left panel, yesterday: stakeholders on top (suppliers, procurement, warehouses, carriers, accounting, customers), systems of record at the bottom (SAP, Oracle, D365, plus the Excel and Outlook that live next to them). In between: people. Every stakeholder writes to every operator, every operator re-keys into every system. Email is the ticketing system of white-collar work.
- Count the paths: 24 stakeholder-to-operator, 20 operator-to-system in this toy version. Real plants are worse. Nothing shares state.
- Right panel, today: one execution layer. It reads the inbound (emails, PDFs), decides what it is and what to do, writes to the system of record. People review by exception through a control panel; the Autopilot toggle takes the confident cases automatically. Autopilot is the product's core motion: go live, watch confidence, flip the switch per workflow.
WHY IT MATTERS FOR TODAY
- Ask the room: what does that AI employee do all day? Mostly it decides. Which queue, which customer, which item, act or escalate. Writing a reply is the small part.
IF ASKED
- Which ERPs: SAP (ECC and S/4), Oracle, Dynamics 365, plus email and file-based flows.
- Which customers: manufacturers, distributors, food and beverage; keep it generic, no names.
- How do you integrate: read/write APIs, IDoc/BAPI style interfaces, or computer use on the ERP screens where there is no API.
TRANSITION
- "Under the hood that AI employee is a platform. Let me show you where the decisions hide."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3 · Platform · ~1.5 min
SAY
- This is our platform map, the one from our company deck. Nine components; every one of them runs on LLM calls today.
- The three with the black tag are pure decisions: InboxIQ classifies intent; the confidence score is a probability behind every action; the rule engine is "if this, then that" over fuzzy inputs.
- The untagged ones are a mix. Extraction and parsing genuinely need a vision model and room to reason. Autonomous comms needs text. But retrieval and fuzzy match end in a choice; context engine ends in a threshold; ERP integration is gated by a verify step.
- Cost of doing all that with a generator: seconds of latency per decision, output tokens priced at 5x input, and a "confidence" that is text the model wrote, not a probability it holds.
THE HOOK
- "What if the model returned the decision directly, with a probability you can actually threshold on?" That is the whole talk.
IF ASKED
- Are you replacing the LLM: no. The plan is a decision layer around the generative steps, not inside them (slide 14).
- Have you shipped this: not yet; experiments started this week. Today is for evidence.
TRANSITION
- Section slide: System One models.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4 · Section: System One models · ~15 s
SAY
- Named after Kahneman: System 1 is fast, intuitive, pattern-matching; System 2 is slow and deliberate. LLM reasoning traces are System 2. These models are built for the System 1 work software needs thousands of times a day.
- The claim is not "smarter than an LLM". The claim is "a better interface for automation".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5 · LLM as classifier vs System One · ~2.5 min
SAY (top row)
- Everyone here has built this at least once. Prompt plus a JSON schema. The model generates tokens one at a time. You parse the JSON. You validate the enum, and when it invents a value you retry. And when you want a confidence, you ask the model to "rate your confidence 0 to 1" and it writes a number.
- Three costs: seconds of latency; output tokens are the expensive ones; and that confidence is prose. It is not a probability the model holds, so you cannot threshold on it honestly.
SAY (bottom row)
- System One: hand the model the program state (text, JSON, arrays) plus a typed schema of the possible answers. One non-autoregressive forward pass. The output space is fixed by the schema, so there is no hallucinated field, no malformed enum, nothing to parse. What comes back is a distribution over the options, and that distribution is what RLCD trains to be honest.
- Tens to hundreds of milliseconds. Output tokens are effectively zero, so nothing to meter there.
QUOTE TO USE
- TypeSafe's founder Diogo Almeida (ex-OpenAI, worked on ChatGPT instruction following): "Models have been superhuman at chat for years, so where is all the automation?" Their answer: the interface was wrong, not the intelligence.
IF ASKED
- "Isn't this just a classifier?" Yes, an honest way to say it. The difference from a fine-tuned BERT classifier: the labels are defined per request, not at training time; many questions run in one pass; and the probabilities are trained to be calibrated rather than an afterthought. It is a very good general-purpose classifier with a contract.
- "Does it reason?" No. If the decision needs chain-of-thought it is a System 2 job; route it to an LLM.
- "Images?" Text only today for both Jev and Laya.
TRANSITION
- "The schema is built from three primitives."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6 · Primitives · ~2 min
SAY
- Every question is one of three types, and all three take the same state and are answered independently, in parallel, in one call.
- choice: categorical. "Which team should handle this?" You get the selected option, a probability over every option, and a confidence, which is how peaked that distribution is.
- score: ordinal. Criteria are an ordered list of levels. "How frustrated is this customer?" The answer can fall between levels (an expected value), with a distribution over levels.
- noul: a yes/no probability. Near 1 strong yes, near 0.5 undecided. No separate confidence field; the number is the confidence.
- Criteria are supplied at request time, in plain language. Adding an option is editing a dict, not retraining.
PRACTICAL LIMITS (Jev, from its API docs)
- Up to 255 options per choice question; 2 to 10 levels per score. Laya degrades well before 255; more on that later.
- Independence: each question sees the same state but does not see the other answers. Chain calls if you need conditioning, but prefer packing questions into one call.
WHAT YOU CANNOT ASK
- Anything that needs generated text or an open answer space: "what is the PO number" is extraction, not a decision. Give it candidates and it becomes a choice.
IF ASKED
- Composability: threshold, weight, or feed answers into a follow-up request; combine with deterministic code. That is the whole design pattern.
TRANSITION
- "The interesting part is how the probabilities are trained. That is RLCD."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7 · Section: RLCD · ~15 s
SAY
- Reinforcement Learning for Calibrated Decisions. TypeSafe's term, coined with the Jev launch on 15 September. The training idea behind both Jev and Laya, with one big difference in how much each has published. Two slides.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8 · RLCD vs RLHF vs RLVR · ~2 min
SAY
- Three RL post-training objectives, three failure modes.
- RLHF: reward is human preference. Failure mode is sycophancy. Text that sounds confident scores well even when it is not reliable enough to run unattended.
- RLVR: reward is verifiable correctness, tests and math. Great when a verifier exists; the price is long reasoning traces, so inference is slow and expensive.
- RLCD: reward is calibration. Probabilities are optimised against outcomes. TypeSafe's definition, bottom strip: outcomes you assign 0.2 should happen about 20% of the time, 0.8 about 80%. And the fine print from their own docs: these rates describe groups of predictions, not a guarantee about any single answer.
WHY THIS IS THE POINT
- Accuracy alone is not automation-grade. A model that is 90% accurate but says 99% on everything is useless for gating. A model that is 70% accurate and says 70% when it is 70% lets you automate the confident slice and route the rest.
WHAT IS ACTUALLY PUBLISHED (be precise, this comes up)
- TypeSafe: the goal is disclosed, the method is not. No paper, no model card, no reward function, no data, no calibration figure. Training data is synthetic. Forbes called RLCD "a made-up phrase by this startup", i.e. a label, not a standard.
- The arXiv paper people are sharing (2609.29429, "Just Ask Jev", 24 Sep) is by academics at Griffith, NTU, UNSW, Deakin, GMU and Wake Forest. It benchmarks Jev as a black box through the API. It says nothing about training.
- Convai's Laya published a complete recipe. If someone asks "how do you train for calibration", this is the answer:
  1. The policy outputs a distribution over the options (scored at [MASK] positions, softmaxed per question). No tokens are sampled.
  2. Exploration is zero-mean Gaussian noise on the logits.
  3. Reward is a strictly proper scoring rule: log plus spherical score for choice and noul, ranked probability score for ordinal score. Strictly proper means the only way to maximise expected reward is to report the probability you actually hold. Overconfidence and hedging are both penalised.
  4. Update with REINFORCE and a group-mean baseline (GRPO-style); multi-turn uses TD with lambda 1.0 over prefix slices.
  5. Fit one temperature per (question type, option count) on held-out data. That takes Laya's ECE from 0.466 to 0.081.
  Compute: two T4s on Kaggle, four to five hours, four epochs over about 30k questions.
TRANSITION
- "Why calibration is the whole point, with numbers."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10 · Section: Laya · ~15 s
SAY
- Laya, from Convai Innovations, founder Nandakishor Mukkunnoth. Open weights, Apache 2.0, released 18 September, three days after Jev. Two slides: what it is, and how it measures against Jev.
- If the room asks how it shipped so fast: his arXiv papers from March and September 2025 already described non-autoregressive decision models trained with PPO over sequence representations. TypeSafe generalised the idea across schemas; Laya generalised his own work. (Sergiu is trying to get him in for a keynote in a few weeks.)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11 · Laya overview · ~4 min (this is the deep one)
OPEN WITH THE FOUR NUMBERS
- 32.8 ms for a single question on a Tesla T4 with the multilingual checkpoint; 39.5 ms with the English one. Jev's p50 in the same report was 236 to 276 ms, so roughly 6 to 8x faster per question. Both numbers are Convai's measurements; Jev's includes the network hop.
- 7.2 ms per question when you batch ten questions into one call (72.3 ms total); 15.9 ms per question for the English checkpoint. Throughput on one T4: 103 to 332 questions per second batched.
- 100+ languages via the multilingual checkpoint plus the router.
- $0 per token because you host it. Weights are about 2.5 GB across the three checkpoints in safetensors; the ONNX fp32 export is about 1.7 GB.
HOW IT DECIDES (left diagram, bottom to top of the stack)
- Input: the state, plus every option written into the input as markers, each with a [MASK] token.
- Encoder: bidirectional, not a decoder. English checkpoint is ModernBERT-large, 395M of the 421M parameters, fully fine-tuned. Multilingual is mmBERT-base, 22 layers, a 256k-token vocabulary.
- Decision head, trained from scratch: two transformer layers, an option scorer and a gate. The scorer reads the [MASK] positions.
- Softmax per question. Because options are part of the input, the answer space is defined at request time. Same contract as Jev: choice, score, noul.
- "Non-autoregressive" is literal: one forward pass, no sampling, no decoding loop. That is where the latency comes from.
THREE CHECKPOINTS, ONE ROUTER (right table)
- laya: ModernBERT-large, 421M, 512-token context. English text, guardrails, email triage.
- laya-multilingual: mmBERT-base, 322M, 1024 context (8k supported). 100+ languages, about 2x faster than the English one.
- laya-typed-decisions: ModernBERT-large, 421M, 1024 context, fine-tuned on four typed-decision workflows; this is the checkpoint behind the 0.766 headline on the next slide.
- The router does sub-millisecond Unicode script detection across 22 alphabets (Devanagari, CJK, Cyrillic, Arabic, Khmer, ...), adds under 2% to the forward pass, and picks the checkpoint. Router(preload=True) keeps both loaded; without preload a checkpoint swap costs 7 to 10 seconds.
- Why the router exists: the English model does not degrade gracefully outside Latin script, it fails silently. On Khmer it scored 0.000 accuracy at 0.952 confidence. That is the worst kind of failure for a model whose whole pitch is honest probabilities, and it is why you never ship the English checkpoint alone to a multilingual inbox. With the router, 45 of 51 MASSIVE languages are usable (above 3x random).
HONEST LIMITS (say these; the slide with them was cut for time)
- Zero-shot is near chance: 0.362 on typed-decisions, below the 0.461 majority-class baseline. The 0.766 is the fine-tune. Treat it as a foundation to specialise, not an oracle.
- Wide option sets collapse: 0.425 on Banking77 (77 labels) vs Jev 0.870. Keep schemas under about 20 options; with 50+ the default token budget leaves 3 to 4 tokens per label, so raise head_max_len or do a two-step hierarchical choice or an embedding shortlist first.
- Ordinal score is the weakest primitive (SST-5: 0.372). Prefer choice with explicit levels where you can.
- noul label bias: it can follow the label text ("true:" / "false:") rather than the state. Verify on your data and never use boolean labels inside choice questions.
- Overconfident until you fit temperatures (raw ECE 0.466). Fit per (type, option count) on held-out data.
- Context: 512 tokens on the English checkpoint. Long threads need the multilingual one (1024, 8k supported) or chunking.
- Hardware: interactive use needs a T4-class GPU. CPU-only median is 49.4 seconds per decision; fine for batch, not for a request path.
HOW TO RUN IT (if the room wants specifics)
- pip install laya; from laya import Router; router = Router(preload=True); router.predict(state, questions). Batch with predict_batch.
- pip install "laya[serve]" then LAYA_DEVICE=cuda LAYA_PRELOAD=1 laya-serve gives a Jev-compatible POST /v1/systemone on port 8000, so anything written for Jev can point at localhost.
- Node: @receptron/laya on ONNX Runtime, Node 20+, about 2 GB RAM, about 140 ms on a warm Apple-silicon CPU, output matches the Python reference and Jev to four decimals. laya-mlx for Apple silicon. LangChain and MCP extras exist.
- Fine-tune: the Kaggle notebook, two free T4s, four to five hours; a few hundred labelled decisions from your domain is a realistic Sunday scope.
LIKELY QUESTIONS
- "How can 421M parameters compete with a frontier-scale model?" On narrow, fine-tuned decisions an encoder classifier is a well-understood tool; that is exactly where Laya wins. On wide option sets and zero-shot, Jev wins clearly. The comparison is task-shaped, not model-shaped.
- "Is the paper real?" Mukkunnoth's arXiv papers are from March and September 2025 on non-autoregressive decision models; the Laya model card and training notebook are public; community RLCD checkpoints appeared within days.
- "Can we run it here?" Yes, on a T4-class GPU; the free hosted endpoint and the Hugging Face Space work for the afternoon.
INTERNAL ONLY (do not say to the room)
- We have a self-hosted Laya server on the internal domain; the key is in Bao. jev-lab has an env example for it.
TRANSITION
- "So how does it measure against Jev? Published numbers, then the caveats."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13 · Section: Where to use · ~15 s
SAY
- The principle Flowtivity distilled after running both models behind one interface: decide cheap, gate hard, write rarely. Optimise the decision layer for cost and speed, gate on calibrated confidence, and reserve the LLM for the steps that actually need generated text.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14 · Decision map · ~2 min
SAY (left, System One)
- Anything whose output is a decision over a known answer space: classify, route, score, verify, guardrail, branch. High-volume repeated decisions over shared state. Latency-sensitive UX with a ~100 ms budget. Map-reduce over big data to produce features. Guardrail and jailbreak checks on every turn. RAG passage filtering. Spam, phishing, intent, urgency, churn signals.
SAY (right, LLM / VLM)
- Anything that writes: replies, summaries, explanations. Parsing and extraction from documents, scans, PDFs: that needs the vision modality and room to reason, and it is not a decision. Open-ended reasoning, planning, multi-step agents. Anything where the answer space is not known up front. Code and structured generation.
SAY (middle, the pattern)
- The interesting architecture is the combination. Classify intent and complexity first; send simple cases to deterministic code, hard ones to a specialist LLM, low-confidence ones to a human. Put a calibrated gate in front of every autonomous action. Replace LLM-as-judge with a noul. Choose which parser or prompt to run before running it. Use it to label and filter training data. Run a cheap pre-check before an expensive frontier call.
MY OWN POSITION (from the internal thread, safe to say)
- I got asked whether this could replace document parsing. No. Parsing and extraction need vision and reasoning; that is a different problem class. Where it shines is the decision points around the parser: which document is this, which parser, is the extraction consistent, act or escalate.
TRANSITION
- "If you are choosing between the two models, here is the short version."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15 · Jev or Laya · ~1.5 min
SAY
- Reach for Jev when the option set is wide (Banking77-style, more than 20 categories), when you cannot label training data yet, when you want zero setup and a managed API today, and when $0.042 per million input tokens is fine. Trade-offs: closed weights, no auditability, waitlist access, one vendor's roadmap.
- Reach for Laya when the decision is narrow and high-volume, when you can label a few hundred examples, when data residency or an audit trail is a requirement, and when you want sub-50 ms on your own GPU with no per-token bill. Trade-offs: you own fine-tuning, temperature fitting, a T4-class GPU, and a 512 or 1024-token context.
- Bottom card, Flowtivity's conclusion after running both: "a model lead is not a business moat." The moat is your labelled data, your calibrated thresholds, your audit trail, and the workflow around the model. They put the decision model behind a thin interface and can swap Laya and Jev in a day. Laya's laya-serve and the Node wrapper already speak Jev's request shape, so the abstraction is cheap. Build it that way this afternoon.
IF ASKED
- "Can I use both?" Yes: Jev for the wide zero-shot questions, Laya for the narrow high-volume ones, behind one interface.
- "What about the community RLCD checkpoints?" Early. Same interface; measure them the same way.
TRANSITION
- Section slide: build time.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16 · Section: Build time · ~15 s
SAY
- Laptops open. Three starter tracks on the next slide, or ship your own thing. The only ask: show a number at the end.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17 · Three starter tracks · ~1.5 min
SAY
- Track 1, Replace: take an LLM-as-classifier step from something you already run, swap in Jev on the same inputs, and compare p50 latency, cost per thousand decisions, accuracy and ECE. Deliverable: one comparison table.
- Track 2, Fine-tune: label a few hundred decisions from your domain, run the Laya Kaggle notebook on the free 2xT4, fit temperatures, and compare zero-shot vs fine-tuned. It takes four to five hours, so start now or bring a pre-labelled set. Deliverable: before/after accuracy and ECE, and a pushed checkpoint.
- Track 3, Gate: wire calibrated probabilities into a routing or escalation threshold instead of a hard rule, and measure what share of traffic you can automate at a target error rate. Deliverable: a coverage-vs-accuracy curve.
- Or ignore all three and ship your own thing. The only ask is a number at the end, measured on your workflow, not quoted from a launch post.
FORMING TEAMS
- Two or three people around one workflow someone actually has. Mixed teams (one who owns a pipeline, one who has run fine-tunes) go fastest.
INTERNAL ONLY (GM team: Agrim, Dhruv, Shripati, Aryajeet, Utsav)
- Our own task is the parsing fine-tune; integrate Jev/Laya as dataset builder, parser router or consistency judge. The jev-lab folder has the harness and the self-hosted Laya env example.
TRANSITION
- "Here is the toolkit."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Problem statements · ~3 min
FRAME
- These are three real decision points from the kind of pipeline we run, abstracted so anyone can build on them. Each comes as a folder with a README, a synthetic dataset and a starter script that already calls the model and prints the right metrics. Nothing customer-specific in there.
01 INBOX IQ (easy)
- A shared operations mailbox gets everything: orders, changes, invoices, shipment questions, claims, noise. Four typed questions per email: which queue, how urgent, does it need a reply, does an attachment need processing.
- Today: keyword rules plus an LLM prompt returning JSON. New phrasing or a new language breaks a rule.
- The number: coverage at 95% precision on the queue question, i.e. how much mail you can auto-route if you only act where the slice is 95% right. Always keep an "other" option; without it out-of-scope mail gets forced into a queue with high confidence.
02 RULE ENGINE (medium)
- After extraction there is a structured record (party, ship-to, requested date, lines with item, quantity, unit, maybe a quoted price), the email it came from, and master data (allowed units, list price, lead time). Business rules run before anything is written.
- Two kinds of rules. Deterministic ones, like "requested date earlier than lead time allows", are code and stay code. Fuzzy ones are the problem: is this a pickup, is the price disputed, is this only a partial confirmation, should it be held, which unit did they mean by "boxes". Today each fuzzy rule is a regex list per language plus its own prompt, rules interact, and every rule returns a boolean when what the operator needs is "how sure are we".
- Task: the fuzzy rules become typed questions on one call over (record + email + master), one probability per rule, plus a meta-rule "does a person need to look". The unit question is a choice whose options come from the record's own master data at request time.
- The number: share of records auto-processed at no more than 2% wrong-auto, gating on the escalation probability. Baseline: a deliberately naive regex set in the starter.
03 CONFIDENCE SCORING (hard)
- Every extracted field has evidence: the source snippet, candidate matches with similarity scores, parser confidence, sometimes a judge's opinion. The operator sees a confidence per field and per record; above a threshold the record is booked automatically.
- Today: a hand-tuned blend of those signals with rule penalties subtracted. It ranks fields fine. It is not calibrated: 0.90 does not mean 90% right. So the threshold is set by feel and every tenant re-tunes it.
- Ground truth is free: did the operator edit the field before booking.
- Task: a calibrated probability that each field is correct, aggregated to a probability the record is bookable without edits. The dataset has the hard cases built in: near-duplicate customers where only the sender domain disambiguates, ambiguous item variants, unit conversion (3 pallets is 144 base units), relative dates, and a policy field where a confidently-read customer price is still wrong.
- The number: coverage at no more than 1% error, and ECE, both against the incumbent heuristic on the same chart.
HOW TO PITCH THE CHOICE
- If you want a result in an hour: 01. If you want to argue about architecture: 02. If you want to change how a company sets its automation rate: 03.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Worked examples · ~3 min
LEFT: RULE ENGINE
- Walk the state. A sales order for 12 "20 kg buckets" of XR-40, no ship-to address on the record, requested date in five days. The email says the counterparty's own truck collects on Thursday and that they expect 35.82 per unit under their framework agreement. Master data: allowed units for this item are 4 kg bucket, 20 kg bucket, pallet; list price 39.80; lead time 5 days.
- Today's rule engine: a regex list for "collect / pickup / abholen" per language, another for price words, a separate prompt for "should this be held", and a boolean out of each. "Our driver will swing by with the van" matches nothing.
- As questions, on one call: is_pickup noul, price_disputed noul, hold_order noul, partial_confirmation noul, unit_resolution choice over the record's own allowed units, escalate_to_human noul. The answers on the slide: pickup 0.93, price disputed 0.91, hold 0.08, unit = bucket_20kg at 0.88, escalate 0.90.
- Deterministic rule stays code: five days requested vs five days lead time, no conflict, no model involved. Say this explicitly: the point is not to put everything through a model.
- Action: the escalation probability is above the gate, so a person sees the record with two flags and the distribution attached, before anything is written. The unit is resolved automatically because the choice was over three options and the probability is high.
- What you measure: per-rule AUROC against labels, and the share of records that can go through without a person at no more than 2% wrong-auto. The regex baseline in the starter is honest but naive; beat it.
RIGHT: CONFIDENCE SCORING
- Walk the state. Field: customer_id. Source: the email comes from buyer@acme-trading.de and the subject says "order for ACME GmbH". Extracted value: 44812, ACME GmbH. Candidates from master with similarity scores: 44812 ACME GmbH at 0.91, 44902 ACME Trading GmbH at 0.88. The incumbent heuristic says 0.90, because it is essentially the top similarity score.
- Ask one noul: is the extracted value what a careful operator would book, given the snippet, the candidates and the policy? Answer on the slide: 0.62. The model has read the sender domain and noticed the near-duplicate; the heuristic did not.
- Record level: five fields, each with a probability. Aggregate (product on the slide, 0.58; try min or a learned combination). At an autopilot gate of 0.95 the record goes to confirm, not to autopilot. With the heuristic's 0.90 it would have been booked, and the operator would have edited it, which is exactly the ground truth signal in the dataset.
- What you measure: ECE and reliability of your probability vs the heuristic at field level; coverage at no more than 1% error at record level; both on one coverage-vs-error chart. If your curve sits above the heuristic's at the same error rate, you have changed how a company sets its automation rate.
- Stretch: temperature-scale on half the records, evaluate on the other half; find which field type dominates the errors and whether the model knows it.
IF ASKED
- "Why not fine-tune a classifier per rule?" You can, and Laya is that path; the point of the request-time schema is that rules and options change per tenant without retraining.
- "Where does the ground truth come from in real life?" Operator edits. Every reviewed record is a labelled example; the confidence problem is the one where the data is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18 · Toolkit · ~1 min
SAY
- Jev: TypeSafe console sign-ups are at capacity, so use OpenRouter, model typesafe/jev-1.13, through the Decisions API. Chat-completions SDKs will not work with it.
- Laya three ways: pip install laya (Router with preload); the free hosted endpoint at impossibl.com/convaiinnovations/laya; the Hugging Face demo Space. laya-serve gives you a Jev-compatible local server.
- Fine-tuning: the Kaggle notebook laya_finetune_typed_decisions_2xT4 on the free two-T4 tier. Four to five hours.
- Docs: docs.typesafe.ai (system-one, primitives, api, intent-routing pattern); laya.convaiinnovations.com; the Hugging Face model card; github.com/NandhaKishorM/laya; the flowtivity.ai write-up. Independent evidence: github.com/priorbench/jev and arXiv 2609.29429.
- Measure: p50 latency, cost per 1k decisions, accuracy, ECE with a reliability diagram, coverage at a target error rate. Same inputs for every model.
HOW THE AFTERNOON RUNS
- Form teams of two or three. Build. Half-way check-in: "what are you measuring?" Show and tell at the end, three minutes per team, one number each. GM engineers are around to unblock.
INTERNAL ONLY
- GM team: Nishrit created our TypeSafe organisation, ask him for an invite. Our self-hosted Laya endpoint and its env example are in jev-lab; the key lives in Bao, never in a file you commit.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NOTES · Slide 19 · Closing · ~30 s
SAY
- Build your own opinion. Do not let the hype on X shape it. Then share it with the room.
- Thanks for coming. Links and the deck go out afterwards. Bring a laptop and a workflow you would like to make faster. Let's build.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image" Target="../media/image-2-13.png"/><Relationship Id="rId14" Type="http://schemas.openxmlformats.org/officeDocument/2006/relationships/image" Target="../media/image-2-14.png"/><Relationship Id="rId15" Type="http://schemas.openxmlformats.org/officeDocument/2006/relationships/image" Target="../media/image-2-15.png"/><Relationship Id="rId16" Type="http://schemas.openxmlformats.org/officeDocument/2006/relationships/image" Target="../media/image-2-16.png"/><Relationship Id="rId17" Type="http://schemas.openxmlformats.org/officeDocument/2006/relationships/image" Target="../media/image-2-17.png"/><Relationship Id="rId18" Type="http://schemas.openxmlformats.org/officeDocument/2006/relationships/image" Target="../media/image-2-18.png"/><Relationship Id="rId19" Type="http://schemas.openxmlformats.org/officeDocument/2006/relationships/slideLayout" Target="../slideLayouts/slideLayout1.xml"/><Relationship Id="rId20"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slideLayout" Target="../slideLayouts/slideLayout1.xml"/><Relationship Id="rId11"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1.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slideLayout" Target="../slideLayouts/slideLayout1.xml"/><Relationship Id="rId6"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28600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System One models:</a:t>
            </a:r>
            <a:endParaRPr lang="en-US" sz="4800" dirty="0"/>
          </a:p>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Jev, RLCD and Laya</a:t>
            </a:r>
            <a:endParaRPr lang="en-US" sz="4800" dirty="0"/>
          </a:p>
        </p:txBody>
      </p:sp>
      <p:sp>
        <p:nvSpPr>
          <p:cNvPr id="5" name="Text 1"/>
          <p:cNvSpPr txBox="1"/>
          <p:nvPr/>
        </p:nvSpPr>
        <p:spPr>
          <a:xfrm>
            <a:off x="502920" y="388620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Builders Lounge @ GeneralMind  ·  Bengaluru  ·  Sunday 27 September 2026</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BUILDERS LOUNGE · KICKOFF</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GENERALMIND · 2026</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GeneralMind builds AI employees for the messy handovers along the supply chain</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WHO WE ARE · PROBLEM SET</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02</a:t>
            </a:r>
            <a:endParaRPr lang="en-US" sz="900" dirty="0"/>
          </a:p>
        </p:txBody>
      </p:sp>
      <p:sp>
        <p:nvSpPr>
          <p:cNvPr id="6" name="Text 3"/>
          <p:cNvSpPr txBox="1"/>
          <p:nvPr/>
        </p:nvSpPr>
        <p:spPr>
          <a:xfrm>
            <a:off x="502920" y="1572768"/>
            <a:ext cx="54406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Yesterday: pre-AI</a:t>
            </a:r>
            <a:endParaRPr lang="en-US" sz="1250" dirty="0"/>
          </a:p>
        </p:txBody>
      </p:sp>
      <p:sp>
        <p:nvSpPr>
          <p:cNvPr id="7" name="Shape 4"/>
          <p:cNvSpPr/>
          <p:nvPr/>
        </p:nvSpPr>
        <p:spPr>
          <a:xfrm>
            <a:off x="502920" y="1874520"/>
            <a:ext cx="5440680" cy="4297680"/>
          </a:xfrm>
          <a:prstGeom prst="roundRect">
            <a:avLst>
              <a:gd name="adj" fmla="val 2128"/>
            </a:avLst>
          </a:prstGeom>
          <a:solidFill>
            <a:srgbClr val="EEF2F4"/>
          </a:solidFill>
          <a:ln w="12700">
            <a:solidFill>
              <a:srgbClr val="EEF2F4"/>
            </a:solidFill>
            <a:prstDash val="solid"/>
          </a:ln>
        </p:spPr>
      </p:sp>
      <p:sp>
        <p:nvSpPr>
          <p:cNvPr id="8" name="Text 5"/>
          <p:cNvSpPr txBox="1"/>
          <p:nvPr/>
        </p:nvSpPr>
        <p:spPr>
          <a:xfrm>
            <a:off x="685800" y="2240280"/>
            <a:ext cx="1188720" cy="274320"/>
          </a:xfrm>
          <a:prstGeom prst="rect">
            <a:avLst/>
          </a:prstGeom>
          <a:noFill/>
          <a:ln/>
        </p:spPr>
        <p:txBody>
          <a:bodyPr wrap="square" lIns="0" tIns="0" rIns="0" bIns="0" rtlCol="0" anchor="t"/>
          <a:lstStyle/>
          <a:p>
            <a:pPr indent="0" marL="0">
              <a:buNone/>
            </a:pPr>
            <a:r>
              <a:rPr lang="en-US" sz="900" dirty="0">
                <a:solidFill>
                  <a:srgbClr val="4C4C4C"/>
                </a:solidFill>
                <a:latin typeface="Helvetica Neue" pitchFamily="34" charset="0"/>
                <a:ea typeface="Helvetica Neue" pitchFamily="34" charset="-122"/>
                <a:cs typeface="Helvetica Neue" pitchFamily="34" charset="-120"/>
              </a:rPr>
              <a:t>Stakeholders</a:t>
            </a:r>
            <a:endParaRPr lang="en-US" sz="900" dirty="0"/>
          </a:p>
        </p:txBody>
      </p:sp>
      <p:sp>
        <p:nvSpPr>
          <p:cNvPr id="9" name="Text 6"/>
          <p:cNvSpPr txBox="1"/>
          <p:nvPr/>
        </p:nvSpPr>
        <p:spPr>
          <a:xfrm>
            <a:off x="685800" y="2441448"/>
            <a:ext cx="1188720" cy="274320"/>
          </a:xfrm>
          <a:prstGeom prst="rect">
            <a:avLst/>
          </a:prstGeom>
          <a:noFill/>
          <a:ln/>
        </p:spPr>
        <p:txBody>
          <a:bodyPr wrap="square" lIns="0" tIns="0" rIns="0" bIns="0" rtlCol="0" anchor="t"/>
          <a:lstStyle/>
          <a:p>
            <a:pPr indent="0" marL="0">
              <a:buNone/>
            </a:pPr>
            <a:r>
              <a:rPr lang="en-US" sz="800" dirty="0">
                <a:solidFill>
                  <a:srgbClr val="7A7A7A"/>
                </a:solidFill>
                <a:latin typeface="Helvetica Neue" pitchFamily="34" charset="0"/>
                <a:ea typeface="Helvetica Neue" pitchFamily="34" charset="-122"/>
                <a:cs typeface="Helvetica Neue" pitchFamily="34" charset="-120"/>
              </a:rPr>
              <a:t>external / internal</a:t>
            </a:r>
            <a:endParaRPr lang="en-US" sz="800" dirty="0"/>
          </a:p>
        </p:txBody>
      </p:sp>
      <p:sp>
        <p:nvSpPr>
          <p:cNvPr id="10" name="Shape 7"/>
          <p:cNvSpPr/>
          <p:nvPr/>
        </p:nvSpPr>
        <p:spPr>
          <a:xfrm>
            <a:off x="640080" y="3291840"/>
            <a:ext cx="5166360" cy="1188720"/>
          </a:xfrm>
          <a:prstGeom prst="roundRect">
            <a:avLst>
              <a:gd name="adj" fmla="val 7692"/>
            </a:avLst>
          </a:prstGeom>
          <a:solidFill>
            <a:srgbClr val="7B909B"/>
          </a:solidFill>
          <a:ln w="12700">
            <a:solidFill>
              <a:srgbClr val="7B909B"/>
            </a:solidFill>
            <a:prstDash val="solid"/>
          </a:ln>
        </p:spPr>
      </p:sp>
      <p:sp>
        <p:nvSpPr>
          <p:cNvPr id="11" name="Text 8"/>
          <p:cNvSpPr txBox="1"/>
          <p:nvPr/>
        </p:nvSpPr>
        <p:spPr>
          <a:xfrm>
            <a:off x="685800" y="3474720"/>
            <a:ext cx="1188720" cy="274320"/>
          </a:xfrm>
          <a:prstGeom prst="rect">
            <a:avLst/>
          </a:prstGeom>
          <a:noFill/>
          <a:ln/>
        </p:spPr>
        <p:txBody>
          <a:bodyPr wrap="square" lIns="0" tIns="0" rIns="0" bIns="0" rtlCol="0" anchor="t"/>
          <a:lstStyle/>
          <a:p>
            <a:pPr indent="0" marL="0">
              <a:buNone/>
            </a:pPr>
            <a:r>
              <a:rPr lang="en-US" sz="900" dirty="0">
                <a:solidFill>
                  <a:srgbClr val="FFFFFF"/>
                </a:solidFill>
                <a:latin typeface="Helvetica Neue" pitchFamily="34" charset="0"/>
                <a:ea typeface="Helvetica Neue" pitchFamily="34" charset="-122"/>
                <a:cs typeface="Helvetica Neue" pitchFamily="34" charset="-120"/>
              </a:rPr>
              <a:t>Operating layer</a:t>
            </a:r>
            <a:endParaRPr lang="en-US" sz="900" dirty="0"/>
          </a:p>
        </p:txBody>
      </p:sp>
      <p:sp>
        <p:nvSpPr>
          <p:cNvPr id="12" name="Text 9"/>
          <p:cNvSpPr txBox="1"/>
          <p:nvPr/>
        </p:nvSpPr>
        <p:spPr>
          <a:xfrm>
            <a:off x="685800" y="3675888"/>
            <a:ext cx="1188720" cy="548640"/>
          </a:xfrm>
          <a:prstGeom prst="rect">
            <a:avLst/>
          </a:prstGeom>
          <a:noFill/>
          <a:ln/>
        </p:spPr>
        <p:txBody>
          <a:bodyPr wrap="square" lIns="0" tIns="0" rIns="0" bIns="0" rtlCol="0" anchor="t"/>
          <a:lstStyle/>
          <a:p>
            <a:pPr indent="0" marL="0">
              <a:lnSpc>
                <a:spcPct val="105000"/>
              </a:lnSpc>
              <a:buNone/>
            </a:pPr>
            <a:r>
              <a:rPr lang="en-US" sz="800" dirty="0">
                <a:solidFill>
                  <a:srgbClr val="EEF2F4"/>
                </a:solidFill>
                <a:latin typeface="Helvetica Neue" pitchFamily="34" charset="0"/>
                <a:ea typeface="Helvetica Neue" pitchFamily="34" charset="-122"/>
                <a:cs typeface="Helvetica Neue" pitchFamily="34" charset="-120"/>
              </a:rPr>
              <a:t>human as a glue:</a:t>
            </a:r>
            <a:endParaRPr lang="en-US" sz="800" dirty="0"/>
          </a:p>
          <a:p>
            <a:pPr indent="0" marL="0">
              <a:lnSpc>
                <a:spcPct val="105000"/>
              </a:lnSpc>
              <a:buNone/>
            </a:pPr>
            <a:r>
              <a:rPr lang="en-US" sz="800" dirty="0">
                <a:solidFill>
                  <a:srgbClr val="EEF2F4"/>
                </a:solidFill>
                <a:latin typeface="Helvetica Neue" pitchFamily="34" charset="0"/>
                <a:ea typeface="Helvetica Neue" pitchFamily="34" charset="-122"/>
                <a:cs typeface="Helvetica Neue" pitchFamily="34" charset="-120"/>
              </a:rPr>
              <a:t>email, phone, Excel</a:t>
            </a:r>
            <a:endParaRPr lang="en-US" sz="800" dirty="0"/>
          </a:p>
        </p:txBody>
      </p:sp>
      <p:sp>
        <p:nvSpPr>
          <p:cNvPr id="13" name="Text 10"/>
          <p:cNvSpPr txBox="1"/>
          <p:nvPr/>
        </p:nvSpPr>
        <p:spPr>
          <a:xfrm>
            <a:off x="685800" y="5120640"/>
            <a:ext cx="1188720" cy="274320"/>
          </a:xfrm>
          <a:prstGeom prst="rect">
            <a:avLst/>
          </a:prstGeom>
          <a:noFill/>
          <a:ln/>
        </p:spPr>
        <p:txBody>
          <a:bodyPr wrap="square" lIns="0" tIns="0" rIns="0" bIns="0" rtlCol="0" anchor="t"/>
          <a:lstStyle/>
          <a:p>
            <a:pPr indent="0" marL="0">
              <a:buNone/>
            </a:pPr>
            <a:r>
              <a:rPr lang="en-US" sz="900" dirty="0">
                <a:solidFill>
                  <a:srgbClr val="4C4C4C"/>
                </a:solidFill>
                <a:latin typeface="Helvetica Neue" pitchFamily="34" charset="0"/>
                <a:ea typeface="Helvetica Neue" pitchFamily="34" charset="-122"/>
                <a:cs typeface="Helvetica Neue" pitchFamily="34" charset="-120"/>
              </a:rPr>
              <a:t>System of records</a:t>
            </a:r>
            <a:endParaRPr lang="en-US" sz="900" dirty="0"/>
          </a:p>
        </p:txBody>
      </p:sp>
      <p:sp>
        <p:nvSpPr>
          <p:cNvPr id="14" name="Text 11"/>
          <p:cNvSpPr txBox="1"/>
          <p:nvPr/>
        </p:nvSpPr>
        <p:spPr>
          <a:xfrm>
            <a:off x="685800" y="5321808"/>
            <a:ext cx="1188720" cy="274320"/>
          </a:xfrm>
          <a:prstGeom prst="rect">
            <a:avLst/>
          </a:prstGeom>
          <a:noFill/>
          <a:ln/>
        </p:spPr>
        <p:txBody>
          <a:bodyPr wrap="square" lIns="0" tIns="0" rIns="0" bIns="0" rtlCol="0" anchor="t"/>
          <a:lstStyle/>
          <a:p>
            <a:pPr indent="0" marL="0">
              <a:buNone/>
            </a:pPr>
            <a:r>
              <a:rPr lang="en-US" sz="800" dirty="0">
                <a:solidFill>
                  <a:srgbClr val="7A7A7A"/>
                </a:solidFill>
                <a:latin typeface="Helvetica Neue" pitchFamily="34" charset="0"/>
                <a:ea typeface="Helvetica Neue" pitchFamily="34" charset="-122"/>
                <a:cs typeface="Helvetica Neue" pitchFamily="34" charset="-120"/>
              </a:rPr>
              <a:t>ERP, files, tickets</a:t>
            </a:r>
            <a:endParaRPr lang="en-US" sz="800" dirty="0"/>
          </a:p>
        </p:txBody>
      </p:sp>
      <p:sp>
        <p:nvSpPr>
          <p:cNvPr id="15" name="Shape 12"/>
          <p:cNvSpPr/>
          <p:nvPr/>
        </p:nvSpPr>
        <p:spPr>
          <a:xfrm>
            <a:off x="1965960" y="2130552"/>
            <a:ext cx="457200" cy="457200"/>
          </a:xfrm>
          <a:prstGeom prst="roundRect">
            <a:avLst>
              <a:gd name="adj" fmla="val 14000"/>
            </a:avLst>
          </a:prstGeom>
          <a:solidFill>
            <a:srgbClr val="FFFFFF"/>
          </a:solidFill>
          <a:ln w="6350">
            <a:solidFill>
              <a:srgbClr val="CBD5DA"/>
            </a:solidFill>
            <a:prstDash val="solid"/>
          </a:ln>
        </p:spPr>
      </p:sp>
      <p:pic>
        <p:nvPicPr>
          <p:cNvPr id="16" name="Image 0" descr="preencoded.png">    </p:cNvPr>
          <p:cNvPicPr>
            <a:picLocks noChangeAspect="1"/>
          </p:cNvPicPr>
          <p:nvPr/>
        </p:nvPicPr>
        <p:blipFill>
          <a:blip r:embed="rId1"/>
          <a:stretch>
            <a:fillRect/>
          </a:stretch>
        </p:blipFill>
        <p:spPr>
          <a:xfrm>
            <a:off x="2075688" y="2240280"/>
            <a:ext cx="237744" cy="237744"/>
          </a:xfrm>
          <a:prstGeom prst="rect">
            <a:avLst/>
          </a:prstGeom>
        </p:spPr>
      </p:pic>
      <p:sp>
        <p:nvSpPr>
          <p:cNvPr id="17" name="Text 13"/>
          <p:cNvSpPr txBox="1"/>
          <p:nvPr/>
        </p:nvSpPr>
        <p:spPr>
          <a:xfrm>
            <a:off x="1828800"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Supplier</a:t>
            </a:r>
            <a:endParaRPr lang="en-US" sz="700" dirty="0"/>
          </a:p>
        </p:txBody>
      </p:sp>
      <p:sp>
        <p:nvSpPr>
          <p:cNvPr id="18" name="Shape 14"/>
          <p:cNvSpPr/>
          <p:nvPr/>
        </p:nvSpPr>
        <p:spPr>
          <a:xfrm>
            <a:off x="2624328" y="2130552"/>
            <a:ext cx="457200" cy="457200"/>
          </a:xfrm>
          <a:prstGeom prst="roundRect">
            <a:avLst>
              <a:gd name="adj" fmla="val 14000"/>
            </a:avLst>
          </a:prstGeom>
          <a:solidFill>
            <a:srgbClr val="FFFFFF"/>
          </a:solidFill>
          <a:ln w="6350">
            <a:solidFill>
              <a:srgbClr val="CBD5DA"/>
            </a:solidFill>
            <a:prstDash val="solid"/>
          </a:ln>
        </p:spPr>
      </p:sp>
      <p:pic>
        <p:nvPicPr>
          <p:cNvPr id="19" name="Image 1" descr="preencoded.png">    </p:cNvPr>
          <p:cNvPicPr>
            <a:picLocks noChangeAspect="1"/>
          </p:cNvPicPr>
          <p:nvPr/>
        </p:nvPicPr>
        <p:blipFill>
          <a:blip r:embed="rId2"/>
          <a:stretch>
            <a:fillRect/>
          </a:stretch>
        </p:blipFill>
        <p:spPr>
          <a:xfrm>
            <a:off x="2734056" y="2240280"/>
            <a:ext cx="237744" cy="237744"/>
          </a:xfrm>
          <a:prstGeom prst="rect">
            <a:avLst/>
          </a:prstGeom>
        </p:spPr>
      </p:pic>
      <p:sp>
        <p:nvSpPr>
          <p:cNvPr id="20" name="Text 15"/>
          <p:cNvSpPr txBox="1"/>
          <p:nvPr/>
        </p:nvSpPr>
        <p:spPr>
          <a:xfrm>
            <a:off x="2487168"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Procurement</a:t>
            </a:r>
            <a:endParaRPr lang="en-US" sz="700" dirty="0"/>
          </a:p>
        </p:txBody>
      </p:sp>
      <p:sp>
        <p:nvSpPr>
          <p:cNvPr id="21" name="Shape 16"/>
          <p:cNvSpPr/>
          <p:nvPr/>
        </p:nvSpPr>
        <p:spPr>
          <a:xfrm>
            <a:off x="3282696" y="2130552"/>
            <a:ext cx="457200" cy="457200"/>
          </a:xfrm>
          <a:prstGeom prst="roundRect">
            <a:avLst>
              <a:gd name="adj" fmla="val 14000"/>
            </a:avLst>
          </a:prstGeom>
          <a:solidFill>
            <a:srgbClr val="FFFFFF"/>
          </a:solidFill>
          <a:ln w="6350">
            <a:solidFill>
              <a:srgbClr val="CBD5DA"/>
            </a:solidFill>
            <a:prstDash val="solid"/>
          </a:ln>
        </p:spPr>
      </p:sp>
      <p:pic>
        <p:nvPicPr>
          <p:cNvPr id="22" name="Image 2" descr="preencoded.png">    </p:cNvPr>
          <p:cNvPicPr>
            <a:picLocks noChangeAspect="1"/>
          </p:cNvPicPr>
          <p:nvPr/>
        </p:nvPicPr>
        <p:blipFill>
          <a:blip r:embed="rId3"/>
          <a:stretch>
            <a:fillRect/>
          </a:stretch>
        </p:blipFill>
        <p:spPr>
          <a:xfrm>
            <a:off x="3392424" y="2240280"/>
            <a:ext cx="237744" cy="237744"/>
          </a:xfrm>
          <a:prstGeom prst="rect">
            <a:avLst/>
          </a:prstGeom>
        </p:spPr>
      </p:pic>
      <p:sp>
        <p:nvSpPr>
          <p:cNvPr id="23" name="Text 17"/>
          <p:cNvSpPr txBox="1"/>
          <p:nvPr/>
        </p:nvSpPr>
        <p:spPr>
          <a:xfrm>
            <a:off x="3145536"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Warehouse</a:t>
            </a:r>
            <a:endParaRPr lang="en-US" sz="700" dirty="0"/>
          </a:p>
        </p:txBody>
      </p:sp>
      <p:sp>
        <p:nvSpPr>
          <p:cNvPr id="24" name="Shape 18"/>
          <p:cNvSpPr/>
          <p:nvPr/>
        </p:nvSpPr>
        <p:spPr>
          <a:xfrm>
            <a:off x="3941064" y="2130552"/>
            <a:ext cx="457200" cy="457200"/>
          </a:xfrm>
          <a:prstGeom prst="roundRect">
            <a:avLst>
              <a:gd name="adj" fmla="val 14000"/>
            </a:avLst>
          </a:prstGeom>
          <a:solidFill>
            <a:srgbClr val="FFFFFF"/>
          </a:solidFill>
          <a:ln w="6350">
            <a:solidFill>
              <a:srgbClr val="CBD5DA"/>
            </a:solidFill>
            <a:prstDash val="solid"/>
          </a:ln>
        </p:spPr>
      </p:sp>
      <p:pic>
        <p:nvPicPr>
          <p:cNvPr id="25" name="Image 3" descr="preencoded.png">    </p:cNvPr>
          <p:cNvPicPr>
            <a:picLocks noChangeAspect="1"/>
          </p:cNvPicPr>
          <p:nvPr/>
        </p:nvPicPr>
        <p:blipFill>
          <a:blip r:embed="rId4"/>
          <a:stretch>
            <a:fillRect/>
          </a:stretch>
        </p:blipFill>
        <p:spPr>
          <a:xfrm>
            <a:off x="4050792" y="2240280"/>
            <a:ext cx="237744" cy="237744"/>
          </a:xfrm>
          <a:prstGeom prst="rect">
            <a:avLst/>
          </a:prstGeom>
        </p:spPr>
      </p:pic>
      <p:sp>
        <p:nvSpPr>
          <p:cNvPr id="26" name="Text 19"/>
          <p:cNvSpPr txBox="1"/>
          <p:nvPr/>
        </p:nvSpPr>
        <p:spPr>
          <a:xfrm>
            <a:off x="3803904"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Carrier</a:t>
            </a:r>
            <a:endParaRPr lang="en-US" sz="700" dirty="0"/>
          </a:p>
        </p:txBody>
      </p:sp>
      <p:sp>
        <p:nvSpPr>
          <p:cNvPr id="27" name="Shape 20"/>
          <p:cNvSpPr/>
          <p:nvPr/>
        </p:nvSpPr>
        <p:spPr>
          <a:xfrm>
            <a:off x="4599432" y="2130552"/>
            <a:ext cx="457200" cy="457200"/>
          </a:xfrm>
          <a:prstGeom prst="roundRect">
            <a:avLst>
              <a:gd name="adj" fmla="val 14000"/>
            </a:avLst>
          </a:prstGeom>
          <a:solidFill>
            <a:srgbClr val="FFFFFF"/>
          </a:solidFill>
          <a:ln w="6350">
            <a:solidFill>
              <a:srgbClr val="CBD5DA"/>
            </a:solidFill>
            <a:prstDash val="solid"/>
          </a:ln>
        </p:spPr>
      </p:sp>
      <p:pic>
        <p:nvPicPr>
          <p:cNvPr id="28" name="Image 4" descr="preencoded.png">    </p:cNvPr>
          <p:cNvPicPr>
            <a:picLocks noChangeAspect="1"/>
          </p:cNvPicPr>
          <p:nvPr/>
        </p:nvPicPr>
        <p:blipFill>
          <a:blip r:embed="rId5"/>
          <a:stretch>
            <a:fillRect/>
          </a:stretch>
        </p:blipFill>
        <p:spPr>
          <a:xfrm>
            <a:off x="4709160" y="2240280"/>
            <a:ext cx="237744" cy="237744"/>
          </a:xfrm>
          <a:prstGeom prst="rect">
            <a:avLst/>
          </a:prstGeom>
        </p:spPr>
      </p:pic>
      <p:sp>
        <p:nvSpPr>
          <p:cNvPr id="29" name="Text 21"/>
          <p:cNvSpPr txBox="1"/>
          <p:nvPr/>
        </p:nvSpPr>
        <p:spPr>
          <a:xfrm>
            <a:off x="4462272"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Accounting</a:t>
            </a:r>
            <a:endParaRPr lang="en-US" sz="700" dirty="0"/>
          </a:p>
        </p:txBody>
      </p:sp>
      <p:sp>
        <p:nvSpPr>
          <p:cNvPr id="30" name="Shape 22"/>
          <p:cNvSpPr/>
          <p:nvPr/>
        </p:nvSpPr>
        <p:spPr>
          <a:xfrm>
            <a:off x="5257800" y="2130552"/>
            <a:ext cx="457200" cy="457200"/>
          </a:xfrm>
          <a:prstGeom prst="roundRect">
            <a:avLst>
              <a:gd name="adj" fmla="val 14000"/>
            </a:avLst>
          </a:prstGeom>
          <a:solidFill>
            <a:srgbClr val="FFFFFF"/>
          </a:solidFill>
          <a:ln w="6350">
            <a:solidFill>
              <a:srgbClr val="CBD5DA"/>
            </a:solidFill>
            <a:prstDash val="solid"/>
          </a:ln>
        </p:spPr>
      </p:sp>
      <p:pic>
        <p:nvPicPr>
          <p:cNvPr id="31" name="Image 5" descr="preencoded.png">    </p:cNvPr>
          <p:cNvPicPr>
            <a:picLocks noChangeAspect="1"/>
          </p:cNvPicPr>
          <p:nvPr/>
        </p:nvPicPr>
        <p:blipFill>
          <a:blip r:embed="rId6"/>
          <a:stretch>
            <a:fillRect/>
          </a:stretch>
        </p:blipFill>
        <p:spPr>
          <a:xfrm>
            <a:off x="5367528" y="2240280"/>
            <a:ext cx="237744" cy="237744"/>
          </a:xfrm>
          <a:prstGeom prst="rect">
            <a:avLst/>
          </a:prstGeom>
        </p:spPr>
      </p:pic>
      <p:sp>
        <p:nvSpPr>
          <p:cNvPr id="32" name="Text 23"/>
          <p:cNvSpPr txBox="1"/>
          <p:nvPr/>
        </p:nvSpPr>
        <p:spPr>
          <a:xfrm>
            <a:off x="5120640"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Customer</a:t>
            </a:r>
            <a:endParaRPr lang="en-US" sz="700" dirty="0"/>
          </a:p>
        </p:txBody>
      </p:sp>
      <p:sp>
        <p:nvSpPr>
          <p:cNvPr id="33" name="Shape 24"/>
          <p:cNvSpPr/>
          <p:nvPr/>
        </p:nvSpPr>
        <p:spPr>
          <a:xfrm>
            <a:off x="1965960" y="5303520"/>
            <a:ext cx="640080" cy="402336"/>
          </a:xfrm>
          <a:prstGeom prst="roundRect">
            <a:avLst>
              <a:gd name="adj" fmla="val 15909"/>
            </a:avLst>
          </a:prstGeom>
          <a:solidFill>
            <a:srgbClr val="FFFFFF"/>
          </a:solidFill>
          <a:ln w="6350">
            <a:solidFill>
              <a:srgbClr val="CBD5DA"/>
            </a:solidFill>
            <a:prstDash val="solid"/>
          </a:ln>
        </p:spPr>
      </p:sp>
      <p:sp>
        <p:nvSpPr>
          <p:cNvPr id="34" name="Text 25"/>
          <p:cNvSpPr txBox="1"/>
          <p:nvPr/>
        </p:nvSpPr>
        <p:spPr>
          <a:xfrm>
            <a:off x="1965960"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SAP</a:t>
            </a:r>
            <a:endParaRPr lang="en-US" sz="800" dirty="0"/>
          </a:p>
        </p:txBody>
      </p:sp>
      <p:sp>
        <p:nvSpPr>
          <p:cNvPr id="35" name="Shape 26"/>
          <p:cNvSpPr/>
          <p:nvPr/>
        </p:nvSpPr>
        <p:spPr>
          <a:xfrm>
            <a:off x="2752344" y="5303520"/>
            <a:ext cx="640080" cy="402336"/>
          </a:xfrm>
          <a:prstGeom prst="roundRect">
            <a:avLst>
              <a:gd name="adj" fmla="val 15909"/>
            </a:avLst>
          </a:prstGeom>
          <a:solidFill>
            <a:srgbClr val="FFFFFF"/>
          </a:solidFill>
          <a:ln w="6350">
            <a:solidFill>
              <a:srgbClr val="CBD5DA"/>
            </a:solidFill>
            <a:prstDash val="solid"/>
          </a:ln>
        </p:spPr>
      </p:sp>
      <p:sp>
        <p:nvSpPr>
          <p:cNvPr id="36" name="Text 27"/>
          <p:cNvSpPr txBox="1"/>
          <p:nvPr/>
        </p:nvSpPr>
        <p:spPr>
          <a:xfrm>
            <a:off x="2752344"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Oracle</a:t>
            </a:r>
            <a:endParaRPr lang="en-US" sz="800" dirty="0"/>
          </a:p>
        </p:txBody>
      </p:sp>
      <p:sp>
        <p:nvSpPr>
          <p:cNvPr id="37" name="Shape 28"/>
          <p:cNvSpPr/>
          <p:nvPr/>
        </p:nvSpPr>
        <p:spPr>
          <a:xfrm>
            <a:off x="3538728" y="5303520"/>
            <a:ext cx="640080" cy="402336"/>
          </a:xfrm>
          <a:prstGeom prst="roundRect">
            <a:avLst>
              <a:gd name="adj" fmla="val 15909"/>
            </a:avLst>
          </a:prstGeom>
          <a:solidFill>
            <a:srgbClr val="FFFFFF"/>
          </a:solidFill>
          <a:ln w="6350">
            <a:solidFill>
              <a:srgbClr val="CBD5DA"/>
            </a:solidFill>
            <a:prstDash val="solid"/>
          </a:ln>
        </p:spPr>
      </p:sp>
      <p:sp>
        <p:nvSpPr>
          <p:cNvPr id="38" name="Text 29"/>
          <p:cNvSpPr txBox="1"/>
          <p:nvPr/>
        </p:nvSpPr>
        <p:spPr>
          <a:xfrm>
            <a:off x="3538728"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D365</a:t>
            </a:r>
            <a:endParaRPr lang="en-US" sz="800" dirty="0"/>
          </a:p>
        </p:txBody>
      </p:sp>
      <p:sp>
        <p:nvSpPr>
          <p:cNvPr id="39" name="Shape 30"/>
          <p:cNvSpPr/>
          <p:nvPr/>
        </p:nvSpPr>
        <p:spPr>
          <a:xfrm>
            <a:off x="4325112" y="5303520"/>
            <a:ext cx="640080" cy="402336"/>
          </a:xfrm>
          <a:prstGeom prst="roundRect">
            <a:avLst>
              <a:gd name="adj" fmla="val 15909"/>
            </a:avLst>
          </a:prstGeom>
          <a:solidFill>
            <a:srgbClr val="FFFFFF"/>
          </a:solidFill>
          <a:ln w="6350">
            <a:solidFill>
              <a:srgbClr val="CBD5DA"/>
            </a:solidFill>
            <a:prstDash val="solid"/>
          </a:ln>
        </p:spPr>
      </p:sp>
      <p:sp>
        <p:nvSpPr>
          <p:cNvPr id="40" name="Text 31"/>
          <p:cNvSpPr txBox="1"/>
          <p:nvPr/>
        </p:nvSpPr>
        <p:spPr>
          <a:xfrm>
            <a:off x="4325112"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Excel</a:t>
            </a:r>
            <a:endParaRPr lang="en-US" sz="800" dirty="0"/>
          </a:p>
        </p:txBody>
      </p:sp>
      <p:sp>
        <p:nvSpPr>
          <p:cNvPr id="41" name="Shape 32"/>
          <p:cNvSpPr/>
          <p:nvPr/>
        </p:nvSpPr>
        <p:spPr>
          <a:xfrm>
            <a:off x="5111496" y="5303520"/>
            <a:ext cx="640080" cy="402336"/>
          </a:xfrm>
          <a:prstGeom prst="roundRect">
            <a:avLst>
              <a:gd name="adj" fmla="val 15909"/>
            </a:avLst>
          </a:prstGeom>
          <a:solidFill>
            <a:srgbClr val="FFFFFF"/>
          </a:solidFill>
          <a:ln w="6350">
            <a:solidFill>
              <a:srgbClr val="CBD5DA"/>
            </a:solidFill>
            <a:prstDash val="solid"/>
          </a:ln>
        </p:spPr>
      </p:sp>
      <p:sp>
        <p:nvSpPr>
          <p:cNvPr id="42" name="Text 33"/>
          <p:cNvSpPr txBox="1"/>
          <p:nvPr/>
        </p:nvSpPr>
        <p:spPr>
          <a:xfrm>
            <a:off x="5111496"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Outlook</a:t>
            </a:r>
            <a:endParaRPr lang="en-US" sz="800" dirty="0"/>
          </a:p>
        </p:txBody>
      </p:sp>
      <p:sp>
        <p:nvSpPr>
          <p:cNvPr id="43" name="Shape 34"/>
          <p:cNvSpPr/>
          <p:nvPr/>
        </p:nvSpPr>
        <p:spPr>
          <a:xfrm>
            <a:off x="2194560" y="2843784"/>
            <a:ext cx="420624" cy="886968"/>
          </a:xfrm>
          <a:prstGeom prst="line">
            <a:avLst/>
          </a:prstGeom>
          <a:noFill/>
          <a:ln w="6350">
            <a:solidFill>
              <a:srgbClr val="B7C5CB"/>
            </a:solidFill>
            <a:prstDash val="solid"/>
          </a:ln>
        </p:spPr>
      </p:sp>
      <p:sp>
        <p:nvSpPr>
          <p:cNvPr id="44" name="Shape 35"/>
          <p:cNvSpPr/>
          <p:nvPr/>
        </p:nvSpPr>
        <p:spPr>
          <a:xfrm>
            <a:off x="2194560" y="2843784"/>
            <a:ext cx="1243584" cy="886968"/>
          </a:xfrm>
          <a:prstGeom prst="line">
            <a:avLst/>
          </a:prstGeom>
          <a:noFill/>
          <a:ln w="6350">
            <a:solidFill>
              <a:srgbClr val="B7C5CB"/>
            </a:solidFill>
            <a:prstDash val="solid"/>
          </a:ln>
        </p:spPr>
      </p:sp>
      <p:sp>
        <p:nvSpPr>
          <p:cNvPr id="45" name="Shape 36"/>
          <p:cNvSpPr/>
          <p:nvPr/>
        </p:nvSpPr>
        <p:spPr>
          <a:xfrm>
            <a:off x="2194560" y="2843784"/>
            <a:ext cx="2066544" cy="886968"/>
          </a:xfrm>
          <a:prstGeom prst="line">
            <a:avLst/>
          </a:prstGeom>
          <a:noFill/>
          <a:ln w="6350">
            <a:solidFill>
              <a:srgbClr val="B7C5CB"/>
            </a:solidFill>
            <a:prstDash val="solid"/>
          </a:ln>
        </p:spPr>
      </p:sp>
      <p:sp>
        <p:nvSpPr>
          <p:cNvPr id="46" name="Shape 37"/>
          <p:cNvSpPr/>
          <p:nvPr/>
        </p:nvSpPr>
        <p:spPr>
          <a:xfrm>
            <a:off x="2194560" y="2843784"/>
            <a:ext cx="2889504" cy="886968"/>
          </a:xfrm>
          <a:prstGeom prst="line">
            <a:avLst/>
          </a:prstGeom>
          <a:noFill/>
          <a:ln w="6350">
            <a:solidFill>
              <a:srgbClr val="B7C5CB"/>
            </a:solidFill>
            <a:prstDash val="solid"/>
          </a:ln>
        </p:spPr>
      </p:sp>
      <p:sp>
        <p:nvSpPr>
          <p:cNvPr id="47" name="Shape 38"/>
          <p:cNvSpPr/>
          <p:nvPr/>
        </p:nvSpPr>
        <p:spPr>
          <a:xfrm flipH="1">
            <a:off x="2615184" y="2843784"/>
            <a:ext cx="237744" cy="886968"/>
          </a:xfrm>
          <a:prstGeom prst="line">
            <a:avLst/>
          </a:prstGeom>
          <a:noFill/>
          <a:ln w="6350">
            <a:solidFill>
              <a:srgbClr val="B7C5CB"/>
            </a:solidFill>
            <a:prstDash val="solid"/>
          </a:ln>
        </p:spPr>
      </p:sp>
      <p:sp>
        <p:nvSpPr>
          <p:cNvPr id="48" name="Shape 39"/>
          <p:cNvSpPr/>
          <p:nvPr/>
        </p:nvSpPr>
        <p:spPr>
          <a:xfrm>
            <a:off x="2852928" y="2843784"/>
            <a:ext cx="585216" cy="886968"/>
          </a:xfrm>
          <a:prstGeom prst="line">
            <a:avLst/>
          </a:prstGeom>
          <a:noFill/>
          <a:ln w="6350">
            <a:solidFill>
              <a:srgbClr val="B7C5CB"/>
            </a:solidFill>
            <a:prstDash val="solid"/>
          </a:ln>
        </p:spPr>
      </p:sp>
      <p:sp>
        <p:nvSpPr>
          <p:cNvPr id="49" name="Shape 40"/>
          <p:cNvSpPr/>
          <p:nvPr/>
        </p:nvSpPr>
        <p:spPr>
          <a:xfrm>
            <a:off x="2852928" y="2843784"/>
            <a:ext cx="1408176" cy="886968"/>
          </a:xfrm>
          <a:prstGeom prst="line">
            <a:avLst/>
          </a:prstGeom>
          <a:noFill/>
          <a:ln w="6350">
            <a:solidFill>
              <a:srgbClr val="B7C5CB"/>
            </a:solidFill>
            <a:prstDash val="solid"/>
          </a:ln>
        </p:spPr>
      </p:sp>
      <p:sp>
        <p:nvSpPr>
          <p:cNvPr id="50" name="Shape 41"/>
          <p:cNvSpPr/>
          <p:nvPr/>
        </p:nvSpPr>
        <p:spPr>
          <a:xfrm>
            <a:off x="2852928" y="2843784"/>
            <a:ext cx="2231136" cy="886968"/>
          </a:xfrm>
          <a:prstGeom prst="line">
            <a:avLst/>
          </a:prstGeom>
          <a:noFill/>
          <a:ln w="6350">
            <a:solidFill>
              <a:srgbClr val="B7C5CB"/>
            </a:solidFill>
            <a:prstDash val="solid"/>
          </a:ln>
        </p:spPr>
      </p:sp>
      <p:sp>
        <p:nvSpPr>
          <p:cNvPr id="51" name="Shape 42"/>
          <p:cNvSpPr/>
          <p:nvPr/>
        </p:nvSpPr>
        <p:spPr>
          <a:xfrm flipH="1">
            <a:off x="2615184" y="2843784"/>
            <a:ext cx="896112" cy="886968"/>
          </a:xfrm>
          <a:prstGeom prst="line">
            <a:avLst/>
          </a:prstGeom>
          <a:noFill/>
          <a:ln w="6350">
            <a:solidFill>
              <a:srgbClr val="B7C5CB"/>
            </a:solidFill>
            <a:prstDash val="solid"/>
          </a:ln>
        </p:spPr>
      </p:sp>
      <p:sp>
        <p:nvSpPr>
          <p:cNvPr id="52" name="Shape 43"/>
          <p:cNvSpPr/>
          <p:nvPr/>
        </p:nvSpPr>
        <p:spPr>
          <a:xfrm flipH="1">
            <a:off x="3438144" y="2843784"/>
            <a:ext cx="73152" cy="886968"/>
          </a:xfrm>
          <a:prstGeom prst="line">
            <a:avLst/>
          </a:prstGeom>
          <a:noFill/>
          <a:ln w="6350">
            <a:solidFill>
              <a:srgbClr val="B7C5CB"/>
            </a:solidFill>
            <a:prstDash val="solid"/>
          </a:ln>
        </p:spPr>
      </p:sp>
      <p:sp>
        <p:nvSpPr>
          <p:cNvPr id="53" name="Shape 44"/>
          <p:cNvSpPr/>
          <p:nvPr/>
        </p:nvSpPr>
        <p:spPr>
          <a:xfrm>
            <a:off x="3511296" y="2843784"/>
            <a:ext cx="749808" cy="886968"/>
          </a:xfrm>
          <a:prstGeom prst="line">
            <a:avLst/>
          </a:prstGeom>
          <a:noFill/>
          <a:ln w="6350">
            <a:solidFill>
              <a:srgbClr val="B7C5CB"/>
            </a:solidFill>
            <a:prstDash val="solid"/>
          </a:ln>
        </p:spPr>
      </p:sp>
      <p:sp>
        <p:nvSpPr>
          <p:cNvPr id="54" name="Shape 45"/>
          <p:cNvSpPr/>
          <p:nvPr/>
        </p:nvSpPr>
        <p:spPr>
          <a:xfrm>
            <a:off x="3511296" y="2843784"/>
            <a:ext cx="1572768" cy="886968"/>
          </a:xfrm>
          <a:prstGeom prst="line">
            <a:avLst/>
          </a:prstGeom>
          <a:noFill/>
          <a:ln w="6350">
            <a:solidFill>
              <a:srgbClr val="B7C5CB"/>
            </a:solidFill>
            <a:prstDash val="solid"/>
          </a:ln>
        </p:spPr>
      </p:sp>
      <p:sp>
        <p:nvSpPr>
          <p:cNvPr id="55" name="Shape 46"/>
          <p:cNvSpPr/>
          <p:nvPr/>
        </p:nvSpPr>
        <p:spPr>
          <a:xfrm flipH="1">
            <a:off x="2615184" y="2843784"/>
            <a:ext cx="1554480" cy="886968"/>
          </a:xfrm>
          <a:prstGeom prst="line">
            <a:avLst/>
          </a:prstGeom>
          <a:noFill/>
          <a:ln w="6350">
            <a:solidFill>
              <a:srgbClr val="B7C5CB"/>
            </a:solidFill>
            <a:prstDash val="solid"/>
          </a:ln>
        </p:spPr>
      </p:sp>
      <p:sp>
        <p:nvSpPr>
          <p:cNvPr id="56" name="Shape 47"/>
          <p:cNvSpPr/>
          <p:nvPr/>
        </p:nvSpPr>
        <p:spPr>
          <a:xfrm flipH="1">
            <a:off x="3438144" y="2843784"/>
            <a:ext cx="731520" cy="886968"/>
          </a:xfrm>
          <a:prstGeom prst="line">
            <a:avLst/>
          </a:prstGeom>
          <a:noFill/>
          <a:ln w="6350">
            <a:solidFill>
              <a:srgbClr val="B7C5CB"/>
            </a:solidFill>
            <a:prstDash val="solid"/>
          </a:ln>
        </p:spPr>
      </p:sp>
      <p:sp>
        <p:nvSpPr>
          <p:cNvPr id="57" name="Shape 48"/>
          <p:cNvSpPr/>
          <p:nvPr/>
        </p:nvSpPr>
        <p:spPr>
          <a:xfrm>
            <a:off x="4169664" y="2843784"/>
            <a:ext cx="91440" cy="886968"/>
          </a:xfrm>
          <a:prstGeom prst="line">
            <a:avLst/>
          </a:prstGeom>
          <a:noFill/>
          <a:ln w="6350">
            <a:solidFill>
              <a:srgbClr val="B7C5CB"/>
            </a:solidFill>
            <a:prstDash val="solid"/>
          </a:ln>
        </p:spPr>
      </p:sp>
      <p:sp>
        <p:nvSpPr>
          <p:cNvPr id="58" name="Shape 49"/>
          <p:cNvSpPr/>
          <p:nvPr/>
        </p:nvSpPr>
        <p:spPr>
          <a:xfrm>
            <a:off x="4169664" y="2843784"/>
            <a:ext cx="914400" cy="886968"/>
          </a:xfrm>
          <a:prstGeom prst="line">
            <a:avLst/>
          </a:prstGeom>
          <a:noFill/>
          <a:ln w="6350">
            <a:solidFill>
              <a:srgbClr val="B7C5CB"/>
            </a:solidFill>
            <a:prstDash val="solid"/>
          </a:ln>
        </p:spPr>
      </p:sp>
      <p:sp>
        <p:nvSpPr>
          <p:cNvPr id="59" name="Shape 50"/>
          <p:cNvSpPr/>
          <p:nvPr/>
        </p:nvSpPr>
        <p:spPr>
          <a:xfrm flipH="1">
            <a:off x="2615184" y="2843784"/>
            <a:ext cx="2212848" cy="886968"/>
          </a:xfrm>
          <a:prstGeom prst="line">
            <a:avLst/>
          </a:prstGeom>
          <a:noFill/>
          <a:ln w="6350">
            <a:solidFill>
              <a:srgbClr val="B7C5CB"/>
            </a:solidFill>
            <a:prstDash val="solid"/>
          </a:ln>
        </p:spPr>
      </p:sp>
      <p:sp>
        <p:nvSpPr>
          <p:cNvPr id="60" name="Shape 51"/>
          <p:cNvSpPr/>
          <p:nvPr/>
        </p:nvSpPr>
        <p:spPr>
          <a:xfrm flipH="1">
            <a:off x="3438144" y="2843784"/>
            <a:ext cx="1389888" cy="886968"/>
          </a:xfrm>
          <a:prstGeom prst="line">
            <a:avLst/>
          </a:prstGeom>
          <a:noFill/>
          <a:ln w="6350">
            <a:solidFill>
              <a:srgbClr val="B7C5CB"/>
            </a:solidFill>
            <a:prstDash val="solid"/>
          </a:ln>
        </p:spPr>
      </p:sp>
      <p:sp>
        <p:nvSpPr>
          <p:cNvPr id="61" name="Shape 52"/>
          <p:cNvSpPr/>
          <p:nvPr/>
        </p:nvSpPr>
        <p:spPr>
          <a:xfrm flipH="1">
            <a:off x="4261104" y="2843784"/>
            <a:ext cx="566928" cy="886968"/>
          </a:xfrm>
          <a:prstGeom prst="line">
            <a:avLst/>
          </a:prstGeom>
          <a:noFill/>
          <a:ln w="6350">
            <a:solidFill>
              <a:srgbClr val="B7C5CB"/>
            </a:solidFill>
            <a:prstDash val="solid"/>
          </a:ln>
        </p:spPr>
      </p:sp>
      <p:sp>
        <p:nvSpPr>
          <p:cNvPr id="62" name="Shape 53"/>
          <p:cNvSpPr/>
          <p:nvPr/>
        </p:nvSpPr>
        <p:spPr>
          <a:xfrm>
            <a:off x="4828032" y="2843784"/>
            <a:ext cx="256032" cy="886968"/>
          </a:xfrm>
          <a:prstGeom prst="line">
            <a:avLst/>
          </a:prstGeom>
          <a:noFill/>
          <a:ln w="6350">
            <a:solidFill>
              <a:srgbClr val="B7C5CB"/>
            </a:solidFill>
            <a:prstDash val="solid"/>
          </a:ln>
        </p:spPr>
      </p:sp>
      <p:sp>
        <p:nvSpPr>
          <p:cNvPr id="63" name="Shape 54"/>
          <p:cNvSpPr/>
          <p:nvPr/>
        </p:nvSpPr>
        <p:spPr>
          <a:xfrm flipH="1">
            <a:off x="2615184" y="2843784"/>
            <a:ext cx="2871216" cy="886968"/>
          </a:xfrm>
          <a:prstGeom prst="line">
            <a:avLst/>
          </a:prstGeom>
          <a:noFill/>
          <a:ln w="6350">
            <a:solidFill>
              <a:srgbClr val="B7C5CB"/>
            </a:solidFill>
            <a:prstDash val="solid"/>
          </a:ln>
        </p:spPr>
      </p:sp>
      <p:sp>
        <p:nvSpPr>
          <p:cNvPr id="64" name="Shape 55"/>
          <p:cNvSpPr/>
          <p:nvPr/>
        </p:nvSpPr>
        <p:spPr>
          <a:xfrm flipH="1">
            <a:off x="3438144" y="2843784"/>
            <a:ext cx="2048256" cy="886968"/>
          </a:xfrm>
          <a:prstGeom prst="line">
            <a:avLst/>
          </a:prstGeom>
          <a:noFill/>
          <a:ln w="6350">
            <a:solidFill>
              <a:srgbClr val="B7C5CB"/>
            </a:solidFill>
            <a:prstDash val="solid"/>
          </a:ln>
        </p:spPr>
      </p:sp>
      <p:sp>
        <p:nvSpPr>
          <p:cNvPr id="65" name="Shape 56"/>
          <p:cNvSpPr/>
          <p:nvPr/>
        </p:nvSpPr>
        <p:spPr>
          <a:xfrm flipH="1">
            <a:off x="4261104" y="2843784"/>
            <a:ext cx="1225296" cy="886968"/>
          </a:xfrm>
          <a:prstGeom prst="line">
            <a:avLst/>
          </a:prstGeom>
          <a:noFill/>
          <a:ln w="6350">
            <a:solidFill>
              <a:srgbClr val="B7C5CB"/>
            </a:solidFill>
            <a:prstDash val="solid"/>
          </a:ln>
        </p:spPr>
      </p:sp>
      <p:sp>
        <p:nvSpPr>
          <p:cNvPr id="66" name="Shape 57"/>
          <p:cNvSpPr/>
          <p:nvPr/>
        </p:nvSpPr>
        <p:spPr>
          <a:xfrm flipH="1">
            <a:off x="5084064" y="2843784"/>
            <a:ext cx="402336" cy="886968"/>
          </a:xfrm>
          <a:prstGeom prst="line">
            <a:avLst/>
          </a:prstGeom>
          <a:noFill/>
          <a:ln w="6350">
            <a:solidFill>
              <a:srgbClr val="B7C5CB"/>
            </a:solidFill>
            <a:prstDash val="solid"/>
          </a:ln>
        </p:spPr>
      </p:sp>
      <p:sp>
        <p:nvSpPr>
          <p:cNvPr id="67" name="Shape 58"/>
          <p:cNvSpPr/>
          <p:nvPr/>
        </p:nvSpPr>
        <p:spPr>
          <a:xfrm flipH="1">
            <a:off x="2286000" y="4059936"/>
            <a:ext cx="329184" cy="1243584"/>
          </a:xfrm>
          <a:prstGeom prst="line">
            <a:avLst/>
          </a:prstGeom>
          <a:noFill/>
          <a:ln w="6350">
            <a:solidFill>
              <a:srgbClr val="B7C5CB"/>
            </a:solidFill>
            <a:prstDash val="solid"/>
          </a:ln>
        </p:spPr>
      </p:sp>
      <p:sp>
        <p:nvSpPr>
          <p:cNvPr id="68" name="Shape 59"/>
          <p:cNvSpPr/>
          <p:nvPr/>
        </p:nvSpPr>
        <p:spPr>
          <a:xfrm>
            <a:off x="2615184" y="4059936"/>
            <a:ext cx="457200" cy="1243584"/>
          </a:xfrm>
          <a:prstGeom prst="line">
            <a:avLst/>
          </a:prstGeom>
          <a:noFill/>
          <a:ln w="6350">
            <a:solidFill>
              <a:srgbClr val="B7C5CB"/>
            </a:solidFill>
            <a:prstDash val="solid"/>
          </a:ln>
        </p:spPr>
      </p:sp>
      <p:sp>
        <p:nvSpPr>
          <p:cNvPr id="69" name="Shape 60"/>
          <p:cNvSpPr/>
          <p:nvPr/>
        </p:nvSpPr>
        <p:spPr>
          <a:xfrm>
            <a:off x="2615184" y="4059936"/>
            <a:ext cx="1243584" cy="1243584"/>
          </a:xfrm>
          <a:prstGeom prst="line">
            <a:avLst/>
          </a:prstGeom>
          <a:noFill/>
          <a:ln w="6350">
            <a:solidFill>
              <a:srgbClr val="B7C5CB"/>
            </a:solidFill>
            <a:prstDash val="solid"/>
          </a:ln>
        </p:spPr>
      </p:sp>
      <p:sp>
        <p:nvSpPr>
          <p:cNvPr id="70" name="Shape 61"/>
          <p:cNvSpPr/>
          <p:nvPr/>
        </p:nvSpPr>
        <p:spPr>
          <a:xfrm>
            <a:off x="2615184" y="4059936"/>
            <a:ext cx="2029968" cy="1243584"/>
          </a:xfrm>
          <a:prstGeom prst="line">
            <a:avLst/>
          </a:prstGeom>
          <a:noFill/>
          <a:ln w="6350">
            <a:solidFill>
              <a:srgbClr val="B7C5CB"/>
            </a:solidFill>
            <a:prstDash val="solid"/>
          </a:ln>
        </p:spPr>
      </p:sp>
      <p:sp>
        <p:nvSpPr>
          <p:cNvPr id="71" name="Shape 62"/>
          <p:cNvSpPr/>
          <p:nvPr/>
        </p:nvSpPr>
        <p:spPr>
          <a:xfrm>
            <a:off x="2615184" y="4059936"/>
            <a:ext cx="2816352" cy="1243584"/>
          </a:xfrm>
          <a:prstGeom prst="line">
            <a:avLst/>
          </a:prstGeom>
          <a:noFill/>
          <a:ln w="6350">
            <a:solidFill>
              <a:srgbClr val="B7C5CB"/>
            </a:solidFill>
            <a:prstDash val="solid"/>
          </a:ln>
        </p:spPr>
      </p:sp>
      <p:sp>
        <p:nvSpPr>
          <p:cNvPr id="72" name="Shape 63"/>
          <p:cNvSpPr/>
          <p:nvPr/>
        </p:nvSpPr>
        <p:spPr>
          <a:xfrm flipH="1">
            <a:off x="2286000" y="4059936"/>
            <a:ext cx="1152144" cy="1243584"/>
          </a:xfrm>
          <a:prstGeom prst="line">
            <a:avLst/>
          </a:prstGeom>
          <a:noFill/>
          <a:ln w="6350">
            <a:solidFill>
              <a:srgbClr val="B7C5CB"/>
            </a:solidFill>
            <a:prstDash val="solid"/>
          </a:ln>
        </p:spPr>
      </p:sp>
      <p:sp>
        <p:nvSpPr>
          <p:cNvPr id="73" name="Shape 64"/>
          <p:cNvSpPr/>
          <p:nvPr/>
        </p:nvSpPr>
        <p:spPr>
          <a:xfrm flipH="1">
            <a:off x="3072384" y="4059936"/>
            <a:ext cx="365760" cy="1243584"/>
          </a:xfrm>
          <a:prstGeom prst="line">
            <a:avLst/>
          </a:prstGeom>
          <a:noFill/>
          <a:ln w="6350">
            <a:solidFill>
              <a:srgbClr val="B7C5CB"/>
            </a:solidFill>
            <a:prstDash val="solid"/>
          </a:ln>
        </p:spPr>
      </p:sp>
      <p:sp>
        <p:nvSpPr>
          <p:cNvPr id="74" name="Shape 65"/>
          <p:cNvSpPr/>
          <p:nvPr/>
        </p:nvSpPr>
        <p:spPr>
          <a:xfrm>
            <a:off x="3438144" y="4059936"/>
            <a:ext cx="420624" cy="1243584"/>
          </a:xfrm>
          <a:prstGeom prst="line">
            <a:avLst/>
          </a:prstGeom>
          <a:noFill/>
          <a:ln w="6350">
            <a:solidFill>
              <a:srgbClr val="B7C5CB"/>
            </a:solidFill>
            <a:prstDash val="solid"/>
          </a:ln>
        </p:spPr>
      </p:sp>
      <p:sp>
        <p:nvSpPr>
          <p:cNvPr id="75" name="Shape 66"/>
          <p:cNvSpPr/>
          <p:nvPr/>
        </p:nvSpPr>
        <p:spPr>
          <a:xfrm>
            <a:off x="3438144" y="4059936"/>
            <a:ext cx="1207008" cy="1243584"/>
          </a:xfrm>
          <a:prstGeom prst="line">
            <a:avLst/>
          </a:prstGeom>
          <a:noFill/>
          <a:ln w="6350">
            <a:solidFill>
              <a:srgbClr val="B7C5CB"/>
            </a:solidFill>
            <a:prstDash val="solid"/>
          </a:ln>
        </p:spPr>
      </p:sp>
      <p:sp>
        <p:nvSpPr>
          <p:cNvPr id="76" name="Shape 67"/>
          <p:cNvSpPr/>
          <p:nvPr/>
        </p:nvSpPr>
        <p:spPr>
          <a:xfrm>
            <a:off x="3438144" y="4059936"/>
            <a:ext cx="1993392" cy="1243584"/>
          </a:xfrm>
          <a:prstGeom prst="line">
            <a:avLst/>
          </a:prstGeom>
          <a:noFill/>
          <a:ln w="6350">
            <a:solidFill>
              <a:srgbClr val="B7C5CB"/>
            </a:solidFill>
            <a:prstDash val="solid"/>
          </a:ln>
        </p:spPr>
      </p:sp>
      <p:sp>
        <p:nvSpPr>
          <p:cNvPr id="77" name="Shape 68"/>
          <p:cNvSpPr/>
          <p:nvPr/>
        </p:nvSpPr>
        <p:spPr>
          <a:xfrm flipH="1">
            <a:off x="2286000" y="4059936"/>
            <a:ext cx="1975104" cy="1243584"/>
          </a:xfrm>
          <a:prstGeom prst="line">
            <a:avLst/>
          </a:prstGeom>
          <a:noFill/>
          <a:ln w="6350">
            <a:solidFill>
              <a:srgbClr val="B7C5CB"/>
            </a:solidFill>
            <a:prstDash val="solid"/>
          </a:ln>
        </p:spPr>
      </p:sp>
      <p:sp>
        <p:nvSpPr>
          <p:cNvPr id="78" name="Shape 69"/>
          <p:cNvSpPr/>
          <p:nvPr/>
        </p:nvSpPr>
        <p:spPr>
          <a:xfrm flipH="1">
            <a:off x="3072384" y="4059936"/>
            <a:ext cx="1188720" cy="1243584"/>
          </a:xfrm>
          <a:prstGeom prst="line">
            <a:avLst/>
          </a:prstGeom>
          <a:noFill/>
          <a:ln w="6350">
            <a:solidFill>
              <a:srgbClr val="B7C5CB"/>
            </a:solidFill>
            <a:prstDash val="solid"/>
          </a:ln>
        </p:spPr>
      </p:sp>
      <p:sp>
        <p:nvSpPr>
          <p:cNvPr id="79" name="Shape 70"/>
          <p:cNvSpPr/>
          <p:nvPr/>
        </p:nvSpPr>
        <p:spPr>
          <a:xfrm flipH="1">
            <a:off x="3858768" y="4059936"/>
            <a:ext cx="402336" cy="1243584"/>
          </a:xfrm>
          <a:prstGeom prst="line">
            <a:avLst/>
          </a:prstGeom>
          <a:noFill/>
          <a:ln w="6350">
            <a:solidFill>
              <a:srgbClr val="B7C5CB"/>
            </a:solidFill>
            <a:prstDash val="solid"/>
          </a:ln>
        </p:spPr>
      </p:sp>
      <p:sp>
        <p:nvSpPr>
          <p:cNvPr id="80" name="Shape 71"/>
          <p:cNvSpPr/>
          <p:nvPr/>
        </p:nvSpPr>
        <p:spPr>
          <a:xfrm>
            <a:off x="4261104" y="4059936"/>
            <a:ext cx="384048" cy="1243584"/>
          </a:xfrm>
          <a:prstGeom prst="line">
            <a:avLst/>
          </a:prstGeom>
          <a:noFill/>
          <a:ln w="6350">
            <a:solidFill>
              <a:srgbClr val="B7C5CB"/>
            </a:solidFill>
            <a:prstDash val="solid"/>
          </a:ln>
        </p:spPr>
      </p:sp>
      <p:sp>
        <p:nvSpPr>
          <p:cNvPr id="81" name="Shape 72"/>
          <p:cNvSpPr/>
          <p:nvPr/>
        </p:nvSpPr>
        <p:spPr>
          <a:xfrm>
            <a:off x="4261104" y="4059936"/>
            <a:ext cx="1170432" cy="1243584"/>
          </a:xfrm>
          <a:prstGeom prst="line">
            <a:avLst/>
          </a:prstGeom>
          <a:noFill/>
          <a:ln w="6350">
            <a:solidFill>
              <a:srgbClr val="B7C5CB"/>
            </a:solidFill>
            <a:prstDash val="solid"/>
          </a:ln>
        </p:spPr>
      </p:sp>
      <p:sp>
        <p:nvSpPr>
          <p:cNvPr id="82" name="Shape 73"/>
          <p:cNvSpPr/>
          <p:nvPr/>
        </p:nvSpPr>
        <p:spPr>
          <a:xfrm flipH="1">
            <a:off x="2286000" y="4059936"/>
            <a:ext cx="2798064" cy="1243584"/>
          </a:xfrm>
          <a:prstGeom prst="line">
            <a:avLst/>
          </a:prstGeom>
          <a:noFill/>
          <a:ln w="6350">
            <a:solidFill>
              <a:srgbClr val="B7C5CB"/>
            </a:solidFill>
            <a:prstDash val="solid"/>
          </a:ln>
        </p:spPr>
      </p:sp>
      <p:sp>
        <p:nvSpPr>
          <p:cNvPr id="83" name="Shape 74"/>
          <p:cNvSpPr/>
          <p:nvPr/>
        </p:nvSpPr>
        <p:spPr>
          <a:xfrm flipH="1">
            <a:off x="3072384" y="4059936"/>
            <a:ext cx="2011680" cy="1243584"/>
          </a:xfrm>
          <a:prstGeom prst="line">
            <a:avLst/>
          </a:prstGeom>
          <a:noFill/>
          <a:ln w="6350">
            <a:solidFill>
              <a:srgbClr val="B7C5CB"/>
            </a:solidFill>
            <a:prstDash val="solid"/>
          </a:ln>
        </p:spPr>
      </p:sp>
      <p:sp>
        <p:nvSpPr>
          <p:cNvPr id="84" name="Shape 75"/>
          <p:cNvSpPr/>
          <p:nvPr/>
        </p:nvSpPr>
        <p:spPr>
          <a:xfrm flipH="1">
            <a:off x="3858768" y="4059936"/>
            <a:ext cx="1225296" cy="1243584"/>
          </a:xfrm>
          <a:prstGeom prst="line">
            <a:avLst/>
          </a:prstGeom>
          <a:noFill/>
          <a:ln w="6350">
            <a:solidFill>
              <a:srgbClr val="B7C5CB"/>
            </a:solidFill>
            <a:prstDash val="solid"/>
          </a:ln>
        </p:spPr>
      </p:sp>
      <p:sp>
        <p:nvSpPr>
          <p:cNvPr id="85" name="Shape 76"/>
          <p:cNvSpPr/>
          <p:nvPr/>
        </p:nvSpPr>
        <p:spPr>
          <a:xfrm flipH="1">
            <a:off x="4645152" y="4059936"/>
            <a:ext cx="438912" cy="1243584"/>
          </a:xfrm>
          <a:prstGeom prst="line">
            <a:avLst/>
          </a:prstGeom>
          <a:noFill/>
          <a:ln w="6350">
            <a:solidFill>
              <a:srgbClr val="B7C5CB"/>
            </a:solidFill>
            <a:prstDash val="solid"/>
          </a:ln>
        </p:spPr>
      </p:sp>
      <p:sp>
        <p:nvSpPr>
          <p:cNvPr id="86" name="Shape 77"/>
          <p:cNvSpPr/>
          <p:nvPr/>
        </p:nvSpPr>
        <p:spPr>
          <a:xfrm>
            <a:off x="5084064" y="4059936"/>
            <a:ext cx="347472" cy="1243584"/>
          </a:xfrm>
          <a:prstGeom prst="line">
            <a:avLst/>
          </a:prstGeom>
          <a:noFill/>
          <a:ln w="6350">
            <a:solidFill>
              <a:srgbClr val="B7C5CB"/>
            </a:solidFill>
            <a:prstDash val="solid"/>
          </a:ln>
        </p:spPr>
      </p:sp>
      <p:sp>
        <p:nvSpPr>
          <p:cNvPr id="87" name="Shape 78"/>
          <p:cNvSpPr/>
          <p:nvPr/>
        </p:nvSpPr>
        <p:spPr>
          <a:xfrm>
            <a:off x="2432304" y="3712464"/>
            <a:ext cx="365760" cy="365760"/>
          </a:xfrm>
          <a:prstGeom prst="ellipse">
            <a:avLst/>
          </a:prstGeom>
          <a:solidFill>
            <a:srgbClr val="7B909B"/>
          </a:solidFill>
          <a:ln w="12700">
            <a:solidFill>
              <a:srgbClr val="7B909B"/>
            </a:solidFill>
            <a:prstDash val="solid"/>
          </a:ln>
        </p:spPr>
      </p:sp>
      <p:pic>
        <p:nvPicPr>
          <p:cNvPr id="88" name="Image 6" descr="preencoded.png">    </p:cNvPr>
          <p:cNvPicPr>
            <a:picLocks noChangeAspect="1"/>
          </p:cNvPicPr>
          <p:nvPr/>
        </p:nvPicPr>
        <p:blipFill>
          <a:blip r:embed="rId7"/>
          <a:stretch>
            <a:fillRect/>
          </a:stretch>
        </p:blipFill>
        <p:spPr>
          <a:xfrm>
            <a:off x="2468880" y="3749040"/>
            <a:ext cx="292608" cy="292608"/>
          </a:xfrm>
          <a:prstGeom prst="rect">
            <a:avLst/>
          </a:prstGeom>
        </p:spPr>
      </p:pic>
      <p:sp>
        <p:nvSpPr>
          <p:cNvPr id="89" name="Shape 79"/>
          <p:cNvSpPr/>
          <p:nvPr/>
        </p:nvSpPr>
        <p:spPr>
          <a:xfrm>
            <a:off x="3255264" y="3712464"/>
            <a:ext cx="365760" cy="365760"/>
          </a:xfrm>
          <a:prstGeom prst="ellipse">
            <a:avLst/>
          </a:prstGeom>
          <a:solidFill>
            <a:srgbClr val="7B909B"/>
          </a:solidFill>
          <a:ln w="12700">
            <a:solidFill>
              <a:srgbClr val="7B909B"/>
            </a:solidFill>
            <a:prstDash val="solid"/>
          </a:ln>
        </p:spPr>
      </p:sp>
      <p:pic>
        <p:nvPicPr>
          <p:cNvPr id="90" name="Image 7" descr="preencoded.png">    </p:cNvPr>
          <p:cNvPicPr>
            <a:picLocks noChangeAspect="1"/>
          </p:cNvPicPr>
          <p:nvPr/>
        </p:nvPicPr>
        <p:blipFill>
          <a:blip r:embed="rId8"/>
          <a:stretch>
            <a:fillRect/>
          </a:stretch>
        </p:blipFill>
        <p:spPr>
          <a:xfrm>
            <a:off x="3291840" y="3749040"/>
            <a:ext cx="292608" cy="292608"/>
          </a:xfrm>
          <a:prstGeom prst="rect">
            <a:avLst/>
          </a:prstGeom>
        </p:spPr>
      </p:pic>
      <p:sp>
        <p:nvSpPr>
          <p:cNvPr id="91" name="Shape 80"/>
          <p:cNvSpPr/>
          <p:nvPr/>
        </p:nvSpPr>
        <p:spPr>
          <a:xfrm>
            <a:off x="4078224" y="3712464"/>
            <a:ext cx="365760" cy="365760"/>
          </a:xfrm>
          <a:prstGeom prst="ellipse">
            <a:avLst/>
          </a:prstGeom>
          <a:solidFill>
            <a:srgbClr val="7B909B"/>
          </a:solidFill>
          <a:ln w="12700">
            <a:solidFill>
              <a:srgbClr val="7B909B"/>
            </a:solidFill>
            <a:prstDash val="solid"/>
          </a:ln>
        </p:spPr>
      </p:sp>
      <p:pic>
        <p:nvPicPr>
          <p:cNvPr id="92" name="Image 8" descr="preencoded.png">    </p:cNvPr>
          <p:cNvPicPr>
            <a:picLocks noChangeAspect="1"/>
          </p:cNvPicPr>
          <p:nvPr/>
        </p:nvPicPr>
        <p:blipFill>
          <a:blip r:embed="rId9"/>
          <a:stretch>
            <a:fillRect/>
          </a:stretch>
        </p:blipFill>
        <p:spPr>
          <a:xfrm>
            <a:off x="4114800" y="3749040"/>
            <a:ext cx="292608" cy="292608"/>
          </a:xfrm>
          <a:prstGeom prst="rect">
            <a:avLst/>
          </a:prstGeom>
        </p:spPr>
      </p:pic>
      <p:sp>
        <p:nvSpPr>
          <p:cNvPr id="93" name="Shape 81"/>
          <p:cNvSpPr/>
          <p:nvPr/>
        </p:nvSpPr>
        <p:spPr>
          <a:xfrm>
            <a:off x="4901184" y="3712464"/>
            <a:ext cx="365760" cy="365760"/>
          </a:xfrm>
          <a:prstGeom prst="ellipse">
            <a:avLst/>
          </a:prstGeom>
          <a:solidFill>
            <a:srgbClr val="7B909B"/>
          </a:solidFill>
          <a:ln w="12700">
            <a:solidFill>
              <a:srgbClr val="7B909B"/>
            </a:solidFill>
            <a:prstDash val="solid"/>
          </a:ln>
        </p:spPr>
      </p:sp>
      <p:pic>
        <p:nvPicPr>
          <p:cNvPr id="94" name="Image 9" descr="preencoded.png">    </p:cNvPr>
          <p:cNvPicPr>
            <a:picLocks noChangeAspect="1"/>
          </p:cNvPicPr>
          <p:nvPr/>
        </p:nvPicPr>
        <p:blipFill>
          <a:blip r:embed="rId10"/>
          <a:stretch>
            <a:fillRect/>
          </a:stretch>
        </p:blipFill>
        <p:spPr>
          <a:xfrm>
            <a:off x="4937760" y="3749040"/>
            <a:ext cx="292608" cy="292608"/>
          </a:xfrm>
          <a:prstGeom prst="rect">
            <a:avLst/>
          </a:prstGeom>
        </p:spPr>
      </p:pic>
      <p:sp>
        <p:nvSpPr>
          <p:cNvPr id="95" name="Text 82"/>
          <p:cNvSpPr txBox="1"/>
          <p:nvPr/>
        </p:nvSpPr>
        <p:spPr>
          <a:xfrm>
            <a:off x="685800" y="5760720"/>
            <a:ext cx="5074920" cy="365760"/>
          </a:xfrm>
          <a:prstGeom prst="rect">
            <a:avLst/>
          </a:prstGeom>
          <a:noFill/>
          <a:ln/>
        </p:spPr>
        <p:txBody>
          <a:bodyPr wrap="square" lIns="0" tIns="0" rIns="0" bIns="0" rtlCol="0" anchor="t"/>
          <a:lstStyle/>
          <a:p>
            <a:pPr indent="0" marL="0">
              <a:buNone/>
            </a:pPr>
            <a:r>
              <a:rPr lang="en-US" sz="850" dirty="0">
                <a:solidFill>
                  <a:srgbClr val="4C4C4C"/>
                </a:solidFill>
                <a:latin typeface="Helvetica Neue" pitchFamily="34" charset="0"/>
                <a:ea typeface="Helvetica Neue" pitchFamily="34" charset="-122"/>
                <a:cs typeface="Helvetica Neue" pitchFamily="34" charset="-120"/>
              </a:rPr>
              <a:t>Every handover is re-keyed by a person: 24 stakeholder-to-operator paths, 20 operator-to-system paths, no shared state.</a:t>
            </a:r>
            <a:endParaRPr lang="en-US" sz="850" dirty="0"/>
          </a:p>
        </p:txBody>
      </p:sp>
      <p:sp>
        <p:nvSpPr>
          <p:cNvPr id="96" name="Text 83"/>
          <p:cNvSpPr txBox="1"/>
          <p:nvPr/>
        </p:nvSpPr>
        <p:spPr>
          <a:xfrm>
            <a:off x="6245352" y="1572768"/>
            <a:ext cx="54406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Today: with GeneralMind</a:t>
            </a:r>
            <a:endParaRPr lang="en-US" sz="1250" dirty="0"/>
          </a:p>
        </p:txBody>
      </p:sp>
      <p:sp>
        <p:nvSpPr>
          <p:cNvPr id="97" name="Shape 84"/>
          <p:cNvSpPr/>
          <p:nvPr/>
        </p:nvSpPr>
        <p:spPr>
          <a:xfrm>
            <a:off x="6245352" y="1874520"/>
            <a:ext cx="5440680" cy="4297680"/>
          </a:xfrm>
          <a:prstGeom prst="roundRect">
            <a:avLst>
              <a:gd name="adj" fmla="val 2128"/>
            </a:avLst>
          </a:prstGeom>
          <a:solidFill>
            <a:srgbClr val="EEF2F4"/>
          </a:solidFill>
          <a:ln w="12700">
            <a:solidFill>
              <a:srgbClr val="EEF2F4"/>
            </a:solidFill>
            <a:prstDash val="solid"/>
          </a:ln>
        </p:spPr>
      </p:sp>
      <p:sp>
        <p:nvSpPr>
          <p:cNvPr id="98" name="Text 85"/>
          <p:cNvSpPr txBox="1"/>
          <p:nvPr/>
        </p:nvSpPr>
        <p:spPr>
          <a:xfrm>
            <a:off x="6428232" y="2240280"/>
            <a:ext cx="1188720" cy="274320"/>
          </a:xfrm>
          <a:prstGeom prst="rect">
            <a:avLst/>
          </a:prstGeom>
          <a:noFill/>
          <a:ln/>
        </p:spPr>
        <p:txBody>
          <a:bodyPr wrap="square" lIns="0" tIns="0" rIns="0" bIns="0" rtlCol="0" anchor="t"/>
          <a:lstStyle/>
          <a:p>
            <a:pPr indent="0" marL="0">
              <a:buNone/>
            </a:pPr>
            <a:r>
              <a:rPr lang="en-US" sz="900" dirty="0">
                <a:solidFill>
                  <a:srgbClr val="4C4C4C"/>
                </a:solidFill>
                <a:latin typeface="Helvetica Neue" pitchFamily="34" charset="0"/>
                <a:ea typeface="Helvetica Neue" pitchFamily="34" charset="-122"/>
                <a:cs typeface="Helvetica Neue" pitchFamily="34" charset="-120"/>
              </a:rPr>
              <a:t>Stakeholders</a:t>
            </a:r>
            <a:endParaRPr lang="en-US" sz="900" dirty="0"/>
          </a:p>
        </p:txBody>
      </p:sp>
      <p:sp>
        <p:nvSpPr>
          <p:cNvPr id="99" name="Text 86"/>
          <p:cNvSpPr txBox="1"/>
          <p:nvPr/>
        </p:nvSpPr>
        <p:spPr>
          <a:xfrm>
            <a:off x="6428232" y="2441448"/>
            <a:ext cx="1188720" cy="274320"/>
          </a:xfrm>
          <a:prstGeom prst="rect">
            <a:avLst/>
          </a:prstGeom>
          <a:noFill/>
          <a:ln/>
        </p:spPr>
        <p:txBody>
          <a:bodyPr wrap="square" lIns="0" tIns="0" rIns="0" bIns="0" rtlCol="0" anchor="t"/>
          <a:lstStyle/>
          <a:p>
            <a:pPr indent="0" marL="0">
              <a:buNone/>
            </a:pPr>
            <a:r>
              <a:rPr lang="en-US" sz="800" dirty="0">
                <a:solidFill>
                  <a:srgbClr val="7A7A7A"/>
                </a:solidFill>
                <a:latin typeface="Helvetica Neue" pitchFamily="34" charset="0"/>
                <a:ea typeface="Helvetica Neue" pitchFamily="34" charset="-122"/>
                <a:cs typeface="Helvetica Neue" pitchFamily="34" charset="-120"/>
              </a:rPr>
              <a:t>external / internal</a:t>
            </a:r>
            <a:endParaRPr lang="en-US" sz="800" dirty="0"/>
          </a:p>
        </p:txBody>
      </p:sp>
      <p:sp>
        <p:nvSpPr>
          <p:cNvPr id="100" name="Shape 87"/>
          <p:cNvSpPr/>
          <p:nvPr/>
        </p:nvSpPr>
        <p:spPr>
          <a:xfrm>
            <a:off x="6382512" y="3291840"/>
            <a:ext cx="5166360" cy="1188720"/>
          </a:xfrm>
          <a:prstGeom prst="roundRect">
            <a:avLst>
              <a:gd name="adj" fmla="val 7692"/>
            </a:avLst>
          </a:prstGeom>
          <a:solidFill>
            <a:srgbClr val="7B909B"/>
          </a:solidFill>
          <a:ln w="12700">
            <a:solidFill>
              <a:srgbClr val="7B909B"/>
            </a:solidFill>
            <a:prstDash val="solid"/>
          </a:ln>
        </p:spPr>
      </p:sp>
      <p:sp>
        <p:nvSpPr>
          <p:cNvPr id="101" name="Text 88"/>
          <p:cNvSpPr txBox="1"/>
          <p:nvPr/>
        </p:nvSpPr>
        <p:spPr>
          <a:xfrm>
            <a:off x="6428232" y="3474720"/>
            <a:ext cx="1188720" cy="274320"/>
          </a:xfrm>
          <a:prstGeom prst="rect">
            <a:avLst/>
          </a:prstGeom>
          <a:noFill/>
          <a:ln/>
        </p:spPr>
        <p:txBody>
          <a:bodyPr wrap="square" lIns="0" tIns="0" rIns="0" bIns="0" rtlCol="0" anchor="t"/>
          <a:lstStyle/>
          <a:p>
            <a:pPr indent="0" marL="0">
              <a:buNone/>
            </a:pPr>
            <a:r>
              <a:rPr lang="en-US" sz="900" dirty="0">
                <a:solidFill>
                  <a:srgbClr val="FFFFFF"/>
                </a:solidFill>
                <a:latin typeface="Helvetica Neue" pitchFamily="34" charset="0"/>
                <a:ea typeface="Helvetica Neue" pitchFamily="34" charset="-122"/>
                <a:cs typeface="Helvetica Neue" pitchFamily="34" charset="-120"/>
              </a:rPr>
              <a:t>Operating layer</a:t>
            </a:r>
            <a:endParaRPr lang="en-US" sz="900" dirty="0"/>
          </a:p>
        </p:txBody>
      </p:sp>
      <p:sp>
        <p:nvSpPr>
          <p:cNvPr id="102" name="Text 89"/>
          <p:cNvSpPr txBox="1"/>
          <p:nvPr/>
        </p:nvSpPr>
        <p:spPr>
          <a:xfrm>
            <a:off x="6428232" y="3675888"/>
            <a:ext cx="1188720" cy="548640"/>
          </a:xfrm>
          <a:prstGeom prst="rect">
            <a:avLst/>
          </a:prstGeom>
          <a:noFill/>
          <a:ln/>
        </p:spPr>
        <p:txBody>
          <a:bodyPr wrap="square" lIns="0" tIns="0" rIns="0" bIns="0" rtlCol="0" anchor="t"/>
          <a:lstStyle/>
          <a:p>
            <a:pPr indent="0" marL="0">
              <a:lnSpc>
                <a:spcPct val="105000"/>
              </a:lnSpc>
              <a:buNone/>
            </a:pPr>
            <a:r>
              <a:rPr lang="en-US" sz="800" dirty="0">
                <a:solidFill>
                  <a:srgbClr val="EEF2F4"/>
                </a:solidFill>
                <a:latin typeface="Helvetica Neue" pitchFamily="34" charset="0"/>
                <a:ea typeface="Helvetica Neue" pitchFamily="34" charset="-122"/>
                <a:cs typeface="Helvetica Neue" pitchFamily="34" charset="-120"/>
              </a:rPr>
              <a:t>GM as execution</a:t>
            </a:r>
            <a:endParaRPr lang="en-US" sz="800" dirty="0"/>
          </a:p>
          <a:p>
            <a:pPr indent="0" marL="0">
              <a:lnSpc>
                <a:spcPct val="105000"/>
              </a:lnSpc>
              <a:buNone/>
            </a:pPr>
            <a:r>
              <a:rPr lang="en-US" sz="800" dirty="0">
                <a:solidFill>
                  <a:srgbClr val="EEF2F4"/>
                </a:solidFill>
                <a:latin typeface="Helvetica Neue" pitchFamily="34" charset="0"/>
                <a:ea typeface="Helvetica Neue" pitchFamily="34" charset="-122"/>
                <a:cs typeface="Helvetica Neue" pitchFamily="34" charset="-120"/>
              </a:rPr>
              <a:t>layer</a:t>
            </a:r>
            <a:endParaRPr lang="en-US" sz="800" dirty="0"/>
          </a:p>
        </p:txBody>
      </p:sp>
      <p:sp>
        <p:nvSpPr>
          <p:cNvPr id="103" name="Text 90"/>
          <p:cNvSpPr txBox="1"/>
          <p:nvPr/>
        </p:nvSpPr>
        <p:spPr>
          <a:xfrm>
            <a:off x="6428232" y="5120640"/>
            <a:ext cx="1188720" cy="274320"/>
          </a:xfrm>
          <a:prstGeom prst="rect">
            <a:avLst/>
          </a:prstGeom>
          <a:noFill/>
          <a:ln/>
        </p:spPr>
        <p:txBody>
          <a:bodyPr wrap="square" lIns="0" tIns="0" rIns="0" bIns="0" rtlCol="0" anchor="t"/>
          <a:lstStyle/>
          <a:p>
            <a:pPr indent="0" marL="0">
              <a:buNone/>
            </a:pPr>
            <a:r>
              <a:rPr lang="en-US" sz="900" dirty="0">
                <a:solidFill>
                  <a:srgbClr val="4C4C4C"/>
                </a:solidFill>
                <a:latin typeface="Helvetica Neue" pitchFamily="34" charset="0"/>
                <a:ea typeface="Helvetica Neue" pitchFamily="34" charset="-122"/>
                <a:cs typeface="Helvetica Neue" pitchFamily="34" charset="-120"/>
              </a:rPr>
              <a:t>System of records</a:t>
            </a:r>
            <a:endParaRPr lang="en-US" sz="900" dirty="0"/>
          </a:p>
        </p:txBody>
      </p:sp>
      <p:sp>
        <p:nvSpPr>
          <p:cNvPr id="104" name="Text 91"/>
          <p:cNvSpPr txBox="1"/>
          <p:nvPr/>
        </p:nvSpPr>
        <p:spPr>
          <a:xfrm>
            <a:off x="6428232" y="5321808"/>
            <a:ext cx="1188720" cy="274320"/>
          </a:xfrm>
          <a:prstGeom prst="rect">
            <a:avLst/>
          </a:prstGeom>
          <a:noFill/>
          <a:ln/>
        </p:spPr>
        <p:txBody>
          <a:bodyPr wrap="square" lIns="0" tIns="0" rIns="0" bIns="0" rtlCol="0" anchor="t"/>
          <a:lstStyle/>
          <a:p>
            <a:pPr indent="0" marL="0">
              <a:buNone/>
            </a:pPr>
            <a:r>
              <a:rPr lang="en-US" sz="800" dirty="0">
                <a:solidFill>
                  <a:srgbClr val="7A7A7A"/>
                </a:solidFill>
                <a:latin typeface="Helvetica Neue" pitchFamily="34" charset="0"/>
                <a:ea typeface="Helvetica Neue" pitchFamily="34" charset="-122"/>
                <a:cs typeface="Helvetica Neue" pitchFamily="34" charset="-120"/>
              </a:rPr>
              <a:t>ERP, files, tickets</a:t>
            </a:r>
            <a:endParaRPr lang="en-US" sz="800" dirty="0"/>
          </a:p>
        </p:txBody>
      </p:sp>
      <p:sp>
        <p:nvSpPr>
          <p:cNvPr id="105" name="Shape 92"/>
          <p:cNvSpPr/>
          <p:nvPr/>
        </p:nvSpPr>
        <p:spPr>
          <a:xfrm>
            <a:off x="7708392" y="2130552"/>
            <a:ext cx="457200" cy="457200"/>
          </a:xfrm>
          <a:prstGeom prst="roundRect">
            <a:avLst>
              <a:gd name="adj" fmla="val 14000"/>
            </a:avLst>
          </a:prstGeom>
          <a:solidFill>
            <a:srgbClr val="FFFFFF"/>
          </a:solidFill>
          <a:ln w="6350">
            <a:solidFill>
              <a:srgbClr val="CBD5DA"/>
            </a:solidFill>
            <a:prstDash val="solid"/>
          </a:ln>
        </p:spPr>
      </p:sp>
      <p:pic>
        <p:nvPicPr>
          <p:cNvPr id="106" name="Image 10" descr="preencoded.png">    </p:cNvPr>
          <p:cNvPicPr>
            <a:picLocks noChangeAspect="1"/>
          </p:cNvPicPr>
          <p:nvPr/>
        </p:nvPicPr>
        <p:blipFill>
          <a:blip r:embed="rId11"/>
          <a:stretch>
            <a:fillRect/>
          </a:stretch>
        </p:blipFill>
        <p:spPr>
          <a:xfrm>
            <a:off x="7818120" y="2240280"/>
            <a:ext cx="237744" cy="237744"/>
          </a:xfrm>
          <a:prstGeom prst="rect">
            <a:avLst/>
          </a:prstGeom>
        </p:spPr>
      </p:pic>
      <p:sp>
        <p:nvSpPr>
          <p:cNvPr id="107" name="Text 93"/>
          <p:cNvSpPr txBox="1"/>
          <p:nvPr/>
        </p:nvSpPr>
        <p:spPr>
          <a:xfrm>
            <a:off x="7571232"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Supplier</a:t>
            </a:r>
            <a:endParaRPr lang="en-US" sz="700" dirty="0"/>
          </a:p>
        </p:txBody>
      </p:sp>
      <p:sp>
        <p:nvSpPr>
          <p:cNvPr id="108" name="Shape 94"/>
          <p:cNvSpPr/>
          <p:nvPr/>
        </p:nvSpPr>
        <p:spPr>
          <a:xfrm>
            <a:off x="8366760" y="2130552"/>
            <a:ext cx="457200" cy="457200"/>
          </a:xfrm>
          <a:prstGeom prst="roundRect">
            <a:avLst>
              <a:gd name="adj" fmla="val 14000"/>
            </a:avLst>
          </a:prstGeom>
          <a:solidFill>
            <a:srgbClr val="FFFFFF"/>
          </a:solidFill>
          <a:ln w="6350">
            <a:solidFill>
              <a:srgbClr val="CBD5DA"/>
            </a:solidFill>
            <a:prstDash val="solid"/>
          </a:ln>
        </p:spPr>
      </p:sp>
      <p:pic>
        <p:nvPicPr>
          <p:cNvPr id="109" name="Image 11" descr="preencoded.png">    </p:cNvPr>
          <p:cNvPicPr>
            <a:picLocks noChangeAspect="1"/>
          </p:cNvPicPr>
          <p:nvPr/>
        </p:nvPicPr>
        <p:blipFill>
          <a:blip r:embed="rId12"/>
          <a:stretch>
            <a:fillRect/>
          </a:stretch>
        </p:blipFill>
        <p:spPr>
          <a:xfrm>
            <a:off x="8476488" y="2240280"/>
            <a:ext cx="237744" cy="237744"/>
          </a:xfrm>
          <a:prstGeom prst="rect">
            <a:avLst/>
          </a:prstGeom>
        </p:spPr>
      </p:pic>
      <p:sp>
        <p:nvSpPr>
          <p:cNvPr id="110" name="Text 95"/>
          <p:cNvSpPr txBox="1"/>
          <p:nvPr/>
        </p:nvSpPr>
        <p:spPr>
          <a:xfrm>
            <a:off x="8229600"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Procurement</a:t>
            </a:r>
            <a:endParaRPr lang="en-US" sz="700" dirty="0"/>
          </a:p>
        </p:txBody>
      </p:sp>
      <p:sp>
        <p:nvSpPr>
          <p:cNvPr id="111" name="Shape 96"/>
          <p:cNvSpPr/>
          <p:nvPr/>
        </p:nvSpPr>
        <p:spPr>
          <a:xfrm>
            <a:off x="9025128" y="2130552"/>
            <a:ext cx="457200" cy="457200"/>
          </a:xfrm>
          <a:prstGeom prst="roundRect">
            <a:avLst>
              <a:gd name="adj" fmla="val 14000"/>
            </a:avLst>
          </a:prstGeom>
          <a:solidFill>
            <a:srgbClr val="FFFFFF"/>
          </a:solidFill>
          <a:ln w="6350">
            <a:solidFill>
              <a:srgbClr val="CBD5DA"/>
            </a:solidFill>
            <a:prstDash val="solid"/>
          </a:ln>
        </p:spPr>
      </p:sp>
      <p:pic>
        <p:nvPicPr>
          <p:cNvPr id="112" name="Image 12" descr="preencoded.png">    </p:cNvPr>
          <p:cNvPicPr>
            <a:picLocks noChangeAspect="1"/>
          </p:cNvPicPr>
          <p:nvPr/>
        </p:nvPicPr>
        <p:blipFill>
          <a:blip r:embed="rId13"/>
          <a:stretch>
            <a:fillRect/>
          </a:stretch>
        </p:blipFill>
        <p:spPr>
          <a:xfrm>
            <a:off x="9134856" y="2240280"/>
            <a:ext cx="237744" cy="237744"/>
          </a:xfrm>
          <a:prstGeom prst="rect">
            <a:avLst/>
          </a:prstGeom>
        </p:spPr>
      </p:pic>
      <p:sp>
        <p:nvSpPr>
          <p:cNvPr id="113" name="Text 97"/>
          <p:cNvSpPr txBox="1"/>
          <p:nvPr/>
        </p:nvSpPr>
        <p:spPr>
          <a:xfrm>
            <a:off x="8887968"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Warehouse</a:t>
            </a:r>
            <a:endParaRPr lang="en-US" sz="700" dirty="0"/>
          </a:p>
        </p:txBody>
      </p:sp>
      <p:sp>
        <p:nvSpPr>
          <p:cNvPr id="114" name="Shape 98"/>
          <p:cNvSpPr/>
          <p:nvPr/>
        </p:nvSpPr>
        <p:spPr>
          <a:xfrm>
            <a:off x="9683496" y="2130552"/>
            <a:ext cx="457200" cy="457200"/>
          </a:xfrm>
          <a:prstGeom prst="roundRect">
            <a:avLst>
              <a:gd name="adj" fmla="val 14000"/>
            </a:avLst>
          </a:prstGeom>
          <a:solidFill>
            <a:srgbClr val="FFFFFF"/>
          </a:solidFill>
          <a:ln w="6350">
            <a:solidFill>
              <a:srgbClr val="CBD5DA"/>
            </a:solidFill>
            <a:prstDash val="solid"/>
          </a:ln>
        </p:spPr>
      </p:sp>
      <p:pic>
        <p:nvPicPr>
          <p:cNvPr id="115" name="Image 13" descr="preencoded.png">    </p:cNvPr>
          <p:cNvPicPr>
            <a:picLocks noChangeAspect="1"/>
          </p:cNvPicPr>
          <p:nvPr/>
        </p:nvPicPr>
        <p:blipFill>
          <a:blip r:embed="rId14"/>
          <a:stretch>
            <a:fillRect/>
          </a:stretch>
        </p:blipFill>
        <p:spPr>
          <a:xfrm>
            <a:off x="9793224" y="2240280"/>
            <a:ext cx="237744" cy="237744"/>
          </a:xfrm>
          <a:prstGeom prst="rect">
            <a:avLst/>
          </a:prstGeom>
        </p:spPr>
      </p:pic>
      <p:sp>
        <p:nvSpPr>
          <p:cNvPr id="116" name="Text 99"/>
          <p:cNvSpPr txBox="1"/>
          <p:nvPr/>
        </p:nvSpPr>
        <p:spPr>
          <a:xfrm>
            <a:off x="9546336"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Carrier</a:t>
            </a:r>
            <a:endParaRPr lang="en-US" sz="700" dirty="0"/>
          </a:p>
        </p:txBody>
      </p:sp>
      <p:sp>
        <p:nvSpPr>
          <p:cNvPr id="117" name="Shape 100"/>
          <p:cNvSpPr/>
          <p:nvPr/>
        </p:nvSpPr>
        <p:spPr>
          <a:xfrm>
            <a:off x="10341864" y="2130552"/>
            <a:ext cx="457200" cy="457200"/>
          </a:xfrm>
          <a:prstGeom prst="roundRect">
            <a:avLst>
              <a:gd name="adj" fmla="val 14000"/>
            </a:avLst>
          </a:prstGeom>
          <a:solidFill>
            <a:srgbClr val="FFFFFF"/>
          </a:solidFill>
          <a:ln w="6350">
            <a:solidFill>
              <a:srgbClr val="CBD5DA"/>
            </a:solidFill>
            <a:prstDash val="solid"/>
          </a:ln>
        </p:spPr>
      </p:sp>
      <p:pic>
        <p:nvPicPr>
          <p:cNvPr id="118" name="Image 14" descr="preencoded.png">    </p:cNvPr>
          <p:cNvPicPr>
            <a:picLocks noChangeAspect="1"/>
          </p:cNvPicPr>
          <p:nvPr/>
        </p:nvPicPr>
        <p:blipFill>
          <a:blip r:embed="rId15"/>
          <a:stretch>
            <a:fillRect/>
          </a:stretch>
        </p:blipFill>
        <p:spPr>
          <a:xfrm>
            <a:off x="10451592" y="2240280"/>
            <a:ext cx="237744" cy="237744"/>
          </a:xfrm>
          <a:prstGeom prst="rect">
            <a:avLst/>
          </a:prstGeom>
        </p:spPr>
      </p:pic>
      <p:sp>
        <p:nvSpPr>
          <p:cNvPr id="119" name="Text 101"/>
          <p:cNvSpPr txBox="1"/>
          <p:nvPr/>
        </p:nvSpPr>
        <p:spPr>
          <a:xfrm>
            <a:off x="10204704"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Accounting</a:t>
            </a:r>
            <a:endParaRPr lang="en-US" sz="700" dirty="0"/>
          </a:p>
        </p:txBody>
      </p:sp>
      <p:sp>
        <p:nvSpPr>
          <p:cNvPr id="120" name="Shape 102"/>
          <p:cNvSpPr/>
          <p:nvPr/>
        </p:nvSpPr>
        <p:spPr>
          <a:xfrm>
            <a:off x="11000232" y="2130552"/>
            <a:ext cx="457200" cy="457200"/>
          </a:xfrm>
          <a:prstGeom prst="roundRect">
            <a:avLst>
              <a:gd name="adj" fmla="val 14000"/>
            </a:avLst>
          </a:prstGeom>
          <a:solidFill>
            <a:srgbClr val="FFFFFF"/>
          </a:solidFill>
          <a:ln w="6350">
            <a:solidFill>
              <a:srgbClr val="CBD5DA"/>
            </a:solidFill>
            <a:prstDash val="solid"/>
          </a:ln>
        </p:spPr>
      </p:sp>
      <p:pic>
        <p:nvPicPr>
          <p:cNvPr id="121" name="Image 15" descr="preencoded.png">    </p:cNvPr>
          <p:cNvPicPr>
            <a:picLocks noChangeAspect="1"/>
          </p:cNvPicPr>
          <p:nvPr/>
        </p:nvPicPr>
        <p:blipFill>
          <a:blip r:embed="rId16"/>
          <a:stretch>
            <a:fillRect/>
          </a:stretch>
        </p:blipFill>
        <p:spPr>
          <a:xfrm>
            <a:off x="11109960" y="2240280"/>
            <a:ext cx="237744" cy="237744"/>
          </a:xfrm>
          <a:prstGeom prst="rect">
            <a:avLst/>
          </a:prstGeom>
        </p:spPr>
      </p:pic>
      <p:sp>
        <p:nvSpPr>
          <p:cNvPr id="122" name="Text 103"/>
          <p:cNvSpPr txBox="1"/>
          <p:nvPr/>
        </p:nvSpPr>
        <p:spPr>
          <a:xfrm>
            <a:off x="10863072" y="2615184"/>
            <a:ext cx="731520" cy="201168"/>
          </a:xfrm>
          <a:prstGeom prst="rect">
            <a:avLst/>
          </a:prstGeom>
          <a:noFill/>
          <a:ln/>
        </p:spPr>
        <p:txBody>
          <a:bodyPr wrap="square" lIns="0" tIns="0" rIns="0" bIns="0" rtlCol="0" anchor="t"/>
          <a:lstStyle/>
          <a:p>
            <a:pPr algn="ctr" indent="0" marL="0">
              <a:buNone/>
            </a:pPr>
            <a:r>
              <a:rPr lang="en-US" sz="700" dirty="0">
                <a:solidFill>
                  <a:srgbClr val="7A7A7A"/>
                </a:solidFill>
                <a:latin typeface="Helvetica Neue" pitchFamily="34" charset="0"/>
                <a:ea typeface="Helvetica Neue" pitchFamily="34" charset="-122"/>
                <a:cs typeface="Helvetica Neue" pitchFamily="34" charset="-120"/>
              </a:rPr>
              <a:t>Customer</a:t>
            </a:r>
            <a:endParaRPr lang="en-US" sz="700" dirty="0"/>
          </a:p>
        </p:txBody>
      </p:sp>
      <p:sp>
        <p:nvSpPr>
          <p:cNvPr id="123" name="Shape 104"/>
          <p:cNvSpPr/>
          <p:nvPr/>
        </p:nvSpPr>
        <p:spPr>
          <a:xfrm>
            <a:off x="7708392" y="5303520"/>
            <a:ext cx="640080" cy="402336"/>
          </a:xfrm>
          <a:prstGeom prst="roundRect">
            <a:avLst>
              <a:gd name="adj" fmla="val 15909"/>
            </a:avLst>
          </a:prstGeom>
          <a:solidFill>
            <a:srgbClr val="FFFFFF"/>
          </a:solidFill>
          <a:ln w="6350">
            <a:solidFill>
              <a:srgbClr val="CBD5DA"/>
            </a:solidFill>
            <a:prstDash val="solid"/>
          </a:ln>
        </p:spPr>
      </p:sp>
      <p:sp>
        <p:nvSpPr>
          <p:cNvPr id="124" name="Text 105"/>
          <p:cNvSpPr txBox="1"/>
          <p:nvPr/>
        </p:nvSpPr>
        <p:spPr>
          <a:xfrm>
            <a:off x="7708392"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SAP</a:t>
            </a:r>
            <a:endParaRPr lang="en-US" sz="800" dirty="0"/>
          </a:p>
        </p:txBody>
      </p:sp>
      <p:sp>
        <p:nvSpPr>
          <p:cNvPr id="125" name="Shape 106"/>
          <p:cNvSpPr/>
          <p:nvPr/>
        </p:nvSpPr>
        <p:spPr>
          <a:xfrm>
            <a:off x="8494776" y="5303520"/>
            <a:ext cx="640080" cy="402336"/>
          </a:xfrm>
          <a:prstGeom prst="roundRect">
            <a:avLst>
              <a:gd name="adj" fmla="val 15909"/>
            </a:avLst>
          </a:prstGeom>
          <a:solidFill>
            <a:srgbClr val="FFFFFF"/>
          </a:solidFill>
          <a:ln w="6350">
            <a:solidFill>
              <a:srgbClr val="CBD5DA"/>
            </a:solidFill>
            <a:prstDash val="solid"/>
          </a:ln>
        </p:spPr>
      </p:sp>
      <p:sp>
        <p:nvSpPr>
          <p:cNvPr id="126" name="Text 107"/>
          <p:cNvSpPr txBox="1"/>
          <p:nvPr/>
        </p:nvSpPr>
        <p:spPr>
          <a:xfrm>
            <a:off x="8494776"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Oracle</a:t>
            </a:r>
            <a:endParaRPr lang="en-US" sz="800" dirty="0"/>
          </a:p>
        </p:txBody>
      </p:sp>
      <p:sp>
        <p:nvSpPr>
          <p:cNvPr id="127" name="Shape 108"/>
          <p:cNvSpPr/>
          <p:nvPr/>
        </p:nvSpPr>
        <p:spPr>
          <a:xfrm>
            <a:off x="9281160" y="5303520"/>
            <a:ext cx="640080" cy="402336"/>
          </a:xfrm>
          <a:prstGeom prst="roundRect">
            <a:avLst>
              <a:gd name="adj" fmla="val 15909"/>
            </a:avLst>
          </a:prstGeom>
          <a:solidFill>
            <a:srgbClr val="FFFFFF"/>
          </a:solidFill>
          <a:ln w="6350">
            <a:solidFill>
              <a:srgbClr val="CBD5DA"/>
            </a:solidFill>
            <a:prstDash val="solid"/>
          </a:ln>
        </p:spPr>
      </p:sp>
      <p:sp>
        <p:nvSpPr>
          <p:cNvPr id="128" name="Text 109"/>
          <p:cNvSpPr txBox="1"/>
          <p:nvPr/>
        </p:nvSpPr>
        <p:spPr>
          <a:xfrm>
            <a:off x="9281160"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D365</a:t>
            </a:r>
            <a:endParaRPr lang="en-US" sz="800" dirty="0"/>
          </a:p>
        </p:txBody>
      </p:sp>
      <p:sp>
        <p:nvSpPr>
          <p:cNvPr id="129" name="Shape 110"/>
          <p:cNvSpPr/>
          <p:nvPr/>
        </p:nvSpPr>
        <p:spPr>
          <a:xfrm>
            <a:off x="10067544" y="5303520"/>
            <a:ext cx="640080" cy="402336"/>
          </a:xfrm>
          <a:prstGeom prst="roundRect">
            <a:avLst>
              <a:gd name="adj" fmla="val 15909"/>
            </a:avLst>
          </a:prstGeom>
          <a:solidFill>
            <a:srgbClr val="FFFFFF"/>
          </a:solidFill>
          <a:ln w="6350">
            <a:solidFill>
              <a:srgbClr val="CBD5DA"/>
            </a:solidFill>
            <a:prstDash val="solid"/>
          </a:ln>
        </p:spPr>
      </p:sp>
      <p:sp>
        <p:nvSpPr>
          <p:cNvPr id="130" name="Text 111"/>
          <p:cNvSpPr txBox="1"/>
          <p:nvPr/>
        </p:nvSpPr>
        <p:spPr>
          <a:xfrm>
            <a:off x="10067544"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Excel</a:t>
            </a:r>
            <a:endParaRPr lang="en-US" sz="800" dirty="0"/>
          </a:p>
        </p:txBody>
      </p:sp>
      <p:sp>
        <p:nvSpPr>
          <p:cNvPr id="131" name="Shape 112"/>
          <p:cNvSpPr/>
          <p:nvPr/>
        </p:nvSpPr>
        <p:spPr>
          <a:xfrm>
            <a:off x="10853928" y="5303520"/>
            <a:ext cx="640080" cy="402336"/>
          </a:xfrm>
          <a:prstGeom prst="roundRect">
            <a:avLst>
              <a:gd name="adj" fmla="val 15909"/>
            </a:avLst>
          </a:prstGeom>
          <a:solidFill>
            <a:srgbClr val="FFFFFF"/>
          </a:solidFill>
          <a:ln w="6350">
            <a:solidFill>
              <a:srgbClr val="CBD5DA"/>
            </a:solidFill>
            <a:prstDash val="solid"/>
          </a:ln>
        </p:spPr>
      </p:sp>
      <p:sp>
        <p:nvSpPr>
          <p:cNvPr id="132" name="Text 113"/>
          <p:cNvSpPr txBox="1"/>
          <p:nvPr/>
        </p:nvSpPr>
        <p:spPr>
          <a:xfrm>
            <a:off x="10853928" y="5321808"/>
            <a:ext cx="640080" cy="365760"/>
          </a:xfrm>
          <a:prstGeom prst="rect">
            <a:avLst/>
          </a:prstGeom>
          <a:noFill/>
          <a:ln/>
        </p:spPr>
        <p:txBody>
          <a:bodyPr wrap="square" lIns="0" tIns="0" rIns="0" bIns="0" rtlCol="0" anchor="ctr"/>
          <a:lstStyle/>
          <a:p>
            <a:pPr algn="ctr" indent="0" marL="0">
              <a:buNone/>
            </a:pPr>
            <a:r>
              <a:rPr lang="en-US" sz="800" dirty="0">
                <a:solidFill>
                  <a:srgbClr val="2E2E2E"/>
                </a:solidFill>
                <a:latin typeface="Helvetica Neue" pitchFamily="34" charset="0"/>
                <a:ea typeface="Helvetica Neue" pitchFamily="34" charset="-122"/>
                <a:cs typeface="Helvetica Neue" pitchFamily="34" charset="-120"/>
              </a:rPr>
              <a:t>Outlook</a:t>
            </a:r>
            <a:endParaRPr lang="en-US" sz="800" dirty="0"/>
          </a:p>
        </p:txBody>
      </p:sp>
      <p:sp>
        <p:nvSpPr>
          <p:cNvPr id="133" name="Shape 114"/>
          <p:cNvSpPr/>
          <p:nvPr/>
        </p:nvSpPr>
        <p:spPr>
          <a:xfrm>
            <a:off x="7936992" y="2843784"/>
            <a:ext cx="1028700" cy="630936"/>
          </a:xfrm>
          <a:prstGeom prst="line">
            <a:avLst/>
          </a:prstGeom>
          <a:noFill/>
          <a:ln w="7620">
            <a:solidFill>
              <a:srgbClr val="111111"/>
            </a:solidFill>
            <a:prstDash val="solid"/>
            <a:tailEnd type="triangle"/>
          </a:ln>
        </p:spPr>
      </p:sp>
      <p:sp>
        <p:nvSpPr>
          <p:cNvPr id="134" name="Shape 115"/>
          <p:cNvSpPr/>
          <p:nvPr/>
        </p:nvSpPr>
        <p:spPr>
          <a:xfrm>
            <a:off x="8595360" y="2843784"/>
            <a:ext cx="534924" cy="630936"/>
          </a:xfrm>
          <a:prstGeom prst="line">
            <a:avLst/>
          </a:prstGeom>
          <a:noFill/>
          <a:ln w="7620">
            <a:solidFill>
              <a:srgbClr val="111111"/>
            </a:solidFill>
            <a:prstDash val="solid"/>
            <a:tailEnd type="triangle"/>
          </a:ln>
        </p:spPr>
      </p:sp>
      <p:sp>
        <p:nvSpPr>
          <p:cNvPr id="135" name="Shape 116"/>
          <p:cNvSpPr/>
          <p:nvPr/>
        </p:nvSpPr>
        <p:spPr>
          <a:xfrm>
            <a:off x="9253728" y="2843784"/>
            <a:ext cx="41148" cy="630936"/>
          </a:xfrm>
          <a:prstGeom prst="line">
            <a:avLst/>
          </a:prstGeom>
          <a:noFill/>
          <a:ln w="7620">
            <a:solidFill>
              <a:srgbClr val="111111"/>
            </a:solidFill>
            <a:prstDash val="solid"/>
            <a:tailEnd type="triangle"/>
          </a:ln>
        </p:spPr>
      </p:sp>
      <p:sp>
        <p:nvSpPr>
          <p:cNvPr id="136" name="Shape 117"/>
          <p:cNvSpPr/>
          <p:nvPr/>
        </p:nvSpPr>
        <p:spPr>
          <a:xfrm flipH="1">
            <a:off x="9459468" y="2843784"/>
            <a:ext cx="452628" cy="630936"/>
          </a:xfrm>
          <a:prstGeom prst="line">
            <a:avLst/>
          </a:prstGeom>
          <a:noFill/>
          <a:ln w="7620">
            <a:solidFill>
              <a:srgbClr val="111111"/>
            </a:solidFill>
            <a:prstDash val="solid"/>
            <a:tailEnd type="triangle"/>
          </a:ln>
        </p:spPr>
      </p:sp>
      <p:sp>
        <p:nvSpPr>
          <p:cNvPr id="137" name="Shape 118"/>
          <p:cNvSpPr/>
          <p:nvPr/>
        </p:nvSpPr>
        <p:spPr>
          <a:xfrm flipH="1">
            <a:off x="9624060" y="2843784"/>
            <a:ext cx="946404" cy="630936"/>
          </a:xfrm>
          <a:prstGeom prst="line">
            <a:avLst/>
          </a:prstGeom>
          <a:noFill/>
          <a:ln w="7620">
            <a:solidFill>
              <a:srgbClr val="111111"/>
            </a:solidFill>
            <a:prstDash val="solid"/>
            <a:tailEnd type="triangle"/>
          </a:ln>
        </p:spPr>
      </p:sp>
      <p:sp>
        <p:nvSpPr>
          <p:cNvPr id="138" name="Shape 119"/>
          <p:cNvSpPr/>
          <p:nvPr/>
        </p:nvSpPr>
        <p:spPr>
          <a:xfrm flipH="1">
            <a:off x="9788652" y="2843784"/>
            <a:ext cx="1440180" cy="630936"/>
          </a:xfrm>
          <a:prstGeom prst="line">
            <a:avLst/>
          </a:prstGeom>
          <a:noFill/>
          <a:ln w="7620">
            <a:solidFill>
              <a:srgbClr val="111111"/>
            </a:solidFill>
            <a:prstDash val="solid"/>
            <a:tailEnd type="triangle"/>
          </a:ln>
        </p:spPr>
      </p:sp>
      <p:sp>
        <p:nvSpPr>
          <p:cNvPr id="139" name="Shape 120"/>
          <p:cNvSpPr/>
          <p:nvPr/>
        </p:nvSpPr>
        <p:spPr>
          <a:xfrm flipH="1">
            <a:off x="8028432" y="4297680"/>
            <a:ext cx="982980" cy="1005840"/>
          </a:xfrm>
          <a:prstGeom prst="line">
            <a:avLst/>
          </a:prstGeom>
          <a:noFill/>
          <a:ln w="7620">
            <a:solidFill>
              <a:srgbClr val="111111"/>
            </a:solidFill>
            <a:prstDash val="solid"/>
            <a:tailEnd type="triangle"/>
          </a:ln>
        </p:spPr>
      </p:sp>
      <p:sp>
        <p:nvSpPr>
          <p:cNvPr id="140" name="Shape 121"/>
          <p:cNvSpPr/>
          <p:nvPr/>
        </p:nvSpPr>
        <p:spPr>
          <a:xfrm flipH="1">
            <a:off x="8814816" y="4297680"/>
            <a:ext cx="379476" cy="1005840"/>
          </a:xfrm>
          <a:prstGeom prst="line">
            <a:avLst/>
          </a:prstGeom>
          <a:noFill/>
          <a:ln w="7620">
            <a:solidFill>
              <a:srgbClr val="111111"/>
            </a:solidFill>
            <a:prstDash val="solid"/>
            <a:tailEnd type="triangle"/>
          </a:ln>
        </p:spPr>
      </p:sp>
      <p:sp>
        <p:nvSpPr>
          <p:cNvPr id="141" name="Shape 122"/>
          <p:cNvSpPr/>
          <p:nvPr/>
        </p:nvSpPr>
        <p:spPr>
          <a:xfrm>
            <a:off x="9377172" y="4297680"/>
            <a:ext cx="224028" cy="1005840"/>
          </a:xfrm>
          <a:prstGeom prst="line">
            <a:avLst/>
          </a:prstGeom>
          <a:noFill/>
          <a:ln w="7620">
            <a:solidFill>
              <a:srgbClr val="111111"/>
            </a:solidFill>
            <a:prstDash val="solid"/>
            <a:tailEnd type="triangle"/>
          </a:ln>
        </p:spPr>
      </p:sp>
      <p:sp>
        <p:nvSpPr>
          <p:cNvPr id="142" name="Shape 123"/>
          <p:cNvSpPr/>
          <p:nvPr/>
        </p:nvSpPr>
        <p:spPr>
          <a:xfrm>
            <a:off x="9560052" y="4297680"/>
            <a:ext cx="827532" cy="1005840"/>
          </a:xfrm>
          <a:prstGeom prst="line">
            <a:avLst/>
          </a:prstGeom>
          <a:noFill/>
          <a:ln w="7620">
            <a:solidFill>
              <a:srgbClr val="111111"/>
            </a:solidFill>
            <a:prstDash val="solid"/>
            <a:tailEnd type="triangle"/>
          </a:ln>
        </p:spPr>
      </p:sp>
      <p:sp>
        <p:nvSpPr>
          <p:cNvPr id="143" name="Shape 124"/>
          <p:cNvSpPr/>
          <p:nvPr/>
        </p:nvSpPr>
        <p:spPr>
          <a:xfrm>
            <a:off x="9742932" y="4297680"/>
            <a:ext cx="1431036" cy="1005840"/>
          </a:xfrm>
          <a:prstGeom prst="line">
            <a:avLst/>
          </a:prstGeom>
          <a:noFill/>
          <a:ln w="7620">
            <a:solidFill>
              <a:srgbClr val="111111"/>
            </a:solidFill>
            <a:prstDash val="solid"/>
            <a:tailEnd type="triangle"/>
          </a:ln>
        </p:spPr>
      </p:sp>
      <p:sp>
        <p:nvSpPr>
          <p:cNvPr id="144" name="Shape 125"/>
          <p:cNvSpPr/>
          <p:nvPr/>
        </p:nvSpPr>
        <p:spPr>
          <a:xfrm>
            <a:off x="8577072" y="3474720"/>
            <a:ext cx="1600200" cy="822960"/>
          </a:xfrm>
          <a:prstGeom prst="roundRect">
            <a:avLst>
              <a:gd name="adj" fmla="val 11111"/>
            </a:avLst>
          </a:prstGeom>
          <a:solidFill>
            <a:srgbClr val="FFFFFF"/>
          </a:solidFill>
          <a:ln w="12700">
            <a:solidFill>
              <a:srgbClr val="FFFFFF"/>
            </a:solidFill>
            <a:prstDash val="solid"/>
          </a:ln>
          <a:effectLst>
            <a:outerShdw sx="100000" sy="100000" kx="0" ky="0" algn="bl" rotWithShape="0" blurRad="76200" dist="12700" dir="5400000">
              <a:srgbClr val="000000">
                <a:alpha val="12000"/>
              </a:srgbClr>
            </a:outerShdw>
          </a:effectLst>
        </p:spPr>
      </p:sp>
      <p:pic>
        <p:nvPicPr>
          <p:cNvPr id="145" name="Image 16" descr="preencoded.png">    </p:cNvPr>
          <p:cNvPicPr>
            <a:picLocks noChangeAspect="1"/>
          </p:cNvPicPr>
          <p:nvPr/>
        </p:nvPicPr>
        <p:blipFill>
          <a:blip r:embed="rId17"/>
          <a:stretch>
            <a:fillRect/>
          </a:stretch>
        </p:blipFill>
        <p:spPr>
          <a:xfrm>
            <a:off x="8705088" y="3657600"/>
            <a:ext cx="438912" cy="457200"/>
          </a:xfrm>
          <a:prstGeom prst="rect">
            <a:avLst/>
          </a:prstGeom>
        </p:spPr>
      </p:pic>
      <p:sp>
        <p:nvSpPr>
          <p:cNvPr id="146" name="Text 126"/>
          <p:cNvSpPr txBox="1"/>
          <p:nvPr/>
        </p:nvSpPr>
        <p:spPr>
          <a:xfrm>
            <a:off x="9198864" y="3630168"/>
            <a:ext cx="960120" cy="548640"/>
          </a:xfrm>
          <a:prstGeom prst="rect">
            <a:avLst/>
          </a:prstGeom>
          <a:noFill/>
          <a:ln/>
        </p:spPr>
        <p:txBody>
          <a:bodyPr wrap="square" lIns="0" tIns="0" rIns="0" bIns="0" rtlCol="0" anchor="ctr"/>
          <a:lstStyle/>
          <a:p>
            <a:pPr indent="0" marL="0">
              <a:lnSpc>
                <a:spcPct val="105000"/>
              </a:lnSpc>
              <a:buNone/>
            </a:pPr>
            <a:r>
              <a:rPr lang="en-US" sz="950" dirty="0">
                <a:solidFill>
                  <a:srgbClr val="111111"/>
                </a:solidFill>
                <a:latin typeface="Helvetica Neue" pitchFamily="34" charset="0"/>
                <a:ea typeface="Helvetica Neue" pitchFamily="34" charset="-122"/>
                <a:cs typeface="Helvetica Neue" pitchFamily="34" charset="-120"/>
              </a:rPr>
              <a:t>GeneralMind</a:t>
            </a:r>
            <a:endParaRPr lang="en-US" sz="950" dirty="0"/>
          </a:p>
          <a:p>
            <a:pPr indent="0" marL="0">
              <a:lnSpc>
                <a:spcPct val="105000"/>
              </a:lnSpc>
              <a:buNone/>
            </a:pPr>
            <a:r>
              <a:rPr lang="en-US" sz="950" dirty="0">
                <a:solidFill>
                  <a:srgbClr val="111111"/>
                </a:solidFill>
                <a:latin typeface="Helvetica Neue" pitchFamily="34" charset="0"/>
                <a:ea typeface="Helvetica Neue" pitchFamily="34" charset="-122"/>
                <a:cs typeface="Helvetica Neue" pitchFamily="34" charset="-120"/>
              </a:rPr>
              <a:t>AI employee</a:t>
            </a:r>
            <a:endParaRPr lang="en-US" sz="950" dirty="0"/>
          </a:p>
        </p:txBody>
      </p:sp>
      <p:sp>
        <p:nvSpPr>
          <p:cNvPr id="147" name="Shape 127"/>
          <p:cNvSpPr/>
          <p:nvPr/>
        </p:nvSpPr>
        <p:spPr>
          <a:xfrm>
            <a:off x="7845552" y="3566160"/>
            <a:ext cx="365760" cy="365760"/>
          </a:xfrm>
          <a:prstGeom prst="ellipse">
            <a:avLst/>
          </a:prstGeom>
          <a:solidFill>
            <a:srgbClr val="FFFFFF"/>
          </a:solidFill>
          <a:ln w="12700">
            <a:solidFill>
              <a:srgbClr val="FFFFFF"/>
            </a:solidFill>
            <a:prstDash val="solid"/>
          </a:ln>
        </p:spPr>
      </p:sp>
      <p:pic>
        <p:nvPicPr>
          <p:cNvPr id="148" name="Image 17" descr="preencoded.png">    </p:cNvPr>
          <p:cNvPicPr>
            <a:picLocks noChangeAspect="1"/>
          </p:cNvPicPr>
          <p:nvPr/>
        </p:nvPicPr>
        <p:blipFill>
          <a:blip r:embed="rId18"/>
          <a:stretch>
            <a:fillRect/>
          </a:stretch>
        </p:blipFill>
        <p:spPr>
          <a:xfrm>
            <a:off x="7882128" y="3602736"/>
            <a:ext cx="292608" cy="292608"/>
          </a:xfrm>
          <a:prstGeom prst="rect">
            <a:avLst/>
          </a:prstGeom>
        </p:spPr>
      </p:pic>
      <p:sp>
        <p:nvSpPr>
          <p:cNvPr id="149" name="Text 128"/>
          <p:cNvSpPr txBox="1"/>
          <p:nvPr/>
        </p:nvSpPr>
        <p:spPr>
          <a:xfrm>
            <a:off x="7616952" y="3968496"/>
            <a:ext cx="822960" cy="365760"/>
          </a:xfrm>
          <a:prstGeom prst="rect">
            <a:avLst/>
          </a:prstGeom>
          <a:noFill/>
          <a:ln/>
        </p:spPr>
        <p:txBody>
          <a:bodyPr wrap="square" lIns="0" tIns="0" rIns="0" bIns="0" rtlCol="0" anchor="t"/>
          <a:lstStyle/>
          <a:p>
            <a:pPr algn="ctr" indent="0" marL="0">
              <a:lnSpc>
                <a:spcPct val="100000"/>
              </a:lnSpc>
              <a:buNone/>
            </a:pPr>
            <a:r>
              <a:rPr lang="en-US" sz="750" dirty="0">
                <a:solidFill>
                  <a:srgbClr val="FFFFFF"/>
                </a:solidFill>
                <a:latin typeface="Helvetica Neue" pitchFamily="34" charset="0"/>
                <a:ea typeface="Helvetica Neue" pitchFamily="34" charset="-122"/>
                <a:cs typeface="Helvetica Neue" pitchFamily="34" charset="-120"/>
              </a:rPr>
              <a:t>Human-in-</a:t>
            </a:r>
            <a:endParaRPr lang="en-US" sz="750" dirty="0"/>
          </a:p>
          <a:p>
            <a:pPr algn="ctr" indent="0" marL="0">
              <a:lnSpc>
                <a:spcPct val="100000"/>
              </a:lnSpc>
              <a:buNone/>
            </a:pPr>
            <a:r>
              <a:rPr lang="en-US" sz="750" dirty="0">
                <a:solidFill>
                  <a:srgbClr val="FFFFFF"/>
                </a:solidFill>
                <a:latin typeface="Helvetica Neue" pitchFamily="34" charset="0"/>
                <a:ea typeface="Helvetica Neue" pitchFamily="34" charset="-122"/>
                <a:cs typeface="Helvetica Neue" pitchFamily="34" charset="-120"/>
              </a:rPr>
              <a:t>the-loop</a:t>
            </a:r>
            <a:endParaRPr lang="en-US" sz="750" dirty="0"/>
          </a:p>
        </p:txBody>
      </p:sp>
      <p:sp>
        <p:nvSpPr>
          <p:cNvPr id="150" name="Shape 129"/>
          <p:cNvSpPr/>
          <p:nvPr/>
        </p:nvSpPr>
        <p:spPr>
          <a:xfrm>
            <a:off x="10360152" y="3593592"/>
            <a:ext cx="1143000" cy="329184"/>
          </a:xfrm>
          <a:prstGeom prst="roundRect">
            <a:avLst>
              <a:gd name="adj" fmla="val 50000"/>
            </a:avLst>
          </a:prstGeom>
          <a:solidFill>
            <a:srgbClr val="FFFFFF"/>
          </a:solidFill>
          <a:ln w="12700">
            <a:solidFill>
              <a:srgbClr val="FFFFFF"/>
            </a:solidFill>
            <a:prstDash val="solid"/>
          </a:ln>
        </p:spPr>
      </p:sp>
      <p:sp>
        <p:nvSpPr>
          <p:cNvPr id="151" name="Text 130"/>
          <p:cNvSpPr txBox="1"/>
          <p:nvPr/>
        </p:nvSpPr>
        <p:spPr>
          <a:xfrm>
            <a:off x="10469880" y="3602736"/>
            <a:ext cx="640080" cy="310896"/>
          </a:xfrm>
          <a:prstGeom prst="rect">
            <a:avLst/>
          </a:prstGeom>
          <a:noFill/>
          <a:ln/>
        </p:spPr>
        <p:txBody>
          <a:bodyPr wrap="square" lIns="0" tIns="0" rIns="0" bIns="0" rtlCol="0" anchor="ctr"/>
          <a:lstStyle/>
          <a:p>
            <a:pPr indent="0" marL="0">
              <a:buNone/>
            </a:pPr>
            <a:r>
              <a:rPr lang="en-US" sz="850" dirty="0">
                <a:solidFill>
                  <a:srgbClr val="111111"/>
                </a:solidFill>
                <a:latin typeface="Helvetica Neue" pitchFamily="34" charset="0"/>
                <a:ea typeface="Helvetica Neue" pitchFamily="34" charset="-122"/>
                <a:cs typeface="Helvetica Neue" pitchFamily="34" charset="-120"/>
              </a:rPr>
              <a:t>Autopilot</a:t>
            </a:r>
            <a:endParaRPr lang="en-US" sz="850" dirty="0"/>
          </a:p>
        </p:txBody>
      </p:sp>
      <p:sp>
        <p:nvSpPr>
          <p:cNvPr id="152" name="Shape 131"/>
          <p:cNvSpPr/>
          <p:nvPr/>
        </p:nvSpPr>
        <p:spPr>
          <a:xfrm>
            <a:off x="11091672" y="3675888"/>
            <a:ext cx="329184" cy="164592"/>
          </a:xfrm>
          <a:prstGeom prst="roundRect">
            <a:avLst>
              <a:gd name="adj" fmla="val 50000"/>
            </a:avLst>
          </a:prstGeom>
          <a:solidFill>
            <a:srgbClr val="22C55E"/>
          </a:solidFill>
          <a:ln w="12700">
            <a:solidFill>
              <a:srgbClr val="22C55E"/>
            </a:solidFill>
            <a:prstDash val="solid"/>
          </a:ln>
        </p:spPr>
      </p:sp>
      <p:sp>
        <p:nvSpPr>
          <p:cNvPr id="153" name="Shape 132"/>
          <p:cNvSpPr/>
          <p:nvPr/>
        </p:nvSpPr>
        <p:spPr>
          <a:xfrm>
            <a:off x="11265408" y="3689604"/>
            <a:ext cx="137160" cy="137160"/>
          </a:xfrm>
          <a:prstGeom prst="ellipse">
            <a:avLst/>
          </a:prstGeom>
          <a:solidFill>
            <a:srgbClr val="FFFFFF"/>
          </a:solidFill>
          <a:ln w="12700">
            <a:solidFill>
              <a:srgbClr val="FFFFFF"/>
            </a:solidFill>
            <a:prstDash val="solid"/>
          </a:ln>
        </p:spPr>
      </p:sp>
      <p:sp>
        <p:nvSpPr>
          <p:cNvPr id="154" name="Text 133"/>
          <p:cNvSpPr txBox="1"/>
          <p:nvPr/>
        </p:nvSpPr>
        <p:spPr>
          <a:xfrm>
            <a:off x="10268712" y="3968496"/>
            <a:ext cx="1325880" cy="274320"/>
          </a:xfrm>
          <a:prstGeom prst="rect">
            <a:avLst/>
          </a:prstGeom>
          <a:noFill/>
          <a:ln/>
        </p:spPr>
        <p:txBody>
          <a:bodyPr wrap="square" lIns="0" tIns="0" rIns="0" bIns="0" rtlCol="0" anchor="t"/>
          <a:lstStyle/>
          <a:p>
            <a:pPr algn="ctr" indent="0" marL="0">
              <a:buNone/>
            </a:pPr>
            <a:r>
              <a:rPr lang="en-US" sz="750" dirty="0">
                <a:solidFill>
                  <a:srgbClr val="FFFFFF"/>
                </a:solidFill>
                <a:latin typeface="Helvetica Neue" pitchFamily="34" charset="0"/>
                <a:ea typeface="Helvetica Neue" pitchFamily="34" charset="-122"/>
                <a:cs typeface="Helvetica Neue" pitchFamily="34" charset="-120"/>
              </a:rPr>
              <a:t>Confidence-gated</a:t>
            </a:r>
            <a:endParaRPr lang="en-US" sz="750" dirty="0"/>
          </a:p>
        </p:txBody>
      </p:sp>
      <p:sp>
        <p:nvSpPr>
          <p:cNvPr id="155" name="Text 134"/>
          <p:cNvSpPr txBox="1"/>
          <p:nvPr/>
        </p:nvSpPr>
        <p:spPr>
          <a:xfrm>
            <a:off x="6428232" y="5760720"/>
            <a:ext cx="5074920" cy="365760"/>
          </a:xfrm>
          <a:prstGeom prst="rect">
            <a:avLst/>
          </a:prstGeom>
          <a:noFill/>
          <a:ln/>
        </p:spPr>
        <p:txBody>
          <a:bodyPr wrap="square" lIns="0" tIns="0" rIns="0" bIns="0" rtlCol="0" anchor="t"/>
          <a:lstStyle/>
          <a:p>
            <a:pPr indent="0" marL="0">
              <a:buNone/>
            </a:pPr>
            <a:r>
              <a:rPr lang="en-US" sz="850" dirty="0">
                <a:solidFill>
                  <a:srgbClr val="4C4C4C"/>
                </a:solidFill>
                <a:latin typeface="Helvetica Neue" pitchFamily="34" charset="0"/>
                <a:ea typeface="Helvetica Neue" pitchFamily="34" charset="-122"/>
                <a:cs typeface="Helvetica Neue" pitchFamily="34" charset="-120"/>
              </a:rPr>
              <a:t>One execution layer reads the inbound, decides, writes to the system of record. People review by exception; Autopilot takes the confident cases.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Under the hood: a reusable platform, and more of it is "decide" than "write"</a:t>
            </a:r>
            <a:endParaRPr lang="en-US" sz="2700" dirty="0"/>
          </a:p>
        </p:txBody>
      </p:sp>
      <p:sp>
        <p:nvSpPr>
          <p:cNvPr id="3" name="Text 1"/>
          <p:cNvSpPr txBox="1"/>
          <p:nvPr/>
        </p:nvSpPr>
        <p:spPr>
          <a:xfrm>
            <a:off x="502920" y="1353312"/>
            <a:ext cx="11185855" cy="365760"/>
          </a:xfrm>
          <a:prstGeom prst="rect">
            <a:avLst/>
          </a:prstGeom>
          <a:noFill/>
          <a:ln/>
        </p:spPr>
        <p:txBody>
          <a:bodyPr wrap="square" lIns="0" tIns="0" rIns="0" bIns="0" rtlCol="0" anchor="t"/>
          <a:lstStyle/>
          <a:p>
            <a:pPr indent="0" marL="0">
              <a:buNone/>
            </a:pPr>
            <a:r>
              <a:rPr lang="en-US" sz="1500" dirty="0">
                <a:solidFill>
                  <a:srgbClr val="B5B5B5"/>
                </a:solidFill>
                <a:latin typeface="Helvetica Neue" pitchFamily="34" charset="0"/>
                <a:ea typeface="Helvetica Neue" pitchFamily="34" charset="-122"/>
                <a:cs typeface="Helvetica Neue" pitchFamily="34" charset="-120"/>
              </a:rPr>
              <a:t>Components marked with a tag are decision points today served by LLM calls</a:t>
            </a:r>
            <a:endParaRPr lang="en-US" sz="1500" dirty="0"/>
          </a:p>
        </p:txBody>
      </p:sp>
      <p:sp>
        <p:nvSpPr>
          <p:cNvPr id="4"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WHO WE ARE · PLATFORM</a:t>
            </a:r>
            <a:endParaRPr lang="en-US" sz="900" dirty="0"/>
          </a:p>
        </p:txBody>
      </p:sp>
      <p:sp>
        <p:nvSpPr>
          <p:cNvPr id="5" name="Text 3"/>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03</a:t>
            </a:r>
            <a:endParaRPr lang="en-US" sz="900" dirty="0"/>
          </a:p>
        </p:txBody>
      </p:sp>
      <p:sp>
        <p:nvSpPr>
          <p:cNvPr id="7" name="Shape 4"/>
          <p:cNvSpPr/>
          <p:nvPr/>
        </p:nvSpPr>
        <p:spPr>
          <a:xfrm>
            <a:off x="502920" y="1783080"/>
            <a:ext cx="3611880" cy="1325880"/>
          </a:xfrm>
          <a:prstGeom prst="roundRect">
            <a:avLst>
              <a:gd name="adj" fmla="val 5517"/>
            </a:avLst>
          </a:prstGeom>
          <a:solidFill>
            <a:srgbClr val="FFFFFF"/>
          </a:solidFill>
          <a:ln w="9525">
            <a:solidFill>
              <a:srgbClr val="111111"/>
            </a:solidFill>
            <a:prstDash val="solid"/>
          </a:ln>
        </p:spPr>
      </p:sp>
      <p:pic>
        <p:nvPicPr>
          <p:cNvPr id="8" name="Image 0" descr="preencoded.png">    </p:cNvPr>
          <p:cNvPicPr>
            <a:picLocks noChangeAspect="1"/>
          </p:cNvPicPr>
          <p:nvPr/>
        </p:nvPicPr>
        <p:blipFill>
          <a:blip r:embed="rId1"/>
          <a:stretch>
            <a:fillRect/>
          </a:stretch>
        </p:blipFill>
        <p:spPr>
          <a:xfrm>
            <a:off x="685800" y="1984248"/>
            <a:ext cx="274320" cy="274320"/>
          </a:xfrm>
          <a:prstGeom prst="rect">
            <a:avLst/>
          </a:prstGeom>
        </p:spPr>
      </p:pic>
      <p:sp>
        <p:nvSpPr>
          <p:cNvPr id="9" name="Text 5"/>
          <p:cNvSpPr txBox="1"/>
          <p:nvPr/>
        </p:nvSpPr>
        <p:spPr>
          <a:xfrm>
            <a:off x="1069848" y="1965960"/>
            <a:ext cx="187452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InboxIQ &amp; categoriser</a:t>
            </a:r>
            <a:endParaRPr lang="en-US" sz="1250" dirty="0"/>
          </a:p>
        </p:txBody>
      </p:sp>
      <p:sp>
        <p:nvSpPr>
          <p:cNvPr id="10" name="Text 6"/>
          <p:cNvSpPr txBox="1"/>
          <p:nvPr/>
        </p:nvSpPr>
        <p:spPr>
          <a:xfrm>
            <a:off x="1069848" y="2286000"/>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Intent classification on sender, tone, document type</a:t>
            </a:r>
            <a:endParaRPr lang="en-US" sz="1000" dirty="0"/>
          </a:p>
        </p:txBody>
      </p:sp>
      <p:sp>
        <p:nvSpPr>
          <p:cNvPr id="11" name="Shape 7"/>
          <p:cNvSpPr/>
          <p:nvPr/>
        </p:nvSpPr>
        <p:spPr>
          <a:xfrm>
            <a:off x="3063240" y="1965960"/>
            <a:ext cx="868680" cy="237744"/>
          </a:xfrm>
          <a:prstGeom prst="roundRect">
            <a:avLst>
              <a:gd name="adj" fmla="val 50000"/>
            </a:avLst>
          </a:prstGeom>
          <a:solidFill>
            <a:srgbClr val="111111"/>
          </a:solidFill>
          <a:ln w="6350">
            <a:solidFill>
              <a:srgbClr val="111111"/>
            </a:solidFill>
            <a:prstDash val="solid"/>
          </a:ln>
        </p:spPr>
      </p:sp>
      <p:sp>
        <p:nvSpPr>
          <p:cNvPr id="12" name="Text 8"/>
          <p:cNvSpPr txBox="1"/>
          <p:nvPr/>
        </p:nvSpPr>
        <p:spPr>
          <a:xfrm>
            <a:off x="3063240" y="1970532"/>
            <a:ext cx="868680"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decision</a:t>
            </a:r>
            <a:endParaRPr lang="en-US" sz="850" dirty="0"/>
          </a:p>
        </p:txBody>
      </p:sp>
      <p:sp>
        <p:nvSpPr>
          <p:cNvPr id="13" name="Shape 9"/>
          <p:cNvSpPr/>
          <p:nvPr/>
        </p:nvSpPr>
        <p:spPr>
          <a:xfrm>
            <a:off x="4279392" y="1783080"/>
            <a:ext cx="3611880" cy="1325880"/>
          </a:xfrm>
          <a:prstGeom prst="roundRect">
            <a:avLst>
              <a:gd name="adj" fmla="val 5517"/>
            </a:avLst>
          </a:prstGeom>
          <a:solidFill>
            <a:srgbClr val="FFFFFF"/>
          </a:solidFill>
          <a:ln w="6350">
            <a:solidFill>
              <a:srgbClr val="CBD5DA"/>
            </a:solidFill>
            <a:prstDash val="solid"/>
          </a:ln>
        </p:spPr>
      </p:sp>
      <p:pic>
        <p:nvPicPr>
          <p:cNvPr id="14" name="Image 1" descr="preencoded.png">    </p:cNvPr>
          <p:cNvPicPr>
            <a:picLocks noChangeAspect="1"/>
          </p:cNvPicPr>
          <p:nvPr/>
        </p:nvPicPr>
        <p:blipFill>
          <a:blip r:embed="rId2"/>
          <a:stretch>
            <a:fillRect/>
          </a:stretch>
        </p:blipFill>
        <p:spPr>
          <a:xfrm>
            <a:off x="4462272" y="1984248"/>
            <a:ext cx="274320" cy="274320"/>
          </a:xfrm>
          <a:prstGeom prst="rect">
            <a:avLst/>
          </a:prstGeom>
        </p:spPr>
      </p:pic>
      <p:sp>
        <p:nvSpPr>
          <p:cNvPr id="15" name="Text 10"/>
          <p:cNvSpPr txBox="1"/>
          <p:nvPr/>
        </p:nvSpPr>
        <p:spPr>
          <a:xfrm>
            <a:off x="4846320" y="1965960"/>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VLM extraction &amp; parsing</a:t>
            </a:r>
            <a:endParaRPr lang="en-US" sz="1250" dirty="0"/>
          </a:p>
        </p:txBody>
      </p:sp>
      <p:sp>
        <p:nvSpPr>
          <p:cNvPr id="16" name="Text 11"/>
          <p:cNvSpPr txBox="1"/>
          <p:nvPr/>
        </p:nvSpPr>
        <p:spPr>
          <a:xfrm>
            <a:off x="4846320" y="2286000"/>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Pull structured data out of emails, PDFs, scans</a:t>
            </a:r>
            <a:endParaRPr lang="en-US" sz="1000" dirty="0"/>
          </a:p>
        </p:txBody>
      </p:sp>
      <p:sp>
        <p:nvSpPr>
          <p:cNvPr id="17" name="Shape 12"/>
          <p:cNvSpPr/>
          <p:nvPr/>
        </p:nvSpPr>
        <p:spPr>
          <a:xfrm>
            <a:off x="8055864" y="1783080"/>
            <a:ext cx="3611880" cy="1325880"/>
          </a:xfrm>
          <a:prstGeom prst="roundRect">
            <a:avLst>
              <a:gd name="adj" fmla="val 5517"/>
            </a:avLst>
          </a:prstGeom>
          <a:solidFill>
            <a:srgbClr val="FFFFFF"/>
          </a:solidFill>
          <a:ln w="6350">
            <a:solidFill>
              <a:srgbClr val="CBD5DA"/>
            </a:solidFill>
            <a:prstDash val="solid"/>
          </a:ln>
        </p:spPr>
      </p:sp>
      <p:pic>
        <p:nvPicPr>
          <p:cNvPr id="18" name="Image 2" descr="preencoded.png">    </p:cNvPr>
          <p:cNvPicPr>
            <a:picLocks noChangeAspect="1"/>
          </p:cNvPicPr>
          <p:nvPr/>
        </p:nvPicPr>
        <p:blipFill>
          <a:blip r:embed="rId3"/>
          <a:stretch>
            <a:fillRect/>
          </a:stretch>
        </p:blipFill>
        <p:spPr>
          <a:xfrm>
            <a:off x="8238744" y="1984248"/>
            <a:ext cx="274320" cy="274320"/>
          </a:xfrm>
          <a:prstGeom prst="rect">
            <a:avLst/>
          </a:prstGeom>
        </p:spPr>
      </p:pic>
      <p:sp>
        <p:nvSpPr>
          <p:cNvPr id="19" name="Text 13"/>
          <p:cNvSpPr txBox="1"/>
          <p:nvPr/>
        </p:nvSpPr>
        <p:spPr>
          <a:xfrm>
            <a:off x="8622792" y="1965960"/>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RAG &amp; fuzzy match</a:t>
            </a:r>
            <a:endParaRPr lang="en-US" sz="1250" dirty="0"/>
          </a:p>
        </p:txBody>
      </p:sp>
      <p:sp>
        <p:nvSpPr>
          <p:cNvPr id="20" name="Text 14"/>
          <p:cNvSpPr txBox="1"/>
          <p:nvPr/>
        </p:nvSpPr>
        <p:spPr>
          <a:xfrm>
            <a:off x="8622792" y="2286000"/>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Retrieve customer, item and supplier records across markets</a:t>
            </a:r>
            <a:endParaRPr lang="en-US" sz="1000" dirty="0"/>
          </a:p>
        </p:txBody>
      </p:sp>
      <p:sp>
        <p:nvSpPr>
          <p:cNvPr id="21" name="Shape 15"/>
          <p:cNvSpPr/>
          <p:nvPr/>
        </p:nvSpPr>
        <p:spPr>
          <a:xfrm>
            <a:off x="502920" y="3273552"/>
            <a:ext cx="3611880" cy="1325880"/>
          </a:xfrm>
          <a:prstGeom prst="roundRect">
            <a:avLst>
              <a:gd name="adj" fmla="val 5517"/>
            </a:avLst>
          </a:prstGeom>
          <a:solidFill>
            <a:srgbClr val="FFFFFF"/>
          </a:solidFill>
          <a:ln w="9525">
            <a:solidFill>
              <a:srgbClr val="111111"/>
            </a:solidFill>
            <a:prstDash val="solid"/>
          </a:ln>
        </p:spPr>
      </p:sp>
      <p:pic>
        <p:nvPicPr>
          <p:cNvPr id="22" name="Image 3" descr="preencoded.png">    </p:cNvPr>
          <p:cNvPicPr>
            <a:picLocks noChangeAspect="1"/>
          </p:cNvPicPr>
          <p:nvPr/>
        </p:nvPicPr>
        <p:blipFill>
          <a:blip r:embed="rId4"/>
          <a:stretch>
            <a:fillRect/>
          </a:stretch>
        </p:blipFill>
        <p:spPr>
          <a:xfrm>
            <a:off x="685800" y="3474720"/>
            <a:ext cx="274320" cy="274320"/>
          </a:xfrm>
          <a:prstGeom prst="rect">
            <a:avLst/>
          </a:prstGeom>
        </p:spPr>
      </p:pic>
      <p:sp>
        <p:nvSpPr>
          <p:cNvPr id="23" name="Text 16"/>
          <p:cNvSpPr txBox="1"/>
          <p:nvPr/>
        </p:nvSpPr>
        <p:spPr>
          <a:xfrm>
            <a:off x="1069848" y="3456432"/>
            <a:ext cx="187452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Confidence score</a:t>
            </a:r>
            <a:endParaRPr lang="en-US" sz="1250" dirty="0"/>
          </a:p>
        </p:txBody>
      </p:sp>
      <p:sp>
        <p:nvSpPr>
          <p:cNvPr id="24" name="Text 17"/>
          <p:cNvSpPr txBox="1"/>
          <p:nvPr/>
        </p:nvSpPr>
        <p:spPr>
          <a:xfrm>
            <a:off x="1069848" y="3776472"/>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Context-adjusted certainty behind every action</a:t>
            </a:r>
            <a:endParaRPr lang="en-US" sz="1000" dirty="0"/>
          </a:p>
        </p:txBody>
      </p:sp>
      <p:sp>
        <p:nvSpPr>
          <p:cNvPr id="25" name="Shape 18"/>
          <p:cNvSpPr/>
          <p:nvPr/>
        </p:nvSpPr>
        <p:spPr>
          <a:xfrm>
            <a:off x="3063240" y="3456432"/>
            <a:ext cx="868680" cy="237744"/>
          </a:xfrm>
          <a:prstGeom prst="roundRect">
            <a:avLst>
              <a:gd name="adj" fmla="val 50000"/>
            </a:avLst>
          </a:prstGeom>
          <a:solidFill>
            <a:srgbClr val="111111"/>
          </a:solidFill>
          <a:ln w="6350">
            <a:solidFill>
              <a:srgbClr val="111111"/>
            </a:solidFill>
            <a:prstDash val="solid"/>
          </a:ln>
        </p:spPr>
      </p:sp>
      <p:sp>
        <p:nvSpPr>
          <p:cNvPr id="26" name="Text 19"/>
          <p:cNvSpPr txBox="1"/>
          <p:nvPr/>
        </p:nvSpPr>
        <p:spPr>
          <a:xfrm>
            <a:off x="3063240" y="3461004"/>
            <a:ext cx="868680"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decision</a:t>
            </a:r>
            <a:endParaRPr lang="en-US" sz="850" dirty="0"/>
          </a:p>
        </p:txBody>
      </p:sp>
      <p:sp>
        <p:nvSpPr>
          <p:cNvPr id="27" name="Shape 20"/>
          <p:cNvSpPr/>
          <p:nvPr/>
        </p:nvSpPr>
        <p:spPr>
          <a:xfrm>
            <a:off x="4279392" y="3273552"/>
            <a:ext cx="3611880" cy="1325880"/>
          </a:xfrm>
          <a:prstGeom prst="roundRect">
            <a:avLst>
              <a:gd name="adj" fmla="val 5517"/>
            </a:avLst>
          </a:prstGeom>
          <a:solidFill>
            <a:srgbClr val="FFFFFF"/>
          </a:solidFill>
          <a:ln w="6350">
            <a:solidFill>
              <a:srgbClr val="CBD5DA"/>
            </a:solidFill>
            <a:prstDash val="solid"/>
          </a:ln>
        </p:spPr>
      </p:sp>
      <p:pic>
        <p:nvPicPr>
          <p:cNvPr id="28" name="Image 4" descr="preencoded.png">    </p:cNvPr>
          <p:cNvPicPr>
            <a:picLocks noChangeAspect="1"/>
          </p:cNvPicPr>
          <p:nvPr/>
        </p:nvPicPr>
        <p:blipFill>
          <a:blip r:embed="rId5"/>
          <a:stretch>
            <a:fillRect/>
          </a:stretch>
        </p:blipFill>
        <p:spPr>
          <a:xfrm>
            <a:off x="4462272" y="3474720"/>
            <a:ext cx="274320" cy="274320"/>
          </a:xfrm>
          <a:prstGeom prst="rect">
            <a:avLst/>
          </a:prstGeom>
        </p:spPr>
      </p:pic>
      <p:sp>
        <p:nvSpPr>
          <p:cNvPr id="29" name="Text 21"/>
          <p:cNvSpPr txBox="1"/>
          <p:nvPr/>
        </p:nvSpPr>
        <p:spPr>
          <a:xfrm>
            <a:off x="4846320" y="3456432"/>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Context engine</a:t>
            </a:r>
            <a:endParaRPr lang="en-US" sz="1250" dirty="0"/>
          </a:p>
        </p:txBody>
      </p:sp>
      <p:sp>
        <p:nvSpPr>
          <p:cNvPr id="30" name="Text 22"/>
          <p:cNvSpPr txBox="1"/>
          <p:nvPr/>
        </p:nvSpPr>
        <p:spPr>
          <a:xfrm>
            <a:off x="4846320" y="3776472"/>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Customer rules, history, operator knowledge</a:t>
            </a:r>
            <a:endParaRPr lang="en-US" sz="1000" dirty="0"/>
          </a:p>
        </p:txBody>
      </p:sp>
      <p:sp>
        <p:nvSpPr>
          <p:cNvPr id="31" name="Shape 23"/>
          <p:cNvSpPr/>
          <p:nvPr/>
        </p:nvSpPr>
        <p:spPr>
          <a:xfrm>
            <a:off x="8055864" y="3273552"/>
            <a:ext cx="3611880" cy="1325880"/>
          </a:xfrm>
          <a:prstGeom prst="roundRect">
            <a:avLst>
              <a:gd name="adj" fmla="val 5517"/>
            </a:avLst>
          </a:prstGeom>
          <a:solidFill>
            <a:srgbClr val="FFFFFF"/>
          </a:solidFill>
          <a:ln w="9525">
            <a:solidFill>
              <a:srgbClr val="111111"/>
            </a:solidFill>
            <a:prstDash val="solid"/>
          </a:ln>
        </p:spPr>
      </p:sp>
      <p:pic>
        <p:nvPicPr>
          <p:cNvPr id="32" name="Image 5" descr="preencoded.png">    </p:cNvPr>
          <p:cNvPicPr>
            <a:picLocks noChangeAspect="1"/>
          </p:cNvPicPr>
          <p:nvPr/>
        </p:nvPicPr>
        <p:blipFill>
          <a:blip r:embed="rId6"/>
          <a:stretch>
            <a:fillRect/>
          </a:stretch>
        </p:blipFill>
        <p:spPr>
          <a:xfrm>
            <a:off x="8238744" y="3474720"/>
            <a:ext cx="274320" cy="274320"/>
          </a:xfrm>
          <a:prstGeom prst="rect">
            <a:avLst/>
          </a:prstGeom>
        </p:spPr>
      </p:pic>
      <p:sp>
        <p:nvSpPr>
          <p:cNvPr id="33" name="Text 24"/>
          <p:cNvSpPr txBox="1"/>
          <p:nvPr/>
        </p:nvSpPr>
        <p:spPr>
          <a:xfrm>
            <a:off x="8622792" y="3456432"/>
            <a:ext cx="187452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Rule engine</a:t>
            </a:r>
            <a:endParaRPr lang="en-US" sz="1250" dirty="0"/>
          </a:p>
        </p:txBody>
      </p:sp>
      <p:sp>
        <p:nvSpPr>
          <p:cNvPr id="34" name="Text 25"/>
          <p:cNvSpPr txBox="1"/>
          <p:nvPr/>
        </p:nvSpPr>
        <p:spPr>
          <a:xfrm>
            <a:off x="8622792" y="3776472"/>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Escalation logic and downstream actions</a:t>
            </a:r>
            <a:endParaRPr lang="en-US" sz="1000" dirty="0"/>
          </a:p>
        </p:txBody>
      </p:sp>
      <p:sp>
        <p:nvSpPr>
          <p:cNvPr id="35" name="Shape 26"/>
          <p:cNvSpPr/>
          <p:nvPr/>
        </p:nvSpPr>
        <p:spPr>
          <a:xfrm>
            <a:off x="10616184" y="3456432"/>
            <a:ext cx="868680" cy="237744"/>
          </a:xfrm>
          <a:prstGeom prst="roundRect">
            <a:avLst>
              <a:gd name="adj" fmla="val 50000"/>
            </a:avLst>
          </a:prstGeom>
          <a:solidFill>
            <a:srgbClr val="111111"/>
          </a:solidFill>
          <a:ln w="6350">
            <a:solidFill>
              <a:srgbClr val="111111"/>
            </a:solidFill>
            <a:prstDash val="solid"/>
          </a:ln>
        </p:spPr>
      </p:sp>
      <p:sp>
        <p:nvSpPr>
          <p:cNvPr id="36" name="Text 27"/>
          <p:cNvSpPr txBox="1"/>
          <p:nvPr/>
        </p:nvSpPr>
        <p:spPr>
          <a:xfrm>
            <a:off x="10616184" y="3461004"/>
            <a:ext cx="868680"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decision</a:t>
            </a:r>
            <a:endParaRPr lang="en-US" sz="850" dirty="0"/>
          </a:p>
        </p:txBody>
      </p:sp>
      <p:sp>
        <p:nvSpPr>
          <p:cNvPr id="37" name="Shape 28"/>
          <p:cNvSpPr/>
          <p:nvPr/>
        </p:nvSpPr>
        <p:spPr>
          <a:xfrm>
            <a:off x="502920" y="4764024"/>
            <a:ext cx="3611880" cy="1325880"/>
          </a:xfrm>
          <a:prstGeom prst="roundRect">
            <a:avLst>
              <a:gd name="adj" fmla="val 5517"/>
            </a:avLst>
          </a:prstGeom>
          <a:solidFill>
            <a:srgbClr val="FFFFFF"/>
          </a:solidFill>
          <a:ln w="6350">
            <a:solidFill>
              <a:srgbClr val="CBD5DA"/>
            </a:solidFill>
            <a:prstDash val="solid"/>
          </a:ln>
        </p:spPr>
      </p:sp>
      <p:pic>
        <p:nvPicPr>
          <p:cNvPr id="38" name="Image 6" descr="preencoded.png">    </p:cNvPr>
          <p:cNvPicPr>
            <a:picLocks noChangeAspect="1"/>
          </p:cNvPicPr>
          <p:nvPr/>
        </p:nvPicPr>
        <p:blipFill>
          <a:blip r:embed="rId7"/>
          <a:stretch>
            <a:fillRect/>
          </a:stretch>
        </p:blipFill>
        <p:spPr>
          <a:xfrm>
            <a:off x="685800" y="4965192"/>
            <a:ext cx="274320" cy="274320"/>
          </a:xfrm>
          <a:prstGeom prst="rect">
            <a:avLst/>
          </a:prstGeom>
        </p:spPr>
      </p:pic>
      <p:sp>
        <p:nvSpPr>
          <p:cNvPr id="39" name="Text 29"/>
          <p:cNvSpPr txBox="1"/>
          <p:nvPr/>
        </p:nvSpPr>
        <p:spPr>
          <a:xfrm>
            <a:off x="1069848" y="4946904"/>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Autonomous comms</a:t>
            </a:r>
            <a:endParaRPr lang="en-US" sz="1250" dirty="0"/>
          </a:p>
        </p:txBody>
      </p:sp>
      <p:sp>
        <p:nvSpPr>
          <p:cNvPr id="40" name="Text 30"/>
          <p:cNvSpPr txBox="1"/>
          <p:nvPr/>
        </p:nvSpPr>
        <p:spPr>
          <a:xfrm>
            <a:off x="1069848" y="5266944"/>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Replies in local language, tone and shorthand</a:t>
            </a:r>
            <a:endParaRPr lang="en-US" sz="1000" dirty="0"/>
          </a:p>
        </p:txBody>
      </p:sp>
      <p:sp>
        <p:nvSpPr>
          <p:cNvPr id="41" name="Shape 31"/>
          <p:cNvSpPr/>
          <p:nvPr/>
        </p:nvSpPr>
        <p:spPr>
          <a:xfrm>
            <a:off x="4279392" y="4764024"/>
            <a:ext cx="3611880" cy="1325880"/>
          </a:xfrm>
          <a:prstGeom prst="roundRect">
            <a:avLst>
              <a:gd name="adj" fmla="val 5517"/>
            </a:avLst>
          </a:prstGeom>
          <a:solidFill>
            <a:srgbClr val="FFFFFF"/>
          </a:solidFill>
          <a:ln w="6350">
            <a:solidFill>
              <a:srgbClr val="CBD5DA"/>
            </a:solidFill>
            <a:prstDash val="solid"/>
          </a:ln>
        </p:spPr>
      </p:sp>
      <p:pic>
        <p:nvPicPr>
          <p:cNvPr id="42" name="Image 7" descr="preencoded.png">    </p:cNvPr>
          <p:cNvPicPr>
            <a:picLocks noChangeAspect="1"/>
          </p:cNvPicPr>
          <p:nvPr/>
        </p:nvPicPr>
        <p:blipFill>
          <a:blip r:embed="rId8"/>
          <a:stretch>
            <a:fillRect/>
          </a:stretch>
        </p:blipFill>
        <p:spPr>
          <a:xfrm>
            <a:off x="4462272" y="4965192"/>
            <a:ext cx="274320" cy="274320"/>
          </a:xfrm>
          <a:prstGeom prst="rect">
            <a:avLst/>
          </a:prstGeom>
        </p:spPr>
      </p:pic>
      <p:sp>
        <p:nvSpPr>
          <p:cNvPr id="43" name="Text 32"/>
          <p:cNvSpPr txBox="1"/>
          <p:nvPr/>
        </p:nvSpPr>
        <p:spPr>
          <a:xfrm>
            <a:off x="4846320" y="4946904"/>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ERP &amp; system integrations</a:t>
            </a:r>
            <a:endParaRPr lang="en-US" sz="1250" dirty="0"/>
          </a:p>
        </p:txBody>
      </p:sp>
      <p:sp>
        <p:nvSpPr>
          <p:cNvPr id="44" name="Text 33"/>
          <p:cNvSpPr txBox="1"/>
          <p:nvPr/>
        </p:nvSpPr>
        <p:spPr>
          <a:xfrm>
            <a:off x="4846320" y="5266944"/>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Validated read/write into the system of record</a:t>
            </a:r>
            <a:endParaRPr lang="en-US" sz="1000" dirty="0"/>
          </a:p>
        </p:txBody>
      </p:sp>
      <p:sp>
        <p:nvSpPr>
          <p:cNvPr id="45" name="Shape 34"/>
          <p:cNvSpPr/>
          <p:nvPr/>
        </p:nvSpPr>
        <p:spPr>
          <a:xfrm>
            <a:off x="8055864" y="4764024"/>
            <a:ext cx="3611880" cy="1325880"/>
          </a:xfrm>
          <a:prstGeom prst="roundRect">
            <a:avLst>
              <a:gd name="adj" fmla="val 5517"/>
            </a:avLst>
          </a:prstGeom>
          <a:solidFill>
            <a:srgbClr val="FFFFFF"/>
          </a:solidFill>
          <a:ln w="6350">
            <a:solidFill>
              <a:srgbClr val="CBD5DA"/>
            </a:solidFill>
            <a:prstDash val="solid"/>
          </a:ln>
        </p:spPr>
      </p:sp>
      <p:pic>
        <p:nvPicPr>
          <p:cNvPr id="46" name="Image 8" descr="preencoded.png">    </p:cNvPr>
          <p:cNvPicPr>
            <a:picLocks noChangeAspect="1"/>
          </p:cNvPicPr>
          <p:nvPr/>
        </p:nvPicPr>
        <p:blipFill>
          <a:blip r:embed="rId9"/>
          <a:stretch>
            <a:fillRect/>
          </a:stretch>
        </p:blipFill>
        <p:spPr>
          <a:xfrm>
            <a:off x="8238744" y="4965192"/>
            <a:ext cx="274320" cy="274320"/>
          </a:xfrm>
          <a:prstGeom prst="rect">
            <a:avLst/>
          </a:prstGeom>
        </p:spPr>
      </p:pic>
      <p:sp>
        <p:nvSpPr>
          <p:cNvPr id="47" name="Text 35"/>
          <p:cNvSpPr txBox="1"/>
          <p:nvPr/>
        </p:nvSpPr>
        <p:spPr>
          <a:xfrm>
            <a:off x="8622792" y="4946904"/>
            <a:ext cx="283464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Computer-use interfaces</a:t>
            </a:r>
            <a:endParaRPr lang="en-US" sz="1250" dirty="0"/>
          </a:p>
        </p:txBody>
      </p:sp>
      <p:sp>
        <p:nvSpPr>
          <p:cNvPr id="48" name="Text 36"/>
          <p:cNvSpPr txBox="1"/>
          <p:nvPr/>
        </p:nvSpPr>
        <p:spPr>
          <a:xfrm>
            <a:off x="8622792" y="5266944"/>
            <a:ext cx="2834640" cy="685800"/>
          </a:xfrm>
          <a:prstGeom prst="rect">
            <a:avLst/>
          </a:prstGeom>
          <a:noFill/>
          <a:ln/>
        </p:spPr>
        <p:txBody>
          <a:bodyPr wrap="square" lIns="0" tIns="0" rIns="0" bIns="0" rtlCol="0" anchor="t"/>
          <a:lstStyle/>
          <a:p>
            <a:pPr indent="0" marL="0">
              <a:lnSpc>
                <a:spcPct val="105000"/>
              </a:lnSpc>
              <a:buNone/>
            </a:pPr>
            <a:r>
              <a:rPr lang="en-US" sz="1000" dirty="0">
                <a:solidFill>
                  <a:srgbClr val="7A7A7A"/>
                </a:solidFill>
                <a:latin typeface="Helvetica Neue" pitchFamily="34" charset="0"/>
                <a:ea typeface="Helvetica Neue" pitchFamily="34" charset="-122"/>
                <a:cs typeface="Helvetica Neue" pitchFamily="34" charset="-120"/>
              </a:rPr>
              <a:t>Navigate ERP/WMS screens like an operator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37744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System One models</a:t>
            </a:r>
            <a:endParaRPr lang="en-US" sz="4800" dirty="0"/>
          </a:p>
        </p:txBody>
      </p:sp>
      <p:sp>
        <p:nvSpPr>
          <p:cNvPr id="5" name="Text 1"/>
          <p:cNvSpPr txBox="1"/>
          <p:nvPr/>
        </p:nvSpPr>
        <p:spPr>
          <a:xfrm>
            <a:off x="502920" y="329184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A model class that skips text generation and returns typed, calibrated decisions</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SECTION 01</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2026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Most of us wrap a text generator in JSON mode, retries and validators to get a classification</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SYSTEM ONE · THE IDEA</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05</a:t>
            </a:r>
            <a:endParaRPr lang="en-US" sz="900" dirty="0"/>
          </a:p>
        </p:txBody>
      </p:sp>
      <p:sp>
        <p:nvSpPr>
          <p:cNvPr id="6" name="Text 3"/>
          <p:cNvSpPr txBox="1"/>
          <p:nvPr/>
        </p:nvSpPr>
        <p:spPr>
          <a:xfrm>
            <a:off x="502920" y="1691640"/>
            <a:ext cx="365760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LLM as a classifier</a:t>
            </a:r>
            <a:endParaRPr lang="en-US" sz="1250" dirty="0"/>
          </a:p>
        </p:txBody>
      </p:sp>
      <p:sp>
        <p:nvSpPr>
          <p:cNvPr id="7" name="Shape 4"/>
          <p:cNvSpPr/>
          <p:nvPr/>
        </p:nvSpPr>
        <p:spPr>
          <a:xfrm>
            <a:off x="502920" y="2057400"/>
            <a:ext cx="1920240" cy="868680"/>
          </a:xfrm>
          <a:prstGeom prst="roundRect">
            <a:avLst>
              <a:gd name="adj" fmla="val 8421"/>
            </a:avLst>
          </a:prstGeom>
          <a:solidFill>
            <a:srgbClr val="FFFFFF"/>
          </a:solidFill>
          <a:ln w="6350">
            <a:solidFill>
              <a:srgbClr val="CBD5DA"/>
            </a:solidFill>
            <a:prstDash val="solid"/>
          </a:ln>
        </p:spPr>
      </p:sp>
      <p:sp>
        <p:nvSpPr>
          <p:cNvPr id="8" name="Text 5"/>
          <p:cNvSpPr txBox="1"/>
          <p:nvPr/>
        </p:nvSpPr>
        <p:spPr>
          <a:xfrm>
            <a:off x="640080" y="2103120"/>
            <a:ext cx="164592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Prompt + JSON schema</a:t>
            </a:r>
            <a:endParaRPr lang="en-US" sz="1050" dirty="0"/>
          </a:p>
        </p:txBody>
      </p:sp>
      <p:sp>
        <p:nvSpPr>
          <p:cNvPr id="9" name="Shape 6"/>
          <p:cNvSpPr/>
          <p:nvPr/>
        </p:nvSpPr>
        <p:spPr>
          <a:xfrm>
            <a:off x="2441448" y="2487168"/>
            <a:ext cx="329184" cy="0"/>
          </a:xfrm>
          <a:prstGeom prst="line">
            <a:avLst/>
          </a:prstGeom>
          <a:noFill/>
          <a:ln w="11430">
            <a:solidFill>
              <a:srgbClr val="C1C1C1"/>
            </a:solidFill>
            <a:prstDash val="solid"/>
            <a:tailEnd type="triangle"/>
          </a:ln>
        </p:spPr>
      </p:sp>
      <p:sp>
        <p:nvSpPr>
          <p:cNvPr id="10" name="Shape 7"/>
          <p:cNvSpPr/>
          <p:nvPr/>
        </p:nvSpPr>
        <p:spPr>
          <a:xfrm>
            <a:off x="2788920" y="2057400"/>
            <a:ext cx="1920240" cy="868680"/>
          </a:xfrm>
          <a:prstGeom prst="roundRect">
            <a:avLst>
              <a:gd name="adj" fmla="val 8421"/>
            </a:avLst>
          </a:prstGeom>
          <a:solidFill>
            <a:srgbClr val="FFFFFF"/>
          </a:solidFill>
          <a:ln w="6350">
            <a:solidFill>
              <a:srgbClr val="CBD5DA"/>
            </a:solidFill>
            <a:prstDash val="solid"/>
          </a:ln>
        </p:spPr>
      </p:sp>
      <p:sp>
        <p:nvSpPr>
          <p:cNvPr id="11" name="Text 8"/>
          <p:cNvSpPr txBox="1"/>
          <p:nvPr/>
        </p:nvSpPr>
        <p:spPr>
          <a:xfrm>
            <a:off x="2926080" y="2103120"/>
            <a:ext cx="164592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Generate tokens</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(autoregressive)</a:t>
            </a:r>
            <a:endParaRPr lang="en-US" sz="1050" dirty="0"/>
          </a:p>
        </p:txBody>
      </p:sp>
      <p:sp>
        <p:nvSpPr>
          <p:cNvPr id="12" name="Shape 9"/>
          <p:cNvSpPr/>
          <p:nvPr/>
        </p:nvSpPr>
        <p:spPr>
          <a:xfrm>
            <a:off x="4727448" y="2487168"/>
            <a:ext cx="329184" cy="0"/>
          </a:xfrm>
          <a:prstGeom prst="line">
            <a:avLst/>
          </a:prstGeom>
          <a:noFill/>
          <a:ln w="11430">
            <a:solidFill>
              <a:srgbClr val="C1C1C1"/>
            </a:solidFill>
            <a:prstDash val="solid"/>
            <a:tailEnd type="triangle"/>
          </a:ln>
        </p:spPr>
      </p:sp>
      <p:sp>
        <p:nvSpPr>
          <p:cNvPr id="13" name="Shape 10"/>
          <p:cNvSpPr/>
          <p:nvPr/>
        </p:nvSpPr>
        <p:spPr>
          <a:xfrm>
            <a:off x="5074920" y="2057400"/>
            <a:ext cx="1920240" cy="868680"/>
          </a:xfrm>
          <a:prstGeom prst="roundRect">
            <a:avLst>
              <a:gd name="adj" fmla="val 8421"/>
            </a:avLst>
          </a:prstGeom>
          <a:solidFill>
            <a:srgbClr val="FFFFFF"/>
          </a:solidFill>
          <a:ln w="6350">
            <a:solidFill>
              <a:srgbClr val="CBD5DA"/>
            </a:solidFill>
            <a:prstDash val="solid"/>
          </a:ln>
        </p:spPr>
      </p:sp>
      <p:sp>
        <p:nvSpPr>
          <p:cNvPr id="14" name="Text 11"/>
          <p:cNvSpPr txBox="1"/>
          <p:nvPr/>
        </p:nvSpPr>
        <p:spPr>
          <a:xfrm>
            <a:off x="5212080" y="2103120"/>
            <a:ext cx="164592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Parse JSON</a:t>
            </a:r>
            <a:endParaRPr lang="en-US" sz="1050" dirty="0"/>
          </a:p>
        </p:txBody>
      </p:sp>
      <p:sp>
        <p:nvSpPr>
          <p:cNvPr id="15" name="Shape 12"/>
          <p:cNvSpPr/>
          <p:nvPr/>
        </p:nvSpPr>
        <p:spPr>
          <a:xfrm>
            <a:off x="7013448" y="2487168"/>
            <a:ext cx="329184" cy="0"/>
          </a:xfrm>
          <a:prstGeom prst="line">
            <a:avLst/>
          </a:prstGeom>
          <a:noFill/>
          <a:ln w="11430">
            <a:solidFill>
              <a:srgbClr val="C1C1C1"/>
            </a:solidFill>
            <a:prstDash val="solid"/>
            <a:tailEnd type="triangle"/>
          </a:ln>
        </p:spPr>
      </p:sp>
      <p:sp>
        <p:nvSpPr>
          <p:cNvPr id="16" name="Shape 13"/>
          <p:cNvSpPr/>
          <p:nvPr/>
        </p:nvSpPr>
        <p:spPr>
          <a:xfrm>
            <a:off x="7360920" y="2057400"/>
            <a:ext cx="1920240" cy="868680"/>
          </a:xfrm>
          <a:prstGeom prst="roundRect">
            <a:avLst>
              <a:gd name="adj" fmla="val 8421"/>
            </a:avLst>
          </a:prstGeom>
          <a:solidFill>
            <a:srgbClr val="FFFFFF"/>
          </a:solidFill>
          <a:ln w="6350">
            <a:solidFill>
              <a:srgbClr val="CBD5DA"/>
            </a:solidFill>
            <a:prstDash val="solid"/>
          </a:ln>
        </p:spPr>
      </p:sp>
      <p:sp>
        <p:nvSpPr>
          <p:cNvPr id="17" name="Text 14"/>
          <p:cNvSpPr txBox="1"/>
          <p:nvPr/>
        </p:nvSpPr>
        <p:spPr>
          <a:xfrm>
            <a:off x="7498080" y="2103120"/>
            <a:ext cx="164592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Validate enum</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or retry</a:t>
            </a:r>
            <a:endParaRPr lang="en-US" sz="1050" dirty="0"/>
          </a:p>
        </p:txBody>
      </p:sp>
      <p:sp>
        <p:nvSpPr>
          <p:cNvPr id="18" name="Shape 15"/>
          <p:cNvSpPr/>
          <p:nvPr/>
        </p:nvSpPr>
        <p:spPr>
          <a:xfrm>
            <a:off x="9299448" y="2487168"/>
            <a:ext cx="329184" cy="0"/>
          </a:xfrm>
          <a:prstGeom prst="line">
            <a:avLst/>
          </a:prstGeom>
          <a:noFill/>
          <a:ln w="11430">
            <a:solidFill>
              <a:srgbClr val="C1C1C1"/>
            </a:solidFill>
            <a:prstDash val="solid"/>
            <a:tailEnd type="triangle"/>
          </a:ln>
        </p:spPr>
      </p:sp>
      <p:sp>
        <p:nvSpPr>
          <p:cNvPr id="19" name="Shape 16"/>
          <p:cNvSpPr/>
          <p:nvPr/>
        </p:nvSpPr>
        <p:spPr>
          <a:xfrm>
            <a:off x="9646920" y="2057400"/>
            <a:ext cx="1920240" cy="868680"/>
          </a:xfrm>
          <a:prstGeom prst="roundRect">
            <a:avLst>
              <a:gd name="adj" fmla="val 8421"/>
            </a:avLst>
          </a:prstGeom>
          <a:solidFill>
            <a:srgbClr val="FFFFFF"/>
          </a:solidFill>
          <a:ln w="6350">
            <a:solidFill>
              <a:srgbClr val="CBD5DA"/>
            </a:solidFill>
            <a:prstDash val="solid"/>
          </a:ln>
        </p:spPr>
      </p:sp>
      <p:sp>
        <p:nvSpPr>
          <p:cNvPr id="20" name="Text 17"/>
          <p:cNvSpPr txBox="1"/>
          <p:nvPr/>
        </p:nvSpPr>
        <p:spPr>
          <a:xfrm>
            <a:off x="9784080" y="2103120"/>
            <a:ext cx="164592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"Rate your</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confidence 0–1"</a:t>
            </a:r>
            <a:endParaRPr lang="en-US" sz="1050" dirty="0"/>
          </a:p>
        </p:txBody>
      </p:sp>
      <p:sp>
        <p:nvSpPr>
          <p:cNvPr id="21" name="Text 18"/>
          <p:cNvSpPr txBox="1"/>
          <p:nvPr/>
        </p:nvSpPr>
        <p:spPr>
          <a:xfrm>
            <a:off x="502920" y="3017520"/>
            <a:ext cx="11155680" cy="274320"/>
          </a:xfrm>
          <a:prstGeom prst="rect">
            <a:avLst/>
          </a:prstGeom>
          <a:noFill/>
          <a:ln/>
        </p:spPr>
        <p:txBody>
          <a:bodyPr wrap="square" lIns="0" tIns="0" rIns="0" bIns="0" rtlCol="0" anchor="t"/>
          <a:lstStyle/>
          <a:p>
            <a:pPr indent="0" marL="0">
              <a:buNone/>
            </a:pPr>
            <a:r>
              <a:rPr lang="en-US" sz="1000" dirty="0">
                <a:solidFill>
                  <a:srgbClr val="7A7A7A"/>
                </a:solidFill>
                <a:latin typeface="Helvetica Neue" pitchFamily="34" charset="0"/>
                <a:ea typeface="Helvetica Neue" pitchFamily="34" charset="-122"/>
                <a:cs typeface="Helvetica Neue" pitchFamily="34" charset="-120"/>
              </a:rPr>
              <a:t>Seconds of latency · output tokens cost 5x input · schema violations are possible · the "confidence" is generated text, not a probability</a:t>
            </a:r>
            <a:endParaRPr lang="en-US" sz="1000" dirty="0"/>
          </a:p>
        </p:txBody>
      </p:sp>
      <p:sp>
        <p:nvSpPr>
          <p:cNvPr id="22" name="Text 19"/>
          <p:cNvSpPr txBox="1"/>
          <p:nvPr/>
        </p:nvSpPr>
        <p:spPr>
          <a:xfrm>
            <a:off x="502920" y="3703320"/>
            <a:ext cx="365760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System One model</a:t>
            </a:r>
            <a:endParaRPr lang="en-US" sz="1250" dirty="0"/>
          </a:p>
        </p:txBody>
      </p:sp>
      <p:sp>
        <p:nvSpPr>
          <p:cNvPr id="23" name="Shape 20"/>
          <p:cNvSpPr/>
          <p:nvPr/>
        </p:nvSpPr>
        <p:spPr>
          <a:xfrm>
            <a:off x="502920" y="4069080"/>
            <a:ext cx="2468880" cy="868680"/>
          </a:xfrm>
          <a:prstGeom prst="roundRect">
            <a:avLst>
              <a:gd name="adj" fmla="val 8421"/>
            </a:avLst>
          </a:prstGeom>
          <a:solidFill>
            <a:srgbClr val="FFFFFF"/>
          </a:solidFill>
          <a:ln w="9525">
            <a:solidFill>
              <a:srgbClr val="111111"/>
            </a:solidFill>
            <a:prstDash val="solid"/>
          </a:ln>
        </p:spPr>
      </p:sp>
      <p:sp>
        <p:nvSpPr>
          <p:cNvPr id="24" name="Text 21"/>
          <p:cNvSpPr txBox="1"/>
          <p:nvPr/>
        </p:nvSpPr>
        <p:spPr>
          <a:xfrm>
            <a:off x="640080" y="4114800"/>
            <a:ext cx="219456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State</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(text, JSON, arrays)</a:t>
            </a:r>
            <a:endParaRPr lang="en-US" sz="1050" dirty="0"/>
          </a:p>
        </p:txBody>
      </p:sp>
      <p:sp>
        <p:nvSpPr>
          <p:cNvPr id="25" name="Shape 22"/>
          <p:cNvSpPr/>
          <p:nvPr/>
        </p:nvSpPr>
        <p:spPr>
          <a:xfrm>
            <a:off x="2990088" y="4498848"/>
            <a:ext cx="329184" cy="0"/>
          </a:xfrm>
          <a:prstGeom prst="line">
            <a:avLst/>
          </a:prstGeom>
          <a:noFill/>
          <a:ln w="11430">
            <a:solidFill>
              <a:srgbClr val="111111"/>
            </a:solidFill>
            <a:prstDash val="solid"/>
            <a:tailEnd type="triangle"/>
          </a:ln>
        </p:spPr>
      </p:sp>
      <p:sp>
        <p:nvSpPr>
          <p:cNvPr id="26" name="Shape 23"/>
          <p:cNvSpPr/>
          <p:nvPr/>
        </p:nvSpPr>
        <p:spPr>
          <a:xfrm>
            <a:off x="3337560" y="4069080"/>
            <a:ext cx="2468880" cy="868680"/>
          </a:xfrm>
          <a:prstGeom prst="roundRect">
            <a:avLst>
              <a:gd name="adj" fmla="val 8421"/>
            </a:avLst>
          </a:prstGeom>
          <a:solidFill>
            <a:srgbClr val="FFFFFF"/>
          </a:solidFill>
          <a:ln w="9525">
            <a:solidFill>
              <a:srgbClr val="111111"/>
            </a:solidFill>
            <a:prstDash val="solid"/>
          </a:ln>
        </p:spPr>
      </p:sp>
      <p:sp>
        <p:nvSpPr>
          <p:cNvPr id="27" name="Text 24"/>
          <p:cNvSpPr txBox="1"/>
          <p:nvPr/>
        </p:nvSpPr>
        <p:spPr>
          <a:xfrm>
            <a:off x="3474720" y="4114800"/>
            <a:ext cx="219456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Typed questions</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(choice / score / noul)</a:t>
            </a:r>
            <a:endParaRPr lang="en-US" sz="1050" dirty="0"/>
          </a:p>
        </p:txBody>
      </p:sp>
      <p:sp>
        <p:nvSpPr>
          <p:cNvPr id="28" name="Shape 25"/>
          <p:cNvSpPr/>
          <p:nvPr/>
        </p:nvSpPr>
        <p:spPr>
          <a:xfrm>
            <a:off x="5824728" y="4498848"/>
            <a:ext cx="329184" cy="0"/>
          </a:xfrm>
          <a:prstGeom prst="line">
            <a:avLst/>
          </a:prstGeom>
          <a:noFill/>
          <a:ln w="11430">
            <a:solidFill>
              <a:srgbClr val="111111"/>
            </a:solidFill>
            <a:prstDash val="solid"/>
            <a:tailEnd type="triangle"/>
          </a:ln>
        </p:spPr>
      </p:sp>
      <p:sp>
        <p:nvSpPr>
          <p:cNvPr id="29" name="Shape 26"/>
          <p:cNvSpPr/>
          <p:nvPr/>
        </p:nvSpPr>
        <p:spPr>
          <a:xfrm>
            <a:off x="6172200" y="4069080"/>
            <a:ext cx="2468880" cy="868680"/>
          </a:xfrm>
          <a:prstGeom prst="roundRect">
            <a:avLst>
              <a:gd name="adj" fmla="val 8421"/>
            </a:avLst>
          </a:prstGeom>
          <a:solidFill>
            <a:srgbClr val="7B909B"/>
          </a:solidFill>
          <a:ln w="9525">
            <a:solidFill>
              <a:srgbClr val="7B909B"/>
            </a:solidFill>
            <a:prstDash val="solid"/>
          </a:ln>
        </p:spPr>
      </p:sp>
      <p:sp>
        <p:nvSpPr>
          <p:cNvPr id="30" name="Text 27"/>
          <p:cNvSpPr txBox="1"/>
          <p:nvPr/>
        </p:nvSpPr>
        <p:spPr>
          <a:xfrm>
            <a:off x="6309360" y="4114800"/>
            <a:ext cx="2194560" cy="777240"/>
          </a:xfrm>
          <a:prstGeom prst="rect">
            <a:avLst/>
          </a:prstGeom>
          <a:noFill/>
          <a:ln/>
        </p:spPr>
        <p:txBody>
          <a:bodyPr wrap="square" lIns="0" tIns="0" rIns="0" bIns="0" rtlCol="0" anchor="ctr"/>
          <a:lstStyle/>
          <a:p>
            <a:pPr algn="ctr" indent="0" marL="0">
              <a:buNone/>
            </a:pPr>
            <a:r>
              <a:rPr lang="en-US" sz="1050" dirty="0">
                <a:solidFill>
                  <a:srgbClr val="FFFFFF"/>
                </a:solidFill>
                <a:latin typeface="Helvetica Neue" pitchFamily="34" charset="0"/>
                <a:ea typeface="Helvetica Neue" pitchFamily="34" charset="-122"/>
                <a:cs typeface="Helvetica Neue" pitchFamily="34" charset="-120"/>
              </a:rPr>
              <a:t>One forward pass</a:t>
            </a:r>
            <a:endParaRPr lang="en-US" sz="1050" dirty="0"/>
          </a:p>
          <a:p>
            <a:pPr algn="ctr" indent="0" marL="0">
              <a:buNone/>
            </a:pPr>
            <a:r>
              <a:rPr lang="en-US" sz="1050" dirty="0">
                <a:solidFill>
                  <a:srgbClr val="FFFFFF"/>
                </a:solidFill>
                <a:latin typeface="Helvetica Neue" pitchFamily="34" charset="0"/>
                <a:ea typeface="Helvetica Neue" pitchFamily="34" charset="-122"/>
                <a:cs typeface="Helvetica Neue" pitchFamily="34" charset="-120"/>
              </a:rPr>
              <a:t>(non-autoregressive)</a:t>
            </a:r>
            <a:endParaRPr lang="en-US" sz="1050" dirty="0"/>
          </a:p>
        </p:txBody>
      </p:sp>
      <p:sp>
        <p:nvSpPr>
          <p:cNvPr id="31" name="Shape 28"/>
          <p:cNvSpPr/>
          <p:nvPr/>
        </p:nvSpPr>
        <p:spPr>
          <a:xfrm>
            <a:off x="8659368" y="4498848"/>
            <a:ext cx="329184" cy="0"/>
          </a:xfrm>
          <a:prstGeom prst="line">
            <a:avLst/>
          </a:prstGeom>
          <a:noFill/>
          <a:ln w="11430">
            <a:solidFill>
              <a:srgbClr val="111111"/>
            </a:solidFill>
            <a:prstDash val="solid"/>
            <a:tailEnd type="triangle"/>
          </a:ln>
        </p:spPr>
      </p:sp>
      <p:sp>
        <p:nvSpPr>
          <p:cNvPr id="32" name="Shape 29"/>
          <p:cNvSpPr/>
          <p:nvPr/>
        </p:nvSpPr>
        <p:spPr>
          <a:xfrm>
            <a:off x="9006840" y="4069080"/>
            <a:ext cx="2468880" cy="868680"/>
          </a:xfrm>
          <a:prstGeom prst="roundRect">
            <a:avLst>
              <a:gd name="adj" fmla="val 8421"/>
            </a:avLst>
          </a:prstGeom>
          <a:solidFill>
            <a:srgbClr val="FFFFFF"/>
          </a:solidFill>
          <a:ln w="9525">
            <a:solidFill>
              <a:srgbClr val="111111"/>
            </a:solidFill>
            <a:prstDash val="solid"/>
          </a:ln>
        </p:spPr>
      </p:sp>
      <p:sp>
        <p:nvSpPr>
          <p:cNvPr id="33" name="Text 30"/>
          <p:cNvSpPr txBox="1"/>
          <p:nvPr/>
        </p:nvSpPr>
        <p:spPr>
          <a:xfrm>
            <a:off x="9144000" y="4114800"/>
            <a:ext cx="2194560" cy="777240"/>
          </a:xfrm>
          <a:prstGeom prst="rect">
            <a:avLst/>
          </a:prstGeom>
          <a:noFill/>
          <a:ln/>
        </p:spPr>
        <p:txBody>
          <a:bodyPr wrap="square" lIns="0" tIns="0" rIns="0" bIns="0" rtlCol="0" anchor="ctr"/>
          <a:lstStyle/>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Typed answer</a:t>
            </a:r>
            <a:endParaRPr lang="en-US" sz="1050" dirty="0"/>
          </a:p>
          <a:p>
            <a:pPr algn="ctr" indent="0" marL="0">
              <a:buNone/>
            </a:pPr>
            <a:r>
              <a:rPr lang="en-US" sz="1050" dirty="0">
                <a:solidFill>
                  <a:srgbClr val="2E2E2E"/>
                </a:solidFill>
                <a:latin typeface="Helvetica Neue" pitchFamily="34" charset="0"/>
                <a:ea typeface="Helvetica Neue" pitchFamily="34" charset="-122"/>
                <a:cs typeface="Helvetica Neue" pitchFamily="34" charset="-120"/>
              </a:rPr>
              <a:t>+ probabilities</a:t>
            </a:r>
            <a:endParaRPr lang="en-US" sz="1050" dirty="0"/>
          </a:p>
        </p:txBody>
      </p:sp>
      <p:sp>
        <p:nvSpPr>
          <p:cNvPr id="34" name="Text 31"/>
          <p:cNvSpPr txBox="1"/>
          <p:nvPr/>
        </p:nvSpPr>
        <p:spPr>
          <a:xfrm>
            <a:off x="502920" y="5029200"/>
            <a:ext cx="11155680" cy="274320"/>
          </a:xfrm>
          <a:prstGeom prst="rect">
            <a:avLst/>
          </a:prstGeom>
          <a:noFill/>
          <a:ln/>
        </p:spPr>
        <p:txBody>
          <a:bodyPr wrap="square" lIns="0" tIns="0" rIns="0" bIns="0" rtlCol="0" anchor="t"/>
          <a:lstStyle/>
          <a:p>
            <a:pPr indent="0" marL="0">
              <a:buNone/>
            </a:pPr>
            <a:r>
              <a:rPr lang="en-US" sz="1000" dirty="0">
                <a:solidFill>
                  <a:srgbClr val="7A7A7A"/>
                </a:solidFill>
                <a:latin typeface="Helvetica Neue" pitchFamily="34" charset="0"/>
                <a:ea typeface="Helvetica Neue" pitchFamily="34" charset="-122"/>
                <a:cs typeface="Helvetica Neue" pitchFamily="34" charset="-120"/>
              </a:rPr>
              <a:t>Tens to hundreds of milliseconds · no output tokens to meter · schema cannot be violated · the probability is the model's actual belief, trained to be calibrated</a:t>
            </a:r>
            <a:endParaRPr lang="en-US" sz="1000" dirty="0"/>
          </a:p>
        </p:txBody>
      </p:sp>
      <p:sp>
        <p:nvSpPr>
          <p:cNvPr id="35" name="Shape 32"/>
          <p:cNvSpPr/>
          <p:nvPr/>
        </p:nvSpPr>
        <p:spPr>
          <a:xfrm>
            <a:off x="502920" y="5532120"/>
            <a:ext cx="3108960" cy="457200"/>
          </a:xfrm>
          <a:prstGeom prst="roundRect">
            <a:avLst>
              <a:gd name="adj" fmla="val 50000"/>
            </a:avLst>
          </a:prstGeom>
          <a:solidFill>
            <a:srgbClr val="FFFFFF"/>
          </a:solidFill>
          <a:ln w="6350">
            <a:solidFill>
              <a:srgbClr val="E8E8E8"/>
            </a:solidFill>
            <a:prstDash val="solid"/>
          </a:ln>
          <a:effectLst>
            <a:outerShdw sx="100000" sy="100000" kx="0" ky="0" algn="bl" rotWithShape="0" blurRad="76200" dist="12700" dir="5400000">
              <a:srgbClr val="000000">
                <a:alpha val="8000"/>
              </a:srgbClr>
            </a:outerShdw>
          </a:effectLst>
        </p:spPr>
      </p:sp>
      <p:pic>
        <p:nvPicPr>
          <p:cNvPr id="36" name="Image 0" descr="preencoded.png">    </p:cNvPr>
          <p:cNvPicPr>
            <a:picLocks noChangeAspect="1"/>
          </p:cNvPicPr>
          <p:nvPr/>
        </p:nvPicPr>
        <p:blipFill>
          <a:blip r:embed="rId1"/>
          <a:stretch>
            <a:fillRect/>
          </a:stretch>
        </p:blipFill>
        <p:spPr>
          <a:xfrm>
            <a:off x="667512" y="5650992"/>
            <a:ext cx="219456" cy="219456"/>
          </a:xfrm>
          <a:prstGeom prst="rect">
            <a:avLst/>
          </a:prstGeom>
        </p:spPr>
      </p:pic>
      <p:sp>
        <p:nvSpPr>
          <p:cNvPr id="37" name="Text 33"/>
          <p:cNvSpPr txBox="1"/>
          <p:nvPr/>
        </p:nvSpPr>
        <p:spPr>
          <a:xfrm>
            <a:off x="960120" y="5550408"/>
            <a:ext cx="2011680" cy="420624"/>
          </a:xfrm>
          <a:prstGeom prst="rect">
            <a:avLst/>
          </a:prstGeom>
          <a:noFill/>
          <a:ln/>
        </p:spPr>
        <p:txBody>
          <a:bodyPr wrap="square" lIns="0" tIns="0" rIns="0" bIns="0" rtlCol="0" anchor="ctr"/>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Decide, don't generate</a:t>
            </a:r>
            <a:endParaRPr lang="en-US" sz="1250" dirty="0"/>
          </a:p>
        </p:txBody>
      </p:sp>
      <p:sp>
        <p:nvSpPr>
          <p:cNvPr id="38" name="Shape 34"/>
          <p:cNvSpPr/>
          <p:nvPr/>
        </p:nvSpPr>
        <p:spPr>
          <a:xfrm>
            <a:off x="2971800" y="5650992"/>
            <a:ext cx="457200" cy="219456"/>
          </a:xfrm>
          <a:prstGeom prst="roundRect">
            <a:avLst>
              <a:gd name="adj" fmla="val 50000"/>
            </a:avLst>
          </a:prstGeom>
          <a:solidFill>
            <a:srgbClr val="22C55E"/>
          </a:solidFill>
          <a:ln w="12700">
            <a:solidFill>
              <a:srgbClr val="22C55E"/>
            </a:solidFill>
            <a:prstDash val="solid"/>
          </a:ln>
        </p:spPr>
      </p:sp>
      <p:sp>
        <p:nvSpPr>
          <p:cNvPr id="39" name="Shape 35"/>
          <p:cNvSpPr/>
          <p:nvPr/>
        </p:nvSpPr>
        <p:spPr>
          <a:xfrm>
            <a:off x="3227832" y="5669280"/>
            <a:ext cx="182880" cy="182880"/>
          </a:xfrm>
          <a:prstGeom prst="ellipse">
            <a:avLst/>
          </a:prstGeom>
          <a:solidFill>
            <a:srgbClr val="FFFFFF"/>
          </a:solidFill>
          <a:ln w="12700">
            <a:solidFill>
              <a:srgbClr val="FFFFFF"/>
            </a:solidFill>
            <a:prstDash val="solid"/>
          </a:ln>
        </p:spPr>
      </p:sp>
      <p:sp>
        <p:nvSpPr>
          <p:cNvPr id="40" name="Text 36"/>
          <p:cNvSpPr txBox="1"/>
          <p:nvPr/>
        </p:nvSpPr>
        <p:spPr>
          <a:xfrm>
            <a:off x="3931920" y="5504688"/>
            <a:ext cx="7772400" cy="548640"/>
          </a:xfrm>
          <a:prstGeom prst="rect">
            <a:avLst/>
          </a:prstGeom>
          <a:noFill/>
          <a:ln/>
        </p:spPr>
        <p:txBody>
          <a:bodyPr wrap="square" lIns="0" tIns="0" rIns="0" bIns="0" rtlCol="0" anchor="t"/>
          <a:lstStyle/>
          <a:p>
            <a:pPr indent="0" marL="0">
              <a:buNone/>
            </a:pPr>
            <a:r>
              <a:rPr lang="en-US" sz="1050" dirty="0">
                <a:solidFill>
                  <a:srgbClr val="4C4C4C"/>
                </a:solidFill>
                <a:latin typeface="Helvetica Neue" pitchFamily="34" charset="0"/>
                <a:ea typeface="Helvetica Neue" pitchFamily="34" charset="-122"/>
                <a:cs typeface="Helvetica Neue" pitchFamily="34" charset="-120"/>
              </a:rPr>
              <a:t>Kahneman: System 1 is fast and intuitive; System 2 is slow and deliberate. These models are built for the System 1 work software needs thousands of times a day.</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Three primitives cover most decisions software needs: choice, score, noul</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SYSTEM ONE · PRIMITIVES</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06</a:t>
            </a:r>
            <a:endParaRPr lang="en-US" sz="900" dirty="0"/>
          </a:p>
        </p:txBody>
      </p:sp>
      <p:sp>
        <p:nvSpPr>
          <p:cNvPr id="6" name="Shape 3"/>
          <p:cNvSpPr/>
          <p:nvPr/>
        </p:nvSpPr>
        <p:spPr>
          <a:xfrm>
            <a:off x="502920" y="1783080"/>
            <a:ext cx="3611880" cy="4434840"/>
          </a:xfrm>
          <a:prstGeom prst="roundRect">
            <a:avLst>
              <a:gd name="adj" fmla="val 2025"/>
            </a:avLst>
          </a:prstGeom>
          <a:solidFill>
            <a:srgbClr val="FFFFFF"/>
          </a:solidFill>
          <a:ln w="9525">
            <a:solidFill>
              <a:srgbClr val="111111"/>
            </a:solidFill>
            <a:prstDash val="solid"/>
          </a:ln>
        </p:spPr>
      </p:sp>
      <p:sp>
        <p:nvSpPr>
          <p:cNvPr id="7" name="Text 4"/>
          <p:cNvSpPr txBox="1"/>
          <p:nvPr/>
        </p:nvSpPr>
        <p:spPr>
          <a:xfrm>
            <a:off x="731520" y="1984248"/>
            <a:ext cx="1828800" cy="365760"/>
          </a:xfrm>
          <a:prstGeom prst="rect">
            <a:avLst/>
          </a:prstGeom>
          <a:noFill/>
          <a:ln/>
        </p:spPr>
        <p:txBody>
          <a:bodyPr wrap="square" lIns="0" tIns="0" rIns="0" bIns="0" rtlCol="0" anchor="t"/>
          <a:lstStyle/>
          <a:p>
            <a:pPr indent="0" marL="0">
              <a:buNone/>
            </a:pPr>
            <a:r>
              <a:rPr lang="en-US" sz="2000" dirty="0">
                <a:solidFill>
                  <a:srgbClr val="111111"/>
                </a:solidFill>
                <a:latin typeface="Courier New" pitchFamily="34" charset="0"/>
                <a:ea typeface="Courier New" pitchFamily="34" charset="-122"/>
                <a:cs typeface="Courier New" pitchFamily="34" charset="-120"/>
              </a:rPr>
              <a:t>choice</a:t>
            </a:r>
            <a:endParaRPr lang="en-US" sz="2000" dirty="0"/>
          </a:p>
        </p:txBody>
      </p:sp>
      <p:sp>
        <p:nvSpPr>
          <p:cNvPr id="8" name="Shape 5"/>
          <p:cNvSpPr/>
          <p:nvPr/>
        </p:nvSpPr>
        <p:spPr>
          <a:xfrm>
            <a:off x="3657600" y="2011680"/>
            <a:ext cx="237744" cy="237744"/>
          </a:xfrm>
          <a:prstGeom prst="ellipse">
            <a:avLst/>
          </a:prstGeom>
          <a:solidFill>
            <a:srgbClr val="FFFFFF"/>
          </a:solidFill>
          <a:ln w="9525">
            <a:solidFill>
              <a:srgbClr val="111111"/>
            </a:solidFill>
            <a:prstDash val="solid"/>
          </a:ln>
        </p:spPr>
      </p:sp>
      <p:sp>
        <p:nvSpPr>
          <p:cNvPr id="9" name="Text 6"/>
          <p:cNvSpPr txBox="1"/>
          <p:nvPr/>
        </p:nvSpPr>
        <p:spPr>
          <a:xfrm>
            <a:off x="3657600" y="2020824"/>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1</a:t>
            </a:r>
            <a:endParaRPr lang="en-US" sz="900" dirty="0"/>
          </a:p>
        </p:txBody>
      </p:sp>
      <p:sp>
        <p:nvSpPr>
          <p:cNvPr id="10" name="Text 7"/>
          <p:cNvSpPr txBox="1"/>
          <p:nvPr/>
        </p:nvSpPr>
        <p:spPr>
          <a:xfrm>
            <a:off x="731520" y="2423160"/>
            <a:ext cx="31546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Which of these options?</a:t>
            </a:r>
            <a:endParaRPr lang="en-US" sz="1250" dirty="0"/>
          </a:p>
        </p:txBody>
      </p:sp>
      <p:sp>
        <p:nvSpPr>
          <p:cNvPr id="11" name="Text 8"/>
          <p:cNvSpPr txBox="1"/>
          <p:nvPr/>
        </p:nvSpPr>
        <p:spPr>
          <a:xfrm>
            <a:off x="731520" y="2715768"/>
            <a:ext cx="3154680" cy="292608"/>
          </a:xfrm>
          <a:prstGeom prst="rect">
            <a:avLst/>
          </a:prstGeom>
          <a:noFill/>
          <a:ln/>
        </p:spPr>
        <p:txBody>
          <a:bodyPr wrap="square" lIns="0" tIns="0" rIns="0" bIns="0" rtlCol="0" anchor="t"/>
          <a:lstStyle/>
          <a:p>
            <a:pPr indent="0" marL="0">
              <a:buNone/>
            </a:pPr>
            <a:r>
              <a:rPr lang="en-US" sz="1050" dirty="0">
                <a:solidFill>
                  <a:srgbClr val="7A7A7A"/>
                </a:solidFill>
                <a:latin typeface="Helvetica Neue" pitchFamily="34" charset="0"/>
                <a:ea typeface="Helvetica Neue" pitchFamily="34" charset="-122"/>
                <a:cs typeface="Helvetica Neue" pitchFamily="34" charset="-120"/>
              </a:rPr>
              <a:t>"Which team should handle this ticket?"</a:t>
            </a:r>
            <a:endParaRPr lang="en-US" sz="1050" dirty="0"/>
          </a:p>
        </p:txBody>
      </p:sp>
      <p:sp>
        <p:nvSpPr>
          <p:cNvPr id="12" name="Shape 9"/>
          <p:cNvSpPr/>
          <p:nvPr/>
        </p:nvSpPr>
        <p:spPr>
          <a:xfrm>
            <a:off x="731520" y="3108960"/>
            <a:ext cx="3154680" cy="1600200"/>
          </a:xfrm>
          <a:prstGeom prst="roundRect">
            <a:avLst>
              <a:gd name="adj" fmla="val 3429"/>
            </a:avLst>
          </a:prstGeom>
          <a:solidFill>
            <a:srgbClr val="F4F5F7"/>
          </a:solidFill>
          <a:ln w="9525">
            <a:solidFill>
              <a:srgbClr val="E0E6E9"/>
            </a:solidFill>
            <a:prstDash val="solid"/>
          </a:ln>
        </p:spPr>
      </p:sp>
      <p:sp>
        <p:nvSpPr>
          <p:cNvPr id="13" name="Text 10"/>
          <p:cNvSpPr txBox="1"/>
          <p:nvPr/>
        </p:nvSpPr>
        <p:spPr>
          <a:xfrm>
            <a:off x="896112" y="3236976"/>
            <a:ext cx="2825496" cy="1344168"/>
          </a:xfrm>
          <a:prstGeom prst="rect">
            <a:avLst/>
          </a:prstGeom>
          <a:noFill/>
          <a:ln/>
        </p:spPr>
        <p:txBody>
          <a:bodyPr wrap="square" lIns="0" tIns="0" rIns="0" bIns="0" rtlCol="0" anchor="t"/>
          <a:lstStyle/>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"type": "choice",</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"criteria": {</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"billing":   "payment issues",</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"technical": "integration problems",</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"sales":     "pricing questions"</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a:t>
            </a:r>
            <a:endParaRPr lang="en-US" sz="900" dirty="0"/>
          </a:p>
        </p:txBody>
      </p:sp>
      <p:sp>
        <p:nvSpPr>
          <p:cNvPr id="14" name="Text 11"/>
          <p:cNvSpPr txBox="1"/>
          <p:nvPr/>
        </p:nvSpPr>
        <p:spPr>
          <a:xfrm>
            <a:off x="731520" y="4846320"/>
            <a:ext cx="137160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Answer</a:t>
            </a:r>
            <a:endParaRPr lang="en-US" sz="900" dirty="0"/>
          </a:p>
        </p:txBody>
      </p:sp>
      <p:sp>
        <p:nvSpPr>
          <p:cNvPr id="15" name="Text 12"/>
          <p:cNvSpPr txBox="1"/>
          <p:nvPr/>
        </p:nvSpPr>
        <p:spPr>
          <a:xfrm>
            <a:off x="731520" y="5093208"/>
            <a:ext cx="3154680" cy="105156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choice: "billing"</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probabilities: {billing .91, technical .06, sales .03}</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confidence: 0.91</a:t>
            </a:r>
            <a:endParaRPr lang="en-US" sz="1000" dirty="0"/>
          </a:p>
        </p:txBody>
      </p:sp>
      <p:sp>
        <p:nvSpPr>
          <p:cNvPr id="16" name="Shape 13"/>
          <p:cNvSpPr/>
          <p:nvPr/>
        </p:nvSpPr>
        <p:spPr>
          <a:xfrm>
            <a:off x="4279392" y="1783080"/>
            <a:ext cx="3611880" cy="4434840"/>
          </a:xfrm>
          <a:prstGeom prst="roundRect">
            <a:avLst>
              <a:gd name="adj" fmla="val 2025"/>
            </a:avLst>
          </a:prstGeom>
          <a:solidFill>
            <a:srgbClr val="FFFFFF"/>
          </a:solidFill>
          <a:ln w="9525">
            <a:solidFill>
              <a:srgbClr val="111111"/>
            </a:solidFill>
            <a:prstDash val="solid"/>
          </a:ln>
        </p:spPr>
      </p:sp>
      <p:sp>
        <p:nvSpPr>
          <p:cNvPr id="17" name="Text 14"/>
          <p:cNvSpPr txBox="1"/>
          <p:nvPr/>
        </p:nvSpPr>
        <p:spPr>
          <a:xfrm>
            <a:off x="4507992" y="1984248"/>
            <a:ext cx="1828800" cy="365760"/>
          </a:xfrm>
          <a:prstGeom prst="rect">
            <a:avLst/>
          </a:prstGeom>
          <a:noFill/>
          <a:ln/>
        </p:spPr>
        <p:txBody>
          <a:bodyPr wrap="square" lIns="0" tIns="0" rIns="0" bIns="0" rtlCol="0" anchor="t"/>
          <a:lstStyle/>
          <a:p>
            <a:pPr indent="0" marL="0">
              <a:buNone/>
            </a:pPr>
            <a:r>
              <a:rPr lang="en-US" sz="2000" dirty="0">
                <a:solidFill>
                  <a:srgbClr val="111111"/>
                </a:solidFill>
                <a:latin typeface="Courier New" pitchFamily="34" charset="0"/>
                <a:ea typeface="Courier New" pitchFamily="34" charset="-122"/>
                <a:cs typeface="Courier New" pitchFamily="34" charset="-120"/>
              </a:rPr>
              <a:t>score</a:t>
            </a:r>
            <a:endParaRPr lang="en-US" sz="2000" dirty="0"/>
          </a:p>
        </p:txBody>
      </p:sp>
      <p:sp>
        <p:nvSpPr>
          <p:cNvPr id="18" name="Shape 15"/>
          <p:cNvSpPr/>
          <p:nvPr/>
        </p:nvSpPr>
        <p:spPr>
          <a:xfrm>
            <a:off x="7434072" y="2011680"/>
            <a:ext cx="237744" cy="237744"/>
          </a:xfrm>
          <a:prstGeom prst="ellipse">
            <a:avLst/>
          </a:prstGeom>
          <a:solidFill>
            <a:srgbClr val="FFFFFF"/>
          </a:solidFill>
          <a:ln w="9525">
            <a:solidFill>
              <a:srgbClr val="111111"/>
            </a:solidFill>
            <a:prstDash val="solid"/>
          </a:ln>
        </p:spPr>
      </p:sp>
      <p:sp>
        <p:nvSpPr>
          <p:cNvPr id="19" name="Text 16"/>
          <p:cNvSpPr txBox="1"/>
          <p:nvPr/>
        </p:nvSpPr>
        <p:spPr>
          <a:xfrm>
            <a:off x="7434072" y="2020824"/>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2</a:t>
            </a:r>
            <a:endParaRPr lang="en-US" sz="900" dirty="0"/>
          </a:p>
        </p:txBody>
      </p:sp>
      <p:sp>
        <p:nvSpPr>
          <p:cNvPr id="20" name="Text 17"/>
          <p:cNvSpPr txBox="1"/>
          <p:nvPr/>
        </p:nvSpPr>
        <p:spPr>
          <a:xfrm>
            <a:off x="4507992" y="2423160"/>
            <a:ext cx="31546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Which level on a spectrum?</a:t>
            </a:r>
            <a:endParaRPr lang="en-US" sz="1250" dirty="0"/>
          </a:p>
        </p:txBody>
      </p:sp>
      <p:sp>
        <p:nvSpPr>
          <p:cNvPr id="21" name="Text 18"/>
          <p:cNvSpPr txBox="1"/>
          <p:nvPr/>
        </p:nvSpPr>
        <p:spPr>
          <a:xfrm>
            <a:off x="4507992" y="2715768"/>
            <a:ext cx="3154680" cy="292608"/>
          </a:xfrm>
          <a:prstGeom prst="rect">
            <a:avLst/>
          </a:prstGeom>
          <a:noFill/>
          <a:ln/>
        </p:spPr>
        <p:txBody>
          <a:bodyPr wrap="square" lIns="0" tIns="0" rIns="0" bIns="0" rtlCol="0" anchor="t"/>
          <a:lstStyle/>
          <a:p>
            <a:pPr indent="0" marL="0">
              <a:buNone/>
            </a:pPr>
            <a:r>
              <a:rPr lang="en-US" sz="1050" dirty="0">
                <a:solidFill>
                  <a:srgbClr val="7A7A7A"/>
                </a:solidFill>
                <a:latin typeface="Helvetica Neue" pitchFamily="34" charset="0"/>
                <a:ea typeface="Helvetica Neue" pitchFamily="34" charset="-122"/>
                <a:cs typeface="Helvetica Neue" pitchFamily="34" charset="-120"/>
              </a:rPr>
              <a:t>"How frustrated is this customer?"</a:t>
            </a:r>
            <a:endParaRPr lang="en-US" sz="1050" dirty="0"/>
          </a:p>
        </p:txBody>
      </p:sp>
      <p:sp>
        <p:nvSpPr>
          <p:cNvPr id="22" name="Shape 19"/>
          <p:cNvSpPr/>
          <p:nvPr/>
        </p:nvSpPr>
        <p:spPr>
          <a:xfrm>
            <a:off x="4507992" y="3108960"/>
            <a:ext cx="3154680" cy="1600200"/>
          </a:xfrm>
          <a:prstGeom prst="roundRect">
            <a:avLst>
              <a:gd name="adj" fmla="val 3429"/>
            </a:avLst>
          </a:prstGeom>
          <a:solidFill>
            <a:srgbClr val="F4F5F7"/>
          </a:solidFill>
          <a:ln w="9525">
            <a:solidFill>
              <a:srgbClr val="E0E6E9"/>
            </a:solidFill>
            <a:prstDash val="solid"/>
          </a:ln>
        </p:spPr>
      </p:sp>
      <p:sp>
        <p:nvSpPr>
          <p:cNvPr id="23" name="Text 20"/>
          <p:cNvSpPr txBox="1"/>
          <p:nvPr/>
        </p:nvSpPr>
        <p:spPr>
          <a:xfrm>
            <a:off x="4672584" y="3236976"/>
            <a:ext cx="2825496" cy="1344168"/>
          </a:xfrm>
          <a:prstGeom prst="rect">
            <a:avLst/>
          </a:prstGeom>
          <a:noFill/>
          <a:ln/>
        </p:spPr>
        <p:txBody>
          <a:bodyPr wrap="square" lIns="0" tIns="0" rIns="0" bIns="0" rtlCol="0" anchor="t"/>
          <a:lstStyle/>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"type": "score",</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"criteria": [</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"calm and neutral",</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"concerned but civil",</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"very angry, strong language"</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a:t>
            </a:r>
            <a:endParaRPr lang="en-US" sz="900" dirty="0"/>
          </a:p>
        </p:txBody>
      </p:sp>
      <p:sp>
        <p:nvSpPr>
          <p:cNvPr id="24" name="Text 21"/>
          <p:cNvSpPr txBox="1"/>
          <p:nvPr/>
        </p:nvSpPr>
        <p:spPr>
          <a:xfrm>
            <a:off x="4507992" y="4846320"/>
            <a:ext cx="137160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Answer</a:t>
            </a:r>
            <a:endParaRPr lang="en-US" sz="900" dirty="0"/>
          </a:p>
        </p:txBody>
      </p:sp>
      <p:sp>
        <p:nvSpPr>
          <p:cNvPr id="25" name="Text 22"/>
          <p:cNvSpPr txBox="1"/>
          <p:nvPr/>
        </p:nvSpPr>
        <p:spPr>
          <a:xfrm>
            <a:off x="4507992" y="5093208"/>
            <a:ext cx="3154680" cy="105156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score: 1.3  (between level 1 and 2)</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probabilities over levels</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confidence: 0.74</a:t>
            </a:r>
            <a:endParaRPr lang="en-US" sz="1000" dirty="0"/>
          </a:p>
        </p:txBody>
      </p:sp>
      <p:sp>
        <p:nvSpPr>
          <p:cNvPr id="26" name="Shape 23"/>
          <p:cNvSpPr/>
          <p:nvPr/>
        </p:nvSpPr>
        <p:spPr>
          <a:xfrm>
            <a:off x="8055864" y="1783080"/>
            <a:ext cx="3611880" cy="4434840"/>
          </a:xfrm>
          <a:prstGeom prst="roundRect">
            <a:avLst>
              <a:gd name="adj" fmla="val 2025"/>
            </a:avLst>
          </a:prstGeom>
          <a:solidFill>
            <a:srgbClr val="FFFFFF"/>
          </a:solidFill>
          <a:ln w="9525">
            <a:solidFill>
              <a:srgbClr val="111111"/>
            </a:solidFill>
            <a:prstDash val="solid"/>
          </a:ln>
        </p:spPr>
      </p:sp>
      <p:sp>
        <p:nvSpPr>
          <p:cNvPr id="27" name="Text 24"/>
          <p:cNvSpPr txBox="1"/>
          <p:nvPr/>
        </p:nvSpPr>
        <p:spPr>
          <a:xfrm>
            <a:off x="8284464" y="1984248"/>
            <a:ext cx="1828800" cy="365760"/>
          </a:xfrm>
          <a:prstGeom prst="rect">
            <a:avLst/>
          </a:prstGeom>
          <a:noFill/>
          <a:ln/>
        </p:spPr>
        <p:txBody>
          <a:bodyPr wrap="square" lIns="0" tIns="0" rIns="0" bIns="0" rtlCol="0" anchor="t"/>
          <a:lstStyle/>
          <a:p>
            <a:pPr indent="0" marL="0">
              <a:buNone/>
            </a:pPr>
            <a:r>
              <a:rPr lang="en-US" sz="2000" dirty="0">
                <a:solidFill>
                  <a:srgbClr val="111111"/>
                </a:solidFill>
                <a:latin typeface="Courier New" pitchFamily="34" charset="0"/>
                <a:ea typeface="Courier New" pitchFamily="34" charset="-122"/>
                <a:cs typeface="Courier New" pitchFamily="34" charset="-120"/>
              </a:rPr>
              <a:t>noul</a:t>
            </a:r>
            <a:endParaRPr lang="en-US" sz="2000" dirty="0"/>
          </a:p>
        </p:txBody>
      </p:sp>
      <p:sp>
        <p:nvSpPr>
          <p:cNvPr id="28" name="Shape 25"/>
          <p:cNvSpPr/>
          <p:nvPr/>
        </p:nvSpPr>
        <p:spPr>
          <a:xfrm>
            <a:off x="11210544" y="2011680"/>
            <a:ext cx="237744" cy="237744"/>
          </a:xfrm>
          <a:prstGeom prst="ellipse">
            <a:avLst/>
          </a:prstGeom>
          <a:solidFill>
            <a:srgbClr val="FFFFFF"/>
          </a:solidFill>
          <a:ln w="9525">
            <a:solidFill>
              <a:srgbClr val="111111"/>
            </a:solidFill>
            <a:prstDash val="solid"/>
          </a:ln>
        </p:spPr>
      </p:sp>
      <p:sp>
        <p:nvSpPr>
          <p:cNvPr id="29" name="Text 26"/>
          <p:cNvSpPr txBox="1"/>
          <p:nvPr/>
        </p:nvSpPr>
        <p:spPr>
          <a:xfrm>
            <a:off x="11210544" y="2020824"/>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3</a:t>
            </a:r>
            <a:endParaRPr lang="en-US" sz="900" dirty="0"/>
          </a:p>
        </p:txBody>
      </p:sp>
      <p:sp>
        <p:nvSpPr>
          <p:cNvPr id="30" name="Text 27"/>
          <p:cNvSpPr txBox="1"/>
          <p:nvPr/>
        </p:nvSpPr>
        <p:spPr>
          <a:xfrm>
            <a:off x="8284464" y="2423160"/>
            <a:ext cx="31546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Is this true?</a:t>
            </a:r>
            <a:endParaRPr lang="en-US" sz="1250" dirty="0"/>
          </a:p>
        </p:txBody>
      </p:sp>
      <p:sp>
        <p:nvSpPr>
          <p:cNvPr id="31" name="Text 28"/>
          <p:cNvSpPr txBox="1"/>
          <p:nvPr/>
        </p:nvSpPr>
        <p:spPr>
          <a:xfrm>
            <a:off x="8284464" y="2715768"/>
            <a:ext cx="3154680" cy="292608"/>
          </a:xfrm>
          <a:prstGeom prst="rect">
            <a:avLst/>
          </a:prstGeom>
          <a:noFill/>
          <a:ln/>
        </p:spPr>
        <p:txBody>
          <a:bodyPr wrap="square" lIns="0" tIns="0" rIns="0" bIns="0" rtlCol="0" anchor="t"/>
          <a:lstStyle/>
          <a:p>
            <a:pPr indent="0" marL="0">
              <a:buNone/>
            </a:pPr>
            <a:r>
              <a:rPr lang="en-US" sz="1050" dirty="0">
                <a:solidFill>
                  <a:srgbClr val="7A7A7A"/>
                </a:solidFill>
                <a:latin typeface="Helvetica Neue" pitchFamily="34" charset="0"/>
                <a:ea typeface="Helvetica Neue" pitchFamily="34" charset="-122"/>
                <a:cs typeface="Helvetica Neue" pitchFamily="34" charset="-120"/>
              </a:rPr>
              <a:t>"Does this message request a refund?"</a:t>
            </a:r>
            <a:endParaRPr lang="en-US" sz="1050" dirty="0"/>
          </a:p>
        </p:txBody>
      </p:sp>
      <p:sp>
        <p:nvSpPr>
          <p:cNvPr id="32" name="Shape 29"/>
          <p:cNvSpPr/>
          <p:nvPr/>
        </p:nvSpPr>
        <p:spPr>
          <a:xfrm>
            <a:off x="8284464" y="3108960"/>
            <a:ext cx="3154680" cy="1600200"/>
          </a:xfrm>
          <a:prstGeom prst="roundRect">
            <a:avLst>
              <a:gd name="adj" fmla="val 3429"/>
            </a:avLst>
          </a:prstGeom>
          <a:solidFill>
            <a:srgbClr val="F4F5F7"/>
          </a:solidFill>
          <a:ln w="9525">
            <a:solidFill>
              <a:srgbClr val="E0E6E9"/>
            </a:solidFill>
            <a:prstDash val="solid"/>
          </a:ln>
        </p:spPr>
      </p:sp>
      <p:sp>
        <p:nvSpPr>
          <p:cNvPr id="33" name="Text 30"/>
          <p:cNvSpPr txBox="1"/>
          <p:nvPr/>
        </p:nvSpPr>
        <p:spPr>
          <a:xfrm>
            <a:off x="8449056" y="3236976"/>
            <a:ext cx="2825496" cy="1344168"/>
          </a:xfrm>
          <a:prstGeom prst="rect">
            <a:avLst/>
          </a:prstGeom>
          <a:noFill/>
          <a:ln/>
        </p:spPr>
        <p:txBody>
          <a:bodyPr wrap="square" lIns="0" tIns="0" rIns="0" bIns="0" rtlCol="0" anchor="t"/>
          <a:lstStyle/>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"type": "noul",</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"instructions":</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"Does the customer ask</a:t>
            </a:r>
            <a:endParaRPr lang="en-US" sz="900" dirty="0"/>
          </a:p>
          <a:p>
            <a:pPr indent="0" marL="0">
              <a:lnSpc>
                <a:spcPct val="110000"/>
              </a:lnSpc>
              <a:buNone/>
            </a:pPr>
            <a:r>
              <a:rPr lang="en-US" sz="900" dirty="0">
                <a:solidFill>
                  <a:srgbClr val="111111"/>
                </a:solidFill>
                <a:latin typeface="Courier New" pitchFamily="34" charset="0"/>
                <a:ea typeface="Courier New" pitchFamily="34" charset="-122"/>
                <a:cs typeface="Courier New" pitchFamily="34" charset="-120"/>
              </a:rPr>
              <a:t>   for a refund?"</a:t>
            </a:r>
            <a:endParaRPr lang="en-US" sz="900" dirty="0"/>
          </a:p>
          <a:p>
            <a:pPr indent="0" marL="0">
              <a:lnSpc>
                <a:spcPct val="110000"/>
              </a:lnSpc>
              <a:buNone/>
            </a:pPr>
            <a:endParaRPr lang="en-US" sz="900" dirty="0"/>
          </a:p>
          <a:p>
            <a:pPr indent="0" marL="0">
              <a:lnSpc>
                <a:spcPct val="110000"/>
              </a:lnSpc>
              <a:buNone/>
            </a:pPr>
            <a:endParaRPr lang="en-US" sz="900" dirty="0"/>
          </a:p>
        </p:txBody>
      </p:sp>
      <p:sp>
        <p:nvSpPr>
          <p:cNvPr id="34" name="Text 31"/>
          <p:cNvSpPr txBox="1"/>
          <p:nvPr/>
        </p:nvSpPr>
        <p:spPr>
          <a:xfrm>
            <a:off x="8284464" y="4846320"/>
            <a:ext cx="137160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Answer</a:t>
            </a:r>
            <a:endParaRPr lang="en-US" sz="900" dirty="0"/>
          </a:p>
        </p:txBody>
      </p:sp>
      <p:sp>
        <p:nvSpPr>
          <p:cNvPr id="35" name="Text 32"/>
          <p:cNvSpPr txBox="1"/>
          <p:nvPr/>
        </p:nvSpPr>
        <p:spPr>
          <a:xfrm>
            <a:off x="8284464" y="5093208"/>
            <a:ext cx="3154680" cy="105156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noul: 0.95</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 probability that the answer is yes</a:t>
            </a:r>
            <a:endParaRPr lang="en-US" sz="1000" dirty="0"/>
          </a:p>
          <a:p>
            <a:pPr marL="152400" indent="-152400">
              <a:lnSpc>
                <a:spcPct val="105000"/>
              </a:lnSpc>
              <a:spcAft>
                <a:spcPts val="300"/>
              </a:spcAft>
              <a:buSzPct val="100000"/>
              <a:buChar char="•"/>
            </a:pPr>
            <a:r>
              <a:rPr lang="en-US" sz="1000" dirty="0">
                <a:solidFill>
                  <a:srgbClr val="2E2E2E"/>
                </a:solidFill>
                <a:latin typeface="Helvetica Neue" pitchFamily="34" charset="0"/>
                <a:ea typeface="Helvetica Neue" pitchFamily="34" charset="-122"/>
                <a:cs typeface="Helvetica Neue" pitchFamily="34" charset="-120"/>
              </a:rPr>
              <a:t>(no separate confidence)</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37744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RLCD</a:t>
            </a:r>
            <a:endParaRPr lang="en-US" sz="4800" dirty="0"/>
          </a:p>
        </p:txBody>
      </p:sp>
      <p:sp>
        <p:nvSpPr>
          <p:cNvPr id="5" name="Text 1"/>
          <p:cNvSpPr txBox="1"/>
          <p:nvPr/>
        </p:nvSpPr>
        <p:spPr>
          <a:xfrm>
            <a:off x="502920" y="329184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Reinforcement Learning for Calibrated Decisions</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SECTION 02</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2026</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54864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RLCD optimises for probabilities that match outcomes</a:t>
            </a:r>
            <a:endParaRPr lang="en-US" sz="2700" dirty="0"/>
          </a:p>
        </p:txBody>
      </p:sp>
      <p:sp>
        <p:nvSpPr>
          <p:cNvPr id="3" name="Text 1"/>
          <p:cNvSpPr txBox="1"/>
          <p:nvPr/>
        </p:nvSpPr>
        <p:spPr>
          <a:xfrm>
            <a:off x="502920" y="932688"/>
            <a:ext cx="11185855" cy="365760"/>
          </a:xfrm>
          <a:prstGeom prst="rect">
            <a:avLst/>
          </a:prstGeom>
          <a:noFill/>
          <a:ln/>
        </p:spPr>
        <p:txBody>
          <a:bodyPr wrap="square" lIns="0" tIns="0" rIns="0" bIns="0" rtlCol="0" anchor="t"/>
          <a:lstStyle/>
          <a:p>
            <a:pPr indent="0" marL="0">
              <a:buNone/>
            </a:pPr>
            <a:r>
              <a:rPr lang="en-US" sz="1500" dirty="0">
                <a:solidFill>
                  <a:srgbClr val="B5B5B5"/>
                </a:solidFill>
                <a:latin typeface="Helvetica Neue" pitchFamily="34" charset="0"/>
                <a:ea typeface="Helvetica Neue" pitchFamily="34" charset="-122"/>
                <a:cs typeface="Helvetica Neue" pitchFamily="34" charset="-120"/>
              </a:rPr>
              <a:t>Three RL post-training objectives, three different failure modes</a:t>
            </a:r>
            <a:endParaRPr lang="en-US" sz="1500" dirty="0"/>
          </a:p>
        </p:txBody>
      </p:sp>
      <p:sp>
        <p:nvSpPr>
          <p:cNvPr id="4"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RLCD · THE OBJECTIVE</a:t>
            </a:r>
            <a:endParaRPr lang="en-US" sz="900" dirty="0"/>
          </a:p>
        </p:txBody>
      </p:sp>
      <p:sp>
        <p:nvSpPr>
          <p:cNvPr id="5" name="Text 3"/>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08</a:t>
            </a:r>
            <a:endParaRPr lang="en-US" sz="900" dirty="0"/>
          </a:p>
        </p:txBody>
      </p:sp>
      <p:sp>
        <p:nvSpPr>
          <p:cNvPr id="7" name="Shape 4"/>
          <p:cNvSpPr/>
          <p:nvPr/>
        </p:nvSpPr>
        <p:spPr>
          <a:xfrm>
            <a:off x="502920" y="1600200"/>
            <a:ext cx="3611880" cy="3383280"/>
          </a:xfrm>
          <a:prstGeom prst="roundRect">
            <a:avLst>
              <a:gd name="adj" fmla="val 2162"/>
            </a:avLst>
          </a:prstGeom>
          <a:solidFill>
            <a:srgbClr val="EEF2F4"/>
          </a:solidFill>
          <a:ln w="6350">
            <a:solidFill>
              <a:srgbClr val="CBD5DA"/>
            </a:solidFill>
            <a:prstDash val="solid"/>
          </a:ln>
        </p:spPr>
      </p:sp>
      <p:sp>
        <p:nvSpPr>
          <p:cNvPr id="8" name="Text 5"/>
          <p:cNvSpPr txBox="1"/>
          <p:nvPr/>
        </p:nvSpPr>
        <p:spPr>
          <a:xfrm>
            <a:off x="731520" y="1801368"/>
            <a:ext cx="2743200" cy="411480"/>
          </a:xfrm>
          <a:prstGeom prst="rect">
            <a:avLst/>
          </a:prstGeom>
          <a:noFill/>
          <a:ln/>
        </p:spPr>
        <p:txBody>
          <a:bodyPr wrap="square" lIns="0" tIns="0" rIns="0" bIns="0" rtlCol="0" anchor="t"/>
          <a:lstStyle/>
          <a:p>
            <a:pPr indent="0" marL="0">
              <a:buNone/>
            </a:pPr>
            <a:r>
              <a:rPr lang="en-US" sz="2400" dirty="0">
                <a:solidFill>
                  <a:srgbClr val="111111"/>
                </a:solidFill>
                <a:latin typeface="Helvetica Neue" pitchFamily="34" charset="0"/>
                <a:ea typeface="Helvetica Neue" pitchFamily="34" charset="-122"/>
                <a:cs typeface="Helvetica Neue" pitchFamily="34" charset="-120"/>
              </a:rPr>
              <a:t>RLHF</a:t>
            </a:r>
            <a:endParaRPr lang="en-US" sz="2400" dirty="0"/>
          </a:p>
        </p:txBody>
      </p:sp>
      <p:sp>
        <p:nvSpPr>
          <p:cNvPr id="9" name="Text 6"/>
          <p:cNvSpPr txBox="1"/>
          <p:nvPr/>
        </p:nvSpPr>
        <p:spPr>
          <a:xfrm>
            <a:off x="731520" y="2240280"/>
            <a:ext cx="3154680" cy="457200"/>
          </a:xfrm>
          <a:prstGeom prst="rect">
            <a:avLst/>
          </a:prstGeom>
          <a:noFill/>
          <a:ln/>
        </p:spPr>
        <p:txBody>
          <a:bodyPr wrap="square" lIns="0" tIns="0" rIns="0" bIns="0" rtlCol="0" anchor="t"/>
          <a:lstStyle/>
          <a:p>
            <a:pPr indent="0" marL="0">
              <a:buNone/>
            </a:pPr>
            <a:r>
              <a:rPr lang="en-US" sz="1050" dirty="0">
                <a:solidFill>
                  <a:srgbClr val="7A7A7A"/>
                </a:solidFill>
                <a:latin typeface="Helvetica Neue" pitchFamily="34" charset="0"/>
                <a:ea typeface="Helvetica Neue" pitchFamily="34" charset="-122"/>
                <a:cs typeface="Helvetica Neue" pitchFamily="34" charset="-120"/>
              </a:rPr>
              <a:t>Reinforcement Learning from Human Feedback</a:t>
            </a:r>
            <a:endParaRPr lang="en-US" sz="1050" dirty="0"/>
          </a:p>
        </p:txBody>
      </p:sp>
      <p:sp>
        <p:nvSpPr>
          <p:cNvPr id="10" name="Text 7"/>
          <p:cNvSpPr txBox="1"/>
          <p:nvPr/>
        </p:nvSpPr>
        <p:spPr>
          <a:xfrm>
            <a:off x="731520" y="2834640"/>
            <a:ext cx="315468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Optimises for</a:t>
            </a:r>
            <a:endParaRPr lang="en-US" sz="900" dirty="0"/>
          </a:p>
        </p:txBody>
      </p:sp>
      <p:sp>
        <p:nvSpPr>
          <p:cNvPr id="11" name="Text 8"/>
          <p:cNvSpPr txBox="1"/>
          <p:nvPr/>
        </p:nvSpPr>
        <p:spPr>
          <a:xfrm>
            <a:off x="731520" y="3063240"/>
            <a:ext cx="3154680" cy="548640"/>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Human preference over outputs</a:t>
            </a:r>
            <a:endParaRPr lang="en-US" sz="1200" dirty="0"/>
          </a:p>
        </p:txBody>
      </p:sp>
      <p:sp>
        <p:nvSpPr>
          <p:cNvPr id="12" name="Text 9"/>
          <p:cNvSpPr txBox="1"/>
          <p:nvPr/>
        </p:nvSpPr>
        <p:spPr>
          <a:xfrm>
            <a:off x="731520" y="3703320"/>
            <a:ext cx="315468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Failure mode</a:t>
            </a:r>
            <a:endParaRPr lang="en-US" sz="900" dirty="0"/>
          </a:p>
        </p:txBody>
      </p:sp>
      <p:sp>
        <p:nvSpPr>
          <p:cNvPr id="13" name="Text 10"/>
          <p:cNvSpPr txBox="1"/>
          <p:nvPr/>
        </p:nvSpPr>
        <p:spPr>
          <a:xfrm>
            <a:off x="731520" y="3931920"/>
            <a:ext cx="3154680" cy="100584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Sycophancy. Confident, compelling text scores well even when it is unreliable.</a:t>
            </a:r>
            <a:endParaRPr lang="en-US" sz="1050" dirty="0"/>
          </a:p>
        </p:txBody>
      </p:sp>
      <p:sp>
        <p:nvSpPr>
          <p:cNvPr id="14" name="Shape 11"/>
          <p:cNvSpPr/>
          <p:nvPr/>
        </p:nvSpPr>
        <p:spPr>
          <a:xfrm>
            <a:off x="4279392" y="1600200"/>
            <a:ext cx="3611880" cy="3383280"/>
          </a:xfrm>
          <a:prstGeom prst="roundRect">
            <a:avLst>
              <a:gd name="adj" fmla="val 2162"/>
            </a:avLst>
          </a:prstGeom>
          <a:solidFill>
            <a:srgbClr val="EEF2F4"/>
          </a:solidFill>
          <a:ln w="6350">
            <a:solidFill>
              <a:srgbClr val="CBD5DA"/>
            </a:solidFill>
            <a:prstDash val="solid"/>
          </a:ln>
        </p:spPr>
      </p:sp>
      <p:sp>
        <p:nvSpPr>
          <p:cNvPr id="15" name="Text 12"/>
          <p:cNvSpPr txBox="1"/>
          <p:nvPr/>
        </p:nvSpPr>
        <p:spPr>
          <a:xfrm>
            <a:off x="4507992" y="1801368"/>
            <a:ext cx="2743200" cy="411480"/>
          </a:xfrm>
          <a:prstGeom prst="rect">
            <a:avLst/>
          </a:prstGeom>
          <a:noFill/>
          <a:ln/>
        </p:spPr>
        <p:txBody>
          <a:bodyPr wrap="square" lIns="0" tIns="0" rIns="0" bIns="0" rtlCol="0" anchor="t"/>
          <a:lstStyle/>
          <a:p>
            <a:pPr indent="0" marL="0">
              <a:buNone/>
            </a:pPr>
            <a:r>
              <a:rPr lang="en-US" sz="2400" dirty="0">
                <a:solidFill>
                  <a:srgbClr val="111111"/>
                </a:solidFill>
                <a:latin typeface="Helvetica Neue" pitchFamily="34" charset="0"/>
                <a:ea typeface="Helvetica Neue" pitchFamily="34" charset="-122"/>
                <a:cs typeface="Helvetica Neue" pitchFamily="34" charset="-120"/>
              </a:rPr>
              <a:t>RLVR</a:t>
            </a:r>
            <a:endParaRPr lang="en-US" sz="2400" dirty="0"/>
          </a:p>
        </p:txBody>
      </p:sp>
      <p:sp>
        <p:nvSpPr>
          <p:cNvPr id="16" name="Text 13"/>
          <p:cNvSpPr txBox="1"/>
          <p:nvPr/>
        </p:nvSpPr>
        <p:spPr>
          <a:xfrm>
            <a:off x="4507992" y="2240280"/>
            <a:ext cx="3154680" cy="457200"/>
          </a:xfrm>
          <a:prstGeom prst="rect">
            <a:avLst/>
          </a:prstGeom>
          <a:noFill/>
          <a:ln/>
        </p:spPr>
        <p:txBody>
          <a:bodyPr wrap="square" lIns="0" tIns="0" rIns="0" bIns="0" rtlCol="0" anchor="t"/>
          <a:lstStyle/>
          <a:p>
            <a:pPr indent="0" marL="0">
              <a:buNone/>
            </a:pPr>
            <a:r>
              <a:rPr lang="en-US" sz="1050" dirty="0">
                <a:solidFill>
                  <a:srgbClr val="7A7A7A"/>
                </a:solidFill>
                <a:latin typeface="Helvetica Neue" pitchFamily="34" charset="0"/>
                <a:ea typeface="Helvetica Neue" pitchFamily="34" charset="-122"/>
                <a:cs typeface="Helvetica Neue" pitchFamily="34" charset="-120"/>
              </a:rPr>
              <a:t>Reinforcement Learning with Verifiable Rewards</a:t>
            </a:r>
            <a:endParaRPr lang="en-US" sz="1050" dirty="0"/>
          </a:p>
        </p:txBody>
      </p:sp>
      <p:sp>
        <p:nvSpPr>
          <p:cNvPr id="17" name="Text 14"/>
          <p:cNvSpPr txBox="1"/>
          <p:nvPr/>
        </p:nvSpPr>
        <p:spPr>
          <a:xfrm>
            <a:off x="4507992" y="2834640"/>
            <a:ext cx="315468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Optimises for</a:t>
            </a:r>
            <a:endParaRPr lang="en-US" sz="900" dirty="0"/>
          </a:p>
        </p:txBody>
      </p:sp>
      <p:sp>
        <p:nvSpPr>
          <p:cNvPr id="18" name="Text 15"/>
          <p:cNvSpPr txBox="1"/>
          <p:nvPr/>
        </p:nvSpPr>
        <p:spPr>
          <a:xfrm>
            <a:off x="4507992" y="3063240"/>
            <a:ext cx="3154680" cy="548640"/>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Mechanically verifiable correctness (tests, math)</a:t>
            </a:r>
            <a:endParaRPr lang="en-US" sz="1200" dirty="0"/>
          </a:p>
        </p:txBody>
      </p:sp>
      <p:sp>
        <p:nvSpPr>
          <p:cNvPr id="19" name="Text 16"/>
          <p:cNvSpPr txBox="1"/>
          <p:nvPr/>
        </p:nvSpPr>
        <p:spPr>
          <a:xfrm>
            <a:off x="4507992" y="3703320"/>
            <a:ext cx="315468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Failure mode</a:t>
            </a:r>
            <a:endParaRPr lang="en-US" sz="900" dirty="0"/>
          </a:p>
        </p:txBody>
      </p:sp>
      <p:sp>
        <p:nvSpPr>
          <p:cNvPr id="20" name="Text 17"/>
          <p:cNvSpPr txBox="1"/>
          <p:nvPr/>
        </p:nvSpPr>
        <p:spPr>
          <a:xfrm>
            <a:off x="4507992" y="3931920"/>
            <a:ext cx="3154680" cy="100584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Needs a verifier. Long reasoning traces make inference slow and expensive.</a:t>
            </a:r>
            <a:endParaRPr lang="en-US" sz="1050" dirty="0"/>
          </a:p>
        </p:txBody>
      </p:sp>
      <p:sp>
        <p:nvSpPr>
          <p:cNvPr id="21" name="Shape 18"/>
          <p:cNvSpPr/>
          <p:nvPr/>
        </p:nvSpPr>
        <p:spPr>
          <a:xfrm>
            <a:off x="8055864" y="1600200"/>
            <a:ext cx="3611880" cy="3383280"/>
          </a:xfrm>
          <a:prstGeom prst="roundRect">
            <a:avLst>
              <a:gd name="adj" fmla="val 2162"/>
            </a:avLst>
          </a:prstGeom>
          <a:solidFill>
            <a:srgbClr val="7B909B"/>
          </a:solidFill>
          <a:ln w="6350">
            <a:solidFill>
              <a:srgbClr val="7B909B"/>
            </a:solidFill>
            <a:prstDash val="solid"/>
          </a:ln>
        </p:spPr>
      </p:sp>
      <p:sp>
        <p:nvSpPr>
          <p:cNvPr id="22" name="Text 19"/>
          <p:cNvSpPr txBox="1"/>
          <p:nvPr/>
        </p:nvSpPr>
        <p:spPr>
          <a:xfrm>
            <a:off x="8284464" y="1801368"/>
            <a:ext cx="2743200" cy="411480"/>
          </a:xfrm>
          <a:prstGeom prst="rect">
            <a:avLst/>
          </a:prstGeom>
          <a:noFill/>
          <a:ln/>
        </p:spPr>
        <p:txBody>
          <a:bodyPr wrap="square" lIns="0" tIns="0" rIns="0" bIns="0" rtlCol="0" anchor="t"/>
          <a:lstStyle/>
          <a:p>
            <a:pPr indent="0" marL="0">
              <a:buNone/>
            </a:pPr>
            <a:r>
              <a:rPr lang="en-US" sz="2400" dirty="0">
                <a:solidFill>
                  <a:srgbClr val="FFFFFF"/>
                </a:solidFill>
                <a:latin typeface="Helvetica Neue" pitchFamily="34" charset="0"/>
                <a:ea typeface="Helvetica Neue" pitchFamily="34" charset="-122"/>
                <a:cs typeface="Helvetica Neue" pitchFamily="34" charset="-120"/>
              </a:rPr>
              <a:t>RLCD</a:t>
            </a:r>
            <a:endParaRPr lang="en-US" sz="2400" dirty="0"/>
          </a:p>
        </p:txBody>
      </p:sp>
      <p:sp>
        <p:nvSpPr>
          <p:cNvPr id="23" name="Text 20"/>
          <p:cNvSpPr txBox="1"/>
          <p:nvPr/>
        </p:nvSpPr>
        <p:spPr>
          <a:xfrm>
            <a:off x="8284464" y="2240280"/>
            <a:ext cx="3154680" cy="457200"/>
          </a:xfrm>
          <a:prstGeom prst="rect">
            <a:avLst/>
          </a:prstGeom>
          <a:noFill/>
          <a:ln/>
        </p:spPr>
        <p:txBody>
          <a:bodyPr wrap="square" lIns="0" tIns="0" rIns="0" bIns="0" rtlCol="0" anchor="t"/>
          <a:lstStyle/>
          <a:p>
            <a:pPr indent="0" marL="0">
              <a:buNone/>
            </a:pPr>
            <a:r>
              <a:rPr lang="en-US" sz="1050" dirty="0">
                <a:solidFill>
                  <a:srgbClr val="FFFFFF"/>
                </a:solidFill>
                <a:latin typeface="Helvetica Neue" pitchFamily="34" charset="0"/>
                <a:ea typeface="Helvetica Neue" pitchFamily="34" charset="-122"/>
                <a:cs typeface="Helvetica Neue" pitchFamily="34" charset="-120"/>
              </a:rPr>
              <a:t>Reinforcement Learning for Calibrated Decisions</a:t>
            </a:r>
            <a:endParaRPr lang="en-US" sz="1050" dirty="0"/>
          </a:p>
        </p:txBody>
      </p:sp>
      <p:sp>
        <p:nvSpPr>
          <p:cNvPr id="24" name="Text 21"/>
          <p:cNvSpPr txBox="1"/>
          <p:nvPr/>
        </p:nvSpPr>
        <p:spPr>
          <a:xfrm>
            <a:off x="8284464" y="2834640"/>
            <a:ext cx="3154680" cy="228600"/>
          </a:xfrm>
          <a:prstGeom prst="rect">
            <a:avLst/>
          </a:prstGeom>
          <a:noFill/>
          <a:ln/>
        </p:spPr>
        <p:txBody>
          <a:bodyPr wrap="square" lIns="0" tIns="0" rIns="0" bIns="0" rtlCol="0" anchor="t"/>
          <a:lstStyle/>
          <a:p>
            <a:pPr indent="0" marL="0">
              <a:buNone/>
            </a:pPr>
            <a:r>
              <a:rPr lang="en-US" sz="900" dirty="0">
                <a:solidFill>
                  <a:srgbClr val="EEF2F4"/>
                </a:solidFill>
                <a:latin typeface="Helvetica Neue" pitchFamily="34" charset="0"/>
                <a:ea typeface="Helvetica Neue" pitchFamily="34" charset="-122"/>
                <a:cs typeface="Helvetica Neue" pitchFamily="34" charset="-120"/>
              </a:rPr>
              <a:t>Optimises for</a:t>
            </a:r>
            <a:endParaRPr lang="en-US" sz="900" dirty="0"/>
          </a:p>
        </p:txBody>
      </p:sp>
      <p:sp>
        <p:nvSpPr>
          <p:cNvPr id="25" name="Text 22"/>
          <p:cNvSpPr txBox="1"/>
          <p:nvPr/>
        </p:nvSpPr>
        <p:spPr>
          <a:xfrm>
            <a:off x="8284464" y="3063240"/>
            <a:ext cx="3154680" cy="548640"/>
          </a:xfrm>
          <a:prstGeom prst="rect">
            <a:avLst/>
          </a:prstGeom>
          <a:noFill/>
          <a:ln/>
        </p:spPr>
        <p:txBody>
          <a:bodyPr wrap="square" lIns="0" tIns="0" rIns="0" bIns="0" rtlCol="0" anchor="t"/>
          <a:lstStyle/>
          <a:p>
            <a:pPr indent="0" marL="0">
              <a:buNone/>
            </a:pPr>
            <a:r>
              <a:rPr lang="en-US" sz="1200" dirty="0">
                <a:solidFill>
                  <a:srgbClr val="FFFFFF"/>
                </a:solidFill>
                <a:latin typeface="Helvetica Neue" pitchFamily="34" charset="0"/>
                <a:ea typeface="Helvetica Neue" pitchFamily="34" charset="-122"/>
                <a:cs typeface="Helvetica Neue" pitchFamily="34" charset="-120"/>
              </a:rPr>
              <a:t>Probabilities that match outcome frequencies</a:t>
            </a:r>
            <a:endParaRPr lang="en-US" sz="1200" dirty="0"/>
          </a:p>
        </p:txBody>
      </p:sp>
      <p:sp>
        <p:nvSpPr>
          <p:cNvPr id="26" name="Text 23"/>
          <p:cNvSpPr txBox="1"/>
          <p:nvPr/>
        </p:nvSpPr>
        <p:spPr>
          <a:xfrm>
            <a:off x="8284464" y="3703320"/>
            <a:ext cx="3154680" cy="228600"/>
          </a:xfrm>
          <a:prstGeom prst="rect">
            <a:avLst/>
          </a:prstGeom>
          <a:noFill/>
          <a:ln/>
        </p:spPr>
        <p:txBody>
          <a:bodyPr wrap="square" lIns="0" tIns="0" rIns="0" bIns="0" rtlCol="0" anchor="t"/>
          <a:lstStyle/>
          <a:p>
            <a:pPr indent="0" marL="0">
              <a:buNone/>
            </a:pPr>
            <a:r>
              <a:rPr lang="en-US" sz="900" dirty="0">
                <a:solidFill>
                  <a:srgbClr val="EEF2F4"/>
                </a:solidFill>
                <a:latin typeface="Helvetica Neue" pitchFamily="34" charset="0"/>
                <a:ea typeface="Helvetica Neue" pitchFamily="34" charset="-122"/>
                <a:cs typeface="Helvetica Neue" pitchFamily="34" charset="-120"/>
              </a:rPr>
              <a:t>Failure mode</a:t>
            </a:r>
            <a:endParaRPr lang="en-US" sz="900" dirty="0"/>
          </a:p>
        </p:txBody>
      </p:sp>
      <p:sp>
        <p:nvSpPr>
          <p:cNvPr id="27" name="Text 24"/>
          <p:cNvSpPr txBox="1"/>
          <p:nvPr/>
        </p:nvSpPr>
        <p:spPr>
          <a:xfrm>
            <a:off x="8284464" y="3931920"/>
            <a:ext cx="3154680" cy="1005840"/>
          </a:xfrm>
          <a:prstGeom prst="rect">
            <a:avLst/>
          </a:prstGeom>
          <a:noFill/>
          <a:ln/>
        </p:spPr>
        <p:txBody>
          <a:bodyPr wrap="square" lIns="0" tIns="0" rIns="0" bIns="0" rtlCol="0" anchor="t"/>
          <a:lstStyle/>
          <a:p>
            <a:pPr indent="0" marL="0">
              <a:lnSpc>
                <a:spcPct val="105000"/>
              </a:lnSpc>
              <a:buNone/>
            </a:pPr>
            <a:r>
              <a:rPr lang="en-US" sz="1050" dirty="0">
                <a:solidFill>
                  <a:srgbClr val="FFFFFF"/>
                </a:solidFill>
                <a:latin typeface="Helvetica Neue" pitchFamily="34" charset="0"/>
                <a:ea typeface="Helvetica Neue" pitchFamily="34" charset="-122"/>
                <a:cs typeface="Helvetica Neue" pitchFamily="34" charset="-120"/>
              </a:rPr>
              <a:t>Nothing is published on the method (Jev). Calibration is a group property, never a per-answer guarantee.</a:t>
            </a:r>
            <a:endParaRPr lang="en-US" sz="1050" dirty="0"/>
          </a:p>
        </p:txBody>
      </p:sp>
      <p:sp>
        <p:nvSpPr>
          <p:cNvPr id="28" name="Shape 25"/>
          <p:cNvSpPr/>
          <p:nvPr/>
        </p:nvSpPr>
        <p:spPr>
          <a:xfrm>
            <a:off x="502920" y="5212080"/>
            <a:ext cx="11185855" cy="960120"/>
          </a:xfrm>
          <a:prstGeom prst="roundRect">
            <a:avLst>
              <a:gd name="adj" fmla="val 7619"/>
            </a:avLst>
          </a:prstGeom>
          <a:solidFill>
            <a:srgbClr val="FFFFFF"/>
          </a:solidFill>
          <a:ln w="9525">
            <a:solidFill>
              <a:srgbClr val="111111"/>
            </a:solidFill>
            <a:prstDash val="solid"/>
          </a:ln>
        </p:spPr>
      </p:sp>
      <p:pic>
        <p:nvPicPr>
          <p:cNvPr id="29" name="Image 0" descr="preencoded.png">    </p:cNvPr>
          <p:cNvPicPr>
            <a:picLocks noChangeAspect="1"/>
          </p:cNvPicPr>
          <p:nvPr/>
        </p:nvPicPr>
        <p:blipFill>
          <a:blip r:embed="rId1"/>
          <a:stretch>
            <a:fillRect/>
          </a:stretch>
        </p:blipFill>
        <p:spPr>
          <a:xfrm>
            <a:off x="731520" y="5458968"/>
            <a:ext cx="411480" cy="411480"/>
          </a:xfrm>
          <a:prstGeom prst="rect">
            <a:avLst/>
          </a:prstGeom>
        </p:spPr>
      </p:pic>
      <p:sp>
        <p:nvSpPr>
          <p:cNvPr id="30" name="Text 26"/>
          <p:cNvSpPr txBox="1"/>
          <p:nvPr/>
        </p:nvSpPr>
        <p:spPr>
          <a:xfrm>
            <a:off x="1325880" y="5349240"/>
            <a:ext cx="4572000" cy="274320"/>
          </a:xfrm>
          <a:prstGeom prst="rect">
            <a:avLst/>
          </a:prstGeom>
          <a:noFill/>
          <a:ln/>
        </p:spPr>
        <p:txBody>
          <a:bodyPr wrap="square" lIns="0" tIns="0" rIns="0" bIns="0" rtlCol="0" anchor="t"/>
          <a:lstStyle/>
          <a:p>
            <a:pPr indent="0" marL="0">
              <a:buNone/>
            </a:pPr>
            <a:r>
              <a:rPr lang="en-US" sz="1000" dirty="0">
                <a:solidFill>
                  <a:srgbClr val="7A7A7A"/>
                </a:solidFill>
                <a:latin typeface="Helvetica Neue" pitchFamily="34" charset="0"/>
                <a:ea typeface="Helvetica Neue" pitchFamily="34" charset="-122"/>
                <a:cs typeface="Helvetica Neue" pitchFamily="34" charset="-120"/>
              </a:rPr>
              <a:t>Calibration, in one sentence</a:t>
            </a:r>
            <a:endParaRPr lang="en-US" sz="1000" dirty="0"/>
          </a:p>
        </p:txBody>
      </p:sp>
      <p:sp>
        <p:nvSpPr>
          <p:cNvPr id="31" name="Text 27"/>
          <p:cNvSpPr txBox="1"/>
          <p:nvPr/>
        </p:nvSpPr>
        <p:spPr>
          <a:xfrm>
            <a:off x="1325880" y="5596128"/>
            <a:ext cx="10241280" cy="548640"/>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Outcomes the model assigns 0.2 should happen about 20% of the time; 0.8 about 80% of the time. These rates describe groups of predictions, not a guarantee about any single answer.</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37744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Laya</a:t>
            </a:r>
            <a:endParaRPr lang="en-US" sz="4800" dirty="0"/>
          </a:p>
        </p:txBody>
      </p:sp>
      <p:sp>
        <p:nvSpPr>
          <p:cNvPr id="5" name="Text 1"/>
          <p:cNvSpPr txBox="1"/>
          <p:nvPr/>
        </p:nvSpPr>
        <p:spPr>
          <a:xfrm>
            <a:off x="502920" y="329184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The open-weight System One model · Apache 2.0 · released 18 September 2026</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SECTION 03</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2026</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Laya: a 421M-parameter, non-autoregressive decision engine you can run and fine-tune yourself</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LAYA · OVERVIEW</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10</a:t>
            </a:r>
            <a:endParaRPr lang="en-US" sz="900" dirty="0"/>
          </a:p>
        </p:txBody>
      </p:sp>
      <p:sp>
        <p:nvSpPr>
          <p:cNvPr id="6" name="Text 3"/>
          <p:cNvSpPr txBox="1"/>
          <p:nvPr/>
        </p:nvSpPr>
        <p:spPr>
          <a:xfrm>
            <a:off x="502920" y="1828800"/>
            <a:ext cx="2560320" cy="566928"/>
          </a:xfrm>
          <a:prstGeom prst="rect">
            <a:avLst/>
          </a:prstGeom>
          <a:noFill/>
          <a:ln/>
        </p:spPr>
        <p:txBody>
          <a:bodyPr wrap="square" lIns="0" tIns="0" rIns="0" bIns="0" rtlCol="0" anchor="t"/>
          <a:lstStyle/>
          <a:p>
            <a:pPr indent="0" marL="0">
              <a:buNone/>
            </a:pPr>
            <a:r>
              <a:rPr lang="en-US" sz="3000" dirty="0">
                <a:solidFill>
                  <a:srgbClr val="111111"/>
                </a:solidFill>
                <a:latin typeface="Helvetica Neue" pitchFamily="34" charset="0"/>
                <a:ea typeface="Helvetica Neue" pitchFamily="34" charset="-122"/>
                <a:cs typeface="Helvetica Neue" pitchFamily="34" charset="-120"/>
              </a:rPr>
              <a:t>32.8 ms</a:t>
            </a:r>
            <a:endParaRPr lang="en-US" sz="3000" dirty="0"/>
          </a:p>
        </p:txBody>
      </p:sp>
      <p:sp>
        <p:nvSpPr>
          <p:cNvPr id="7" name="Text 4"/>
          <p:cNvSpPr txBox="1"/>
          <p:nvPr/>
        </p:nvSpPr>
        <p:spPr>
          <a:xfrm>
            <a:off x="502920" y="2432304"/>
            <a:ext cx="2560320" cy="457200"/>
          </a:xfrm>
          <a:prstGeom prst="rect">
            <a:avLst/>
          </a:prstGeom>
          <a:noFill/>
          <a:ln/>
        </p:spPr>
        <p:txBody>
          <a:bodyPr wrap="square" lIns="0" tIns="0" rIns="0" bIns="0" rtlCol="0" anchor="t"/>
          <a:lstStyle/>
          <a:p>
            <a:pPr indent="0" marL="0">
              <a:lnSpc>
                <a:spcPct val="100000"/>
              </a:lnSpc>
              <a:buNone/>
            </a:pPr>
            <a:r>
              <a:rPr lang="en-US" sz="1250" dirty="0">
                <a:solidFill>
                  <a:srgbClr val="2E2E2E"/>
                </a:solidFill>
                <a:latin typeface="Helvetica Neue" pitchFamily="34" charset="0"/>
                <a:ea typeface="Helvetica Neue" pitchFamily="34" charset="-122"/>
                <a:cs typeface="Helvetica Neue" pitchFamily="34" charset="-120"/>
              </a:rPr>
              <a:t>single question on a Tesla T4 (39.5 ms English checkpoint)</a:t>
            </a:r>
            <a:endParaRPr lang="en-US" sz="1250" dirty="0"/>
          </a:p>
        </p:txBody>
      </p:sp>
      <p:sp>
        <p:nvSpPr>
          <p:cNvPr id="8" name="Text 5"/>
          <p:cNvSpPr txBox="1"/>
          <p:nvPr/>
        </p:nvSpPr>
        <p:spPr>
          <a:xfrm>
            <a:off x="3337560" y="1828800"/>
            <a:ext cx="2560320" cy="566928"/>
          </a:xfrm>
          <a:prstGeom prst="rect">
            <a:avLst/>
          </a:prstGeom>
          <a:noFill/>
          <a:ln/>
        </p:spPr>
        <p:txBody>
          <a:bodyPr wrap="square" lIns="0" tIns="0" rIns="0" bIns="0" rtlCol="0" anchor="t"/>
          <a:lstStyle/>
          <a:p>
            <a:pPr indent="0" marL="0">
              <a:buNone/>
            </a:pPr>
            <a:r>
              <a:rPr lang="en-US" sz="3000" dirty="0">
                <a:solidFill>
                  <a:srgbClr val="111111"/>
                </a:solidFill>
                <a:latin typeface="Helvetica Neue" pitchFamily="34" charset="0"/>
                <a:ea typeface="Helvetica Neue" pitchFamily="34" charset="-122"/>
                <a:cs typeface="Helvetica Neue" pitchFamily="34" charset="-120"/>
              </a:rPr>
              <a:t>7.2 ms</a:t>
            </a:r>
            <a:endParaRPr lang="en-US" sz="3000" dirty="0"/>
          </a:p>
        </p:txBody>
      </p:sp>
      <p:sp>
        <p:nvSpPr>
          <p:cNvPr id="9" name="Text 6"/>
          <p:cNvSpPr txBox="1"/>
          <p:nvPr/>
        </p:nvSpPr>
        <p:spPr>
          <a:xfrm>
            <a:off x="3337560" y="2432304"/>
            <a:ext cx="2560320" cy="457200"/>
          </a:xfrm>
          <a:prstGeom prst="rect">
            <a:avLst/>
          </a:prstGeom>
          <a:noFill/>
          <a:ln/>
        </p:spPr>
        <p:txBody>
          <a:bodyPr wrap="square" lIns="0" tIns="0" rIns="0" bIns="0" rtlCol="0" anchor="t"/>
          <a:lstStyle/>
          <a:p>
            <a:pPr indent="0" marL="0">
              <a:lnSpc>
                <a:spcPct val="100000"/>
              </a:lnSpc>
              <a:buNone/>
            </a:pPr>
            <a:r>
              <a:rPr lang="en-US" sz="1250" dirty="0">
                <a:solidFill>
                  <a:srgbClr val="2E2E2E"/>
                </a:solidFill>
                <a:latin typeface="Helvetica Neue" pitchFamily="34" charset="0"/>
                <a:ea typeface="Helvetica Neue" pitchFamily="34" charset="-122"/>
                <a:cs typeface="Helvetica Neue" pitchFamily="34" charset="-120"/>
              </a:rPr>
              <a:t>per question with 10 batched; 103–332 q/s on one T4</a:t>
            </a:r>
            <a:endParaRPr lang="en-US" sz="1250" dirty="0"/>
          </a:p>
        </p:txBody>
      </p:sp>
      <p:sp>
        <p:nvSpPr>
          <p:cNvPr id="10" name="Text 7"/>
          <p:cNvSpPr txBox="1"/>
          <p:nvPr/>
        </p:nvSpPr>
        <p:spPr>
          <a:xfrm>
            <a:off x="6172200" y="1828800"/>
            <a:ext cx="2560320" cy="566928"/>
          </a:xfrm>
          <a:prstGeom prst="rect">
            <a:avLst/>
          </a:prstGeom>
          <a:noFill/>
          <a:ln/>
        </p:spPr>
        <p:txBody>
          <a:bodyPr wrap="square" lIns="0" tIns="0" rIns="0" bIns="0" rtlCol="0" anchor="t"/>
          <a:lstStyle/>
          <a:p>
            <a:pPr indent="0" marL="0">
              <a:buNone/>
            </a:pPr>
            <a:r>
              <a:rPr lang="en-US" sz="3000" dirty="0">
                <a:solidFill>
                  <a:srgbClr val="111111"/>
                </a:solidFill>
                <a:latin typeface="Helvetica Neue" pitchFamily="34" charset="0"/>
                <a:ea typeface="Helvetica Neue" pitchFamily="34" charset="-122"/>
                <a:cs typeface="Helvetica Neue" pitchFamily="34" charset="-120"/>
              </a:rPr>
              <a:t>100+</a:t>
            </a:r>
            <a:endParaRPr lang="en-US" sz="3000" dirty="0"/>
          </a:p>
        </p:txBody>
      </p:sp>
      <p:sp>
        <p:nvSpPr>
          <p:cNvPr id="11" name="Text 8"/>
          <p:cNvSpPr txBox="1"/>
          <p:nvPr/>
        </p:nvSpPr>
        <p:spPr>
          <a:xfrm>
            <a:off x="6172200" y="2432304"/>
            <a:ext cx="2560320" cy="457200"/>
          </a:xfrm>
          <a:prstGeom prst="rect">
            <a:avLst/>
          </a:prstGeom>
          <a:noFill/>
          <a:ln/>
        </p:spPr>
        <p:txBody>
          <a:bodyPr wrap="square" lIns="0" tIns="0" rIns="0" bIns="0" rtlCol="0" anchor="t"/>
          <a:lstStyle/>
          <a:p>
            <a:pPr indent="0" marL="0">
              <a:lnSpc>
                <a:spcPct val="100000"/>
              </a:lnSpc>
              <a:buNone/>
            </a:pPr>
            <a:r>
              <a:rPr lang="en-US" sz="1250" dirty="0">
                <a:solidFill>
                  <a:srgbClr val="2E2E2E"/>
                </a:solidFill>
                <a:latin typeface="Helvetica Neue" pitchFamily="34" charset="0"/>
                <a:ea typeface="Helvetica Neue" pitchFamily="34" charset="-122"/>
                <a:cs typeface="Helvetica Neue" pitchFamily="34" charset="-120"/>
              </a:rPr>
              <a:t>languages via the multilingual checkpoint and script router</a:t>
            </a:r>
            <a:endParaRPr lang="en-US" sz="1250" dirty="0"/>
          </a:p>
        </p:txBody>
      </p:sp>
      <p:sp>
        <p:nvSpPr>
          <p:cNvPr id="12" name="Text 9"/>
          <p:cNvSpPr txBox="1"/>
          <p:nvPr/>
        </p:nvSpPr>
        <p:spPr>
          <a:xfrm>
            <a:off x="9006840" y="1828800"/>
            <a:ext cx="2560320" cy="566928"/>
          </a:xfrm>
          <a:prstGeom prst="rect">
            <a:avLst/>
          </a:prstGeom>
          <a:noFill/>
          <a:ln/>
        </p:spPr>
        <p:txBody>
          <a:bodyPr wrap="square" lIns="0" tIns="0" rIns="0" bIns="0" rtlCol="0" anchor="t"/>
          <a:lstStyle/>
          <a:p>
            <a:pPr indent="0" marL="0">
              <a:buNone/>
            </a:pPr>
            <a:r>
              <a:rPr lang="en-US" sz="3000" dirty="0">
                <a:solidFill>
                  <a:srgbClr val="111111"/>
                </a:solidFill>
                <a:latin typeface="Helvetica Neue" pitchFamily="34" charset="0"/>
                <a:ea typeface="Helvetica Neue" pitchFamily="34" charset="-122"/>
                <a:cs typeface="Helvetica Neue" pitchFamily="34" charset="-120"/>
              </a:rPr>
              <a:t>$0</a:t>
            </a:r>
            <a:endParaRPr lang="en-US" sz="3000" dirty="0"/>
          </a:p>
        </p:txBody>
      </p:sp>
      <p:sp>
        <p:nvSpPr>
          <p:cNvPr id="13" name="Text 10"/>
          <p:cNvSpPr txBox="1"/>
          <p:nvPr/>
        </p:nvSpPr>
        <p:spPr>
          <a:xfrm>
            <a:off x="9006840" y="2432304"/>
            <a:ext cx="2560320" cy="457200"/>
          </a:xfrm>
          <a:prstGeom prst="rect">
            <a:avLst/>
          </a:prstGeom>
          <a:noFill/>
          <a:ln/>
        </p:spPr>
        <p:txBody>
          <a:bodyPr wrap="square" lIns="0" tIns="0" rIns="0" bIns="0" rtlCol="0" anchor="t"/>
          <a:lstStyle/>
          <a:p>
            <a:pPr indent="0" marL="0">
              <a:lnSpc>
                <a:spcPct val="100000"/>
              </a:lnSpc>
              <a:buNone/>
            </a:pPr>
            <a:r>
              <a:rPr lang="en-US" sz="1250" dirty="0">
                <a:solidFill>
                  <a:srgbClr val="2E2E2E"/>
                </a:solidFill>
                <a:latin typeface="Helvetica Neue" pitchFamily="34" charset="0"/>
                <a:ea typeface="Helvetica Neue" pitchFamily="34" charset="-122"/>
                <a:cs typeface="Helvetica Neue" pitchFamily="34" charset="-120"/>
              </a:rPr>
              <a:t>per token, self-hosted · Apache 2.0 weights on Hugging Face</a:t>
            </a:r>
            <a:endParaRPr lang="en-US" sz="1250" dirty="0"/>
          </a:p>
        </p:txBody>
      </p:sp>
      <p:sp>
        <p:nvSpPr>
          <p:cNvPr id="14" name="Shape 11"/>
          <p:cNvSpPr/>
          <p:nvPr/>
        </p:nvSpPr>
        <p:spPr>
          <a:xfrm>
            <a:off x="502920" y="3246120"/>
            <a:ext cx="11185855" cy="0"/>
          </a:xfrm>
          <a:prstGeom prst="line">
            <a:avLst/>
          </a:prstGeom>
          <a:noFill/>
          <a:ln w="9525">
            <a:solidFill>
              <a:srgbClr val="E8E8E8"/>
            </a:solidFill>
            <a:prstDash val="solid"/>
          </a:ln>
        </p:spPr>
      </p:sp>
      <p:sp>
        <p:nvSpPr>
          <p:cNvPr id="15" name="Text 12"/>
          <p:cNvSpPr txBox="1"/>
          <p:nvPr/>
        </p:nvSpPr>
        <p:spPr>
          <a:xfrm>
            <a:off x="502920" y="3429000"/>
            <a:ext cx="3657600" cy="274320"/>
          </a:xfrm>
          <a:prstGeom prst="rect">
            <a:avLst/>
          </a:prstGeom>
          <a:noFill/>
          <a:ln/>
        </p:spPr>
        <p:txBody>
          <a:bodyPr wrap="square" lIns="0" tIns="0" rIns="0" bIns="0" rtlCol="0" anchor="t"/>
          <a:lstStyle/>
          <a:p>
            <a:pPr indent="0" marL="0">
              <a:buNone/>
            </a:pPr>
            <a:r>
              <a:rPr lang="en-US" sz="1100" dirty="0">
                <a:solidFill>
                  <a:srgbClr val="7A7A7A"/>
                </a:solidFill>
                <a:latin typeface="Helvetica Neue" pitchFamily="34" charset="0"/>
                <a:ea typeface="Helvetica Neue" pitchFamily="34" charset="-122"/>
                <a:cs typeface="Helvetica Neue" pitchFamily="34" charset="-120"/>
              </a:rPr>
              <a:t>How it decides</a:t>
            </a:r>
            <a:endParaRPr lang="en-US" sz="1100" dirty="0"/>
          </a:p>
        </p:txBody>
      </p:sp>
      <p:sp>
        <p:nvSpPr>
          <p:cNvPr id="16" name="Shape 13"/>
          <p:cNvSpPr/>
          <p:nvPr/>
        </p:nvSpPr>
        <p:spPr>
          <a:xfrm>
            <a:off x="502920" y="3749040"/>
            <a:ext cx="3291840" cy="502920"/>
          </a:xfrm>
          <a:prstGeom prst="roundRect">
            <a:avLst>
              <a:gd name="adj" fmla="val 14545"/>
            </a:avLst>
          </a:prstGeom>
          <a:solidFill>
            <a:srgbClr val="FFFFFF"/>
          </a:solidFill>
          <a:ln w="9525">
            <a:solidFill>
              <a:srgbClr val="111111"/>
            </a:solidFill>
            <a:prstDash val="solid"/>
          </a:ln>
        </p:spPr>
      </p:sp>
      <p:sp>
        <p:nvSpPr>
          <p:cNvPr id="17" name="Text 14"/>
          <p:cNvSpPr txBox="1"/>
          <p:nvPr/>
        </p:nvSpPr>
        <p:spPr>
          <a:xfrm>
            <a:off x="640080" y="3776472"/>
            <a:ext cx="3017520" cy="457200"/>
          </a:xfrm>
          <a:prstGeom prst="rect">
            <a:avLst/>
          </a:prstGeom>
          <a:noFill/>
          <a:ln/>
        </p:spPr>
        <p:txBody>
          <a:bodyPr wrap="square" lIns="0" tIns="0" rIns="0" bIns="0" rtlCol="0" anchor="ctr"/>
          <a:lstStyle/>
          <a:p>
            <a:pPr algn="ctr" indent="0" marL="0">
              <a:buNone/>
            </a:pPr>
            <a:r>
              <a:rPr lang="en-US" sz="950" dirty="0">
                <a:solidFill>
                  <a:srgbClr val="2E2E2E"/>
                </a:solidFill>
                <a:latin typeface="Helvetica Neue" pitchFamily="34" charset="0"/>
                <a:ea typeface="Helvetica Neue" pitchFamily="34" charset="-122"/>
                <a:cs typeface="Helvetica Neue" pitchFamily="34" charset="-120"/>
              </a:rPr>
              <a:t>State + options</a:t>
            </a:r>
            <a:endParaRPr lang="en-US" sz="950" dirty="0"/>
          </a:p>
          <a:p>
            <a:pPr algn="ctr" indent="0" marL="0">
              <a:buNone/>
            </a:pPr>
            <a:r>
              <a:rPr lang="en-US" sz="950" dirty="0">
                <a:solidFill>
                  <a:srgbClr val="2E2E2E"/>
                </a:solidFill>
                <a:latin typeface="Helvetica Neue" pitchFamily="34" charset="0"/>
                <a:ea typeface="Helvetica Neue" pitchFamily="34" charset="-122"/>
                <a:cs typeface="Helvetica Neue" pitchFamily="34" charset="-120"/>
              </a:rPr>
              <a:t>as [MASK] markers</a:t>
            </a:r>
            <a:endParaRPr lang="en-US" sz="950" dirty="0"/>
          </a:p>
        </p:txBody>
      </p:sp>
      <p:sp>
        <p:nvSpPr>
          <p:cNvPr id="18" name="Shape 15"/>
          <p:cNvSpPr/>
          <p:nvPr/>
        </p:nvSpPr>
        <p:spPr>
          <a:xfrm>
            <a:off x="2148840" y="4261104"/>
            <a:ext cx="0" cy="100584"/>
          </a:xfrm>
          <a:prstGeom prst="line">
            <a:avLst/>
          </a:prstGeom>
          <a:noFill/>
          <a:ln w="11430">
            <a:solidFill>
              <a:srgbClr val="111111"/>
            </a:solidFill>
            <a:prstDash val="solid"/>
            <a:tailEnd type="triangle"/>
          </a:ln>
        </p:spPr>
      </p:sp>
      <p:sp>
        <p:nvSpPr>
          <p:cNvPr id="19" name="Shape 16"/>
          <p:cNvSpPr/>
          <p:nvPr/>
        </p:nvSpPr>
        <p:spPr>
          <a:xfrm>
            <a:off x="502920" y="4370832"/>
            <a:ext cx="3291840" cy="502920"/>
          </a:xfrm>
          <a:prstGeom prst="roundRect">
            <a:avLst>
              <a:gd name="adj" fmla="val 14545"/>
            </a:avLst>
          </a:prstGeom>
          <a:solidFill>
            <a:srgbClr val="7B909B"/>
          </a:solidFill>
          <a:ln w="9525">
            <a:solidFill>
              <a:srgbClr val="7B909B"/>
            </a:solidFill>
            <a:prstDash val="solid"/>
          </a:ln>
        </p:spPr>
      </p:sp>
      <p:sp>
        <p:nvSpPr>
          <p:cNvPr id="20" name="Text 17"/>
          <p:cNvSpPr txBox="1"/>
          <p:nvPr/>
        </p:nvSpPr>
        <p:spPr>
          <a:xfrm>
            <a:off x="640080" y="4398264"/>
            <a:ext cx="3017520" cy="457200"/>
          </a:xfrm>
          <a:prstGeom prst="rect">
            <a:avLst/>
          </a:prstGeom>
          <a:noFill/>
          <a:ln/>
        </p:spPr>
        <p:txBody>
          <a:bodyPr wrap="square" lIns="0" tIns="0" rIns="0" bIns="0" rtlCol="0" anchor="ctr"/>
          <a:lstStyle/>
          <a:p>
            <a:pPr algn="ctr" indent="0" marL="0">
              <a:buNone/>
            </a:pPr>
            <a:r>
              <a:rPr lang="en-US" sz="950" dirty="0">
                <a:solidFill>
                  <a:srgbClr val="FFFFFF"/>
                </a:solidFill>
                <a:latin typeface="Helvetica Neue" pitchFamily="34" charset="0"/>
                <a:ea typeface="Helvetica Neue" pitchFamily="34" charset="-122"/>
                <a:cs typeface="Helvetica Neue" pitchFamily="34" charset="-120"/>
              </a:rPr>
              <a:t>Bidirectional encoder</a:t>
            </a:r>
            <a:endParaRPr lang="en-US" sz="950" dirty="0"/>
          </a:p>
          <a:p>
            <a:pPr algn="ctr" indent="0" marL="0">
              <a:buNone/>
            </a:pPr>
            <a:r>
              <a:rPr lang="en-US" sz="950" dirty="0">
                <a:solidFill>
                  <a:srgbClr val="FFFFFF"/>
                </a:solidFill>
                <a:latin typeface="Helvetica Neue" pitchFamily="34" charset="0"/>
                <a:ea typeface="Helvetica Neue" pitchFamily="34" charset="-122"/>
                <a:cs typeface="Helvetica Neue" pitchFamily="34" charset="-120"/>
              </a:rPr>
              <a:t>ModernBERT / mmBERT</a:t>
            </a:r>
            <a:endParaRPr lang="en-US" sz="950" dirty="0"/>
          </a:p>
        </p:txBody>
      </p:sp>
      <p:sp>
        <p:nvSpPr>
          <p:cNvPr id="21" name="Shape 18"/>
          <p:cNvSpPr/>
          <p:nvPr/>
        </p:nvSpPr>
        <p:spPr>
          <a:xfrm>
            <a:off x="2148840" y="4882896"/>
            <a:ext cx="0" cy="100584"/>
          </a:xfrm>
          <a:prstGeom prst="line">
            <a:avLst/>
          </a:prstGeom>
          <a:noFill/>
          <a:ln w="11430">
            <a:solidFill>
              <a:srgbClr val="111111"/>
            </a:solidFill>
            <a:prstDash val="solid"/>
            <a:tailEnd type="triangle"/>
          </a:ln>
        </p:spPr>
      </p:sp>
      <p:sp>
        <p:nvSpPr>
          <p:cNvPr id="22" name="Shape 19"/>
          <p:cNvSpPr/>
          <p:nvPr/>
        </p:nvSpPr>
        <p:spPr>
          <a:xfrm>
            <a:off x="502920" y="4992624"/>
            <a:ext cx="3291840" cy="502920"/>
          </a:xfrm>
          <a:prstGeom prst="roundRect">
            <a:avLst>
              <a:gd name="adj" fmla="val 14545"/>
            </a:avLst>
          </a:prstGeom>
          <a:solidFill>
            <a:srgbClr val="7B909B"/>
          </a:solidFill>
          <a:ln w="9525">
            <a:solidFill>
              <a:srgbClr val="7B909B"/>
            </a:solidFill>
            <a:prstDash val="solid"/>
          </a:ln>
        </p:spPr>
      </p:sp>
      <p:sp>
        <p:nvSpPr>
          <p:cNvPr id="23" name="Text 20"/>
          <p:cNvSpPr txBox="1"/>
          <p:nvPr/>
        </p:nvSpPr>
        <p:spPr>
          <a:xfrm>
            <a:off x="640080" y="5020056"/>
            <a:ext cx="3017520" cy="457200"/>
          </a:xfrm>
          <a:prstGeom prst="rect">
            <a:avLst/>
          </a:prstGeom>
          <a:noFill/>
          <a:ln/>
        </p:spPr>
        <p:txBody>
          <a:bodyPr wrap="square" lIns="0" tIns="0" rIns="0" bIns="0" rtlCol="0" anchor="ctr"/>
          <a:lstStyle/>
          <a:p>
            <a:pPr algn="ctr" indent="0" marL="0">
              <a:buNone/>
            </a:pPr>
            <a:r>
              <a:rPr lang="en-US" sz="950" dirty="0">
                <a:solidFill>
                  <a:srgbClr val="FFFFFF"/>
                </a:solidFill>
                <a:latin typeface="Helvetica Neue" pitchFamily="34" charset="0"/>
                <a:ea typeface="Helvetica Neue" pitchFamily="34" charset="-122"/>
                <a:cs typeface="Helvetica Neue" pitchFamily="34" charset="-120"/>
              </a:rPr>
              <a:t>Decision head</a:t>
            </a:r>
            <a:endParaRPr lang="en-US" sz="950" dirty="0"/>
          </a:p>
          <a:p>
            <a:pPr algn="ctr" indent="0" marL="0">
              <a:buNone/>
            </a:pPr>
            <a:r>
              <a:rPr lang="en-US" sz="950" dirty="0">
                <a:solidFill>
                  <a:srgbClr val="FFFFFF"/>
                </a:solidFill>
                <a:latin typeface="Helvetica Neue" pitchFamily="34" charset="0"/>
                <a:ea typeface="Helvetica Neue" pitchFamily="34" charset="-122"/>
                <a:cs typeface="Helvetica Neue" pitchFamily="34" charset="-120"/>
              </a:rPr>
              <a:t>2 layers · scorer · gate</a:t>
            </a:r>
            <a:endParaRPr lang="en-US" sz="950" dirty="0"/>
          </a:p>
        </p:txBody>
      </p:sp>
      <p:sp>
        <p:nvSpPr>
          <p:cNvPr id="24" name="Shape 21"/>
          <p:cNvSpPr/>
          <p:nvPr/>
        </p:nvSpPr>
        <p:spPr>
          <a:xfrm>
            <a:off x="2148840" y="5504688"/>
            <a:ext cx="0" cy="100584"/>
          </a:xfrm>
          <a:prstGeom prst="line">
            <a:avLst/>
          </a:prstGeom>
          <a:noFill/>
          <a:ln w="11430">
            <a:solidFill>
              <a:srgbClr val="111111"/>
            </a:solidFill>
            <a:prstDash val="solid"/>
            <a:tailEnd type="triangle"/>
          </a:ln>
        </p:spPr>
      </p:sp>
      <p:sp>
        <p:nvSpPr>
          <p:cNvPr id="25" name="Shape 22"/>
          <p:cNvSpPr/>
          <p:nvPr/>
        </p:nvSpPr>
        <p:spPr>
          <a:xfrm>
            <a:off x="502920" y="5614416"/>
            <a:ext cx="3291840" cy="502920"/>
          </a:xfrm>
          <a:prstGeom prst="roundRect">
            <a:avLst>
              <a:gd name="adj" fmla="val 14545"/>
            </a:avLst>
          </a:prstGeom>
          <a:solidFill>
            <a:srgbClr val="FFFFFF"/>
          </a:solidFill>
          <a:ln w="9525">
            <a:solidFill>
              <a:srgbClr val="111111"/>
            </a:solidFill>
            <a:prstDash val="solid"/>
          </a:ln>
        </p:spPr>
      </p:sp>
      <p:sp>
        <p:nvSpPr>
          <p:cNvPr id="26" name="Text 23"/>
          <p:cNvSpPr txBox="1"/>
          <p:nvPr/>
        </p:nvSpPr>
        <p:spPr>
          <a:xfrm>
            <a:off x="640080" y="5641848"/>
            <a:ext cx="3017520" cy="457200"/>
          </a:xfrm>
          <a:prstGeom prst="rect">
            <a:avLst/>
          </a:prstGeom>
          <a:noFill/>
          <a:ln/>
        </p:spPr>
        <p:txBody>
          <a:bodyPr wrap="square" lIns="0" tIns="0" rIns="0" bIns="0" rtlCol="0" anchor="ctr"/>
          <a:lstStyle/>
          <a:p>
            <a:pPr algn="ctr" indent="0" marL="0">
              <a:buNone/>
            </a:pPr>
            <a:r>
              <a:rPr lang="en-US" sz="950" dirty="0">
                <a:solidFill>
                  <a:srgbClr val="2E2E2E"/>
                </a:solidFill>
                <a:latin typeface="Helvetica Neue" pitchFamily="34" charset="0"/>
                <a:ea typeface="Helvetica Neue" pitchFamily="34" charset="-122"/>
                <a:cs typeface="Helvetica Neue" pitchFamily="34" charset="-120"/>
              </a:rPr>
              <a:t>Softmax per question</a:t>
            </a:r>
            <a:endParaRPr lang="en-US" sz="950" dirty="0"/>
          </a:p>
          <a:p>
            <a:pPr algn="ctr" indent="0" marL="0">
              <a:buNone/>
            </a:pPr>
            <a:r>
              <a:rPr lang="en-US" sz="950" dirty="0">
                <a:solidFill>
                  <a:srgbClr val="2E2E2E"/>
                </a:solidFill>
                <a:latin typeface="Helvetica Neue" pitchFamily="34" charset="0"/>
                <a:ea typeface="Helvetica Neue" pitchFamily="34" charset="-122"/>
                <a:cs typeface="Helvetica Neue" pitchFamily="34" charset="-120"/>
              </a:rPr>
              <a:t>choice · score · noul</a:t>
            </a:r>
            <a:endParaRPr lang="en-US" sz="950" dirty="0"/>
          </a:p>
        </p:txBody>
      </p:sp>
      <p:sp>
        <p:nvSpPr>
          <p:cNvPr id="27" name="Text 24"/>
          <p:cNvSpPr txBox="1"/>
          <p:nvPr/>
        </p:nvSpPr>
        <p:spPr>
          <a:xfrm>
            <a:off x="4206240" y="3429000"/>
            <a:ext cx="5486400" cy="274320"/>
          </a:xfrm>
          <a:prstGeom prst="rect">
            <a:avLst/>
          </a:prstGeom>
          <a:noFill/>
          <a:ln/>
        </p:spPr>
        <p:txBody>
          <a:bodyPr wrap="square" lIns="0" tIns="0" rIns="0" bIns="0" rtlCol="0" anchor="t"/>
          <a:lstStyle/>
          <a:p>
            <a:pPr indent="0" marL="0">
              <a:buNone/>
            </a:pPr>
            <a:r>
              <a:rPr lang="en-US" sz="1100" dirty="0">
                <a:solidFill>
                  <a:srgbClr val="7A7A7A"/>
                </a:solidFill>
                <a:latin typeface="Helvetica Neue" pitchFamily="34" charset="0"/>
                <a:ea typeface="Helvetica Neue" pitchFamily="34" charset="-122"/>
                <a:cs typeface="Helvetica Neue" pitchFamily="34" charset="-120"/>
              </a:rPr>
              <a:t>Three checkpoints, one router</a:t>
            </a:r>
            <a:endParaRPr lang="en-US" sz="1100" dirty="0"/>
          </a:p>
        </p:txBody>
      </p:sp>
      <p:sp>
        <p:nvSpPr>
          <p:cNvPr id="28" name="Text 25"/>
          <p:cNvSpPr txBox="1"/>
          <p:nvPr/>
        </p:nvSpPr>
        <p:spPr>
          <a:xfrm>
            <a:off x="4206240" y="3749040"/>
            <a:ext cx="173736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Checkpoint</a:t>
            </a:r>
            <a:endParaRPr lang="en-US" sz="900" dirty="0"/>
          </a:p>
        </p:txBody>
      </p:sp>
      <p:sp>
        <p:nvSpPr>
          <p:cNvPr id="29" name="Text 26"/>
          <p:cNvSpPr txBox="1"/>
          <p:nvPr/>
        </p:nvSpPr>
        <p:spPr>
          <a:xfrm>
            <a:off x="5989320" y="3749040"/>
            <a:ext cx="187452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Backbone</a:t>
            </a:r>
            <a:endParaRPr lang="en-US" sz="900" dirty="0"/>
          </a:p>
        </p:txBody>
      </p:sp>
      <p:sp>
        <p:nvSpPr>
          <p:cNvPr id="30" name="Text 27"/>
          <p:cNvSpPr txBox="1"/>
          <p:nvPr/>
        </p:nvSpPr>
        <p:spPr>
          <a:xfrm>
            <a:off x="7909560" y="3749040"/>
            <a:ext cx="73152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Params</a:t>
            </a:r>
            <a:endParaRPr lang="en-US" sz="900" dirty="0"/>
          </a:p>
        </p:txBody>
      </p:sp>
      <p:sp>
        <p:nvSpPr>
          <p:cNvPr id="31" name="Text 28"/>
          <p:cNvSpPr txBox="1"/>
          <p:nvPr/>
        </p:nvSpPr>
        <p:spPr>
          <a:xfrm>
            <a:off x="8686800" y="3749040"/>
            <a:ext cx="105156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Context</a:t>
            </a:r>
            <a:endParaRPr lang="en-US" sz="900" dirty="0"/>
          </a:p>
        </p:txBody>
      </p:sp>
      <p:sp>
        <p:nvSpPr>
          <p:cNvPr id="32" name="Text 29"/>
          <p:cNvSpPr txBox="1"/>
          <p:nvPr/>
        </p:nvSpPr>
        <p:spPr>
          <a:xfrm>
            <a:off x="9784080" y="3749040"/>
            <a:ext cx="1920240" cy="228600"/>
          </a:xfrm>
          <a:prstGeom prst="rect">
            <a:avLst/>
          </a:prstGeom>
          <a:noFill/>
          <a:ln/>
        </p:spPr>
        <p:txBody>
          <a:bodyPr wrap="square" lIns="0" tIns="0" rIns="0" bIns="0" rtlCol="0" anchor="t"/>
          <a:lstStyle/>
          <a:p>
            <a:pPr indent="0" marL="0">
              <a:buNone/>
            </a:pPr>
            <a:r>
              <a:rPr lang="en-US" sz="900" dirty="0">
                <a:solidFill>
                  <a:srgbClr val="7A7A7A"/>
                </a:solidFill>
                <a:latin typeface="Helvetica Neue" pitchFamily="34" charset="0"/>
                <a:ea typeface="Helvetica Neue" pitchFamily="34" charset="-122"/>
                <a:cs typeface="Helvetica Neue" pitchFamily="34" charset="-120"/>
              </a:rPr>
              <a:t>Use for</a:t>
            </a:r>
            <a:endParaRPr lang="en-US" sz="900" dirty="0"/>
          </a:p>
        </p:txBody>
      </p:sp>
      <p:sp>
        <p:nvSpPr>
          <p:cNvPr id="33" name="Shape 30"/>
          <p:cNvSpPr/>
          <p:nvPr/>
        </p:nvSpPr>
        <p:spPr>
          <a:xfrm>
            <a:off x="4206240" y="4023360"/>
            <a:ext cx="7498080" cy="0"/>
          </a:xfrm>
          <a:prstGeom prst="line">
            <a:avLst/>
          </a:prstGeom>
          <a:noFill/>
          <a:ln w="9525">
            <a:solidFill>
              <a:srgbClr val="C1C1C1"/>
            </a:solidFill>
            <a:prstDash val="solid"/>
          </a:ln>
        </p:spPr>
      </p:sp>
      <p:sp>
        <p:nvSpPr>
          <p:cNvPr id="34" name="Text 31"/>
          <p:cNvSpPr txBox="1"/>
          <p:nvPr/>
        </p:nvSpPr>
        <p:spPr>
          <a:xfrm>
            <a:off x="4206240" y="4114800"/>
            <a:ext cx="1737360" cy="640080"/>
          </a:xfrm>
          <a:prstGeom prst="rect">
            <a:avLst/>
          </a:prstGeom>
          <a:noFill/>
          <a:ln/>
        </p:spPr>
        <p:txBody>
          <a:bodyPr wrap="square" lIns="0" tIns="0" rIns="0" bIns="0" rtlCol="0" anchor="t"/>
          <a:lstStyle/>
          <a:p>
            <a:pPr indent="0" marL="0">
              <a:lnSpc>
                <a:spcPct val="105000"/>
              </a:lnSpc>
              <a:buNone/>
            </a:pPr>
            <a:r>
              <a:rPr lang="en-US" sz="1000" dirty="0">
                <a:solidFill>
                  <a:srgbClr val="111111"/>
                </a:solidFill>
                <a:latin typeface="Courier New" pitchFamily="34" charset="0"/>
                <a:ea typeface="Courier New" pitchFamily="34" charset="-122"/>
                <a:cs typeface="Courier New" pitchFamily="34" charset="-120"/>
              </a:rPr>
              <a:t>laya</a:t>
            </a:r>
            <a:endParaRPr lang="en-US" sz="1000" dirty="0"/>
          </a:p>
        </p:txBody>
      </p:sp>
      <p:sp>
        <p:nvSpPr>
          <p:cNvPr id="35" name="Text 32"/>
          <p:cNvSpPr txBox="1"/>
          <p:nvPr/>
        </p:nvSpPr>
        <p:spPr>
          <a:xfrm>
            <a:off x="5989320" y="4114800"/>
            <a:ext cx="1874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ModernBERT-large</a:t>
            </a:r>
            <a:endParaRPr lang="en-US" sz="950" dirty="0"/>
          </a:p>
        </p:txBody>
      </p:sp>
      <p:sp>
        <p:nvSpPr>
          <p:cNvPr id="36" name="Text 33"/>
          <p:cNvSpPr txBox="1"/>
          <p:nvPr/>
        </p:nvSpPr>
        <p:spPr>
          <a:xfrm>
            <a:off x="7909560" y="4114800"/>
            <a:ext cx="731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421M</a:t>
            </a:r>
            <a:endParaRPr lang="en-US" sz="950" dirty="0"/>
          </a:p>
        </p:txBody>
      </p:sp>
      <p:sp>
        <p:nvSpPr>
          <p:cNvPr id="37" name="Text 34"/>
          <p:cNvSpPr txBox="1"/>
          <p:nvPr/>
        </p:nvSpPr>
        <p:spPr>
          <a:xfrm>
            <a:off x="8686800" y="4114800"/>
            <a:ext cx="105156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512</a:t>
            </a:r>
            <a:endParaRPr lang="en-US" sz="950" dirty="0"/>
          </a:p>
        </p:txBody>
      </p:sp>
      <p:sp>
        <p:nvSpPr>
          <p:cNvPr id="38" name="Text 35"/>
          <p:cNvSpPr txBox="1"/>
          <p:nvPr/>
        </p:nvSpPr>
        <p:spPr>
          <a:xfrm>
            <a:off x="9784080" y="4114800"/>
            <a:ext cx="192024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English text, guardrails, email triage</a:t>
            </a:r>
            <a:endParaRPr lang="en-US" sz="950" dirty="0"/>
          </a:p>
        </p:txBody>
      </p:sp>
      <p:sp>
        <p:nvSpPr>
          <p:cNvPr id="39" name="Shape 36"/>
          <p:cNvSpPr/>
          <p:nvPr/>
        </p:nvSpPr>
        <p:spPr>
          <a:xfrm>
            <a:off x="4206240" y="4754880"/>
            <a:ext cx="7498080" cy="0"/>
          </a:xfrm>
          <a:prstGeom prst="line">
            <a:avLst/>
          </a:prstGeom>
          <a:noFill/>
          <a:ln w="9525">
            <a:solidFill>
              <a:srgbClr val="E8E8E8"/>
            </a:solidFill>
            <a:prstDash val="solid"/>
          </a:ln>
        </p:spPr>
      </p:sp>
      <p:sp>
        <p:nvSpPr>
          <p:cNvPr id="40" name="Text 37"/>
          <p:cNvSpPr txBox="1"/>
          <p:nvPr/>
        </p:nvSpPr>
        <p:spPr>
          <a:xfrm>
            <a:off x="4206240" y="4828032"/>
            <a:ext cx="1737360" cy="640080"/>
          </a:xfrm>
          <a:prstGeom prst="rect">
            <a:avLst/>
          </a:prstGeom>
          <a:noFill/>
          <a:ln/>
        </p:spPr>
        <p:txBody>
          <a:bodyPr wrap="square" lIns="0" tIns="0" rIns="0" bIns="0" rtlCol="0" anchor="t"/>
          <a:lstStyle/>
          <a:p>
            <a:pPr indent="0" marL="0">
              <a:lnSpc>
                <a:spcPct val="105000"/>
              </a:lnSpc>
              <a:buNone/>
            </a:pPr>
            <a:r>
              <a:rPr lang="en-US" sz="1000" dirty="0">
                <a:solidFill>
                  <a:srgbClr val="111111"/>
                </a:solidFill>
                <a:latin typeface="Courier New" pitchFamily="34" charset="0"/>
                <a:ea typeface="Courier New" pitchFamily="34" charset="-122"/>
                <a:cs typeface="Courier New" pitchFamily="34" charset="-120"/>
              </a:rPr>
              <a:t>laya-multilingual</a:t>
            </a:r>
            <a:endParaRPr lang="en-US" sz="1000" dirty="0"/>
          </a:p>
        </p:txBody>
      </p:sp>
      <p:sp>
        <p:nvSpPr>
          <p:cNvPr id="41" name="Text 38"/>
          <p:cNvSpPr txBox="1"/>
          <p:nvPr/>
        </p:nvSpPr>
        <p:spPr>
          <a:xfrm>
            <a:off x="5989320" y="4828032"/>
            <a:ext cx="1874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mmBERT-base (22 layers, 256k vocab)</a:t>
            </a:r>
            <a:endParaRPr lang="en-US" sz="950" dirty="0"/>
          </a:p>
        </p:txBody>
      </p:sp>
      <p:sp>
        <p:nvSpPr>
          <p:cNvPr id="42" name="Text 39"/>
          <p:cNvSpPr txBox="1"/>
          <p:nvPr/>
        </p:nvSpPr>
        <p:spPr>
          <a:xfrm>
            <a:off x="7909560" y="4828032"/>
            <a:ext cx="731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322M</a:t>
            </a:r>
            <a:endParaRPr lang="en-US" sz="950" dirty="0"/>
          </a:p>
        </p:txBody>
      </p:sp>
      <p:sp>
        <p:nvSpPr>
          <p:cNvPr id="43" name="Text 40"/>
          <p:cNvSpPr txBox="1"/>
          <p:nvPr/>
        </p:nvSpPr>
        <p:spPr>
          <a:xfrm>
            <a:off x="8686800" y="4828032"/>
            <a:ext cx="105156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1024 (8k supported)</a:t>
            </a:r>
            <a:endParaRPr lang="en-US" sz="950" dirty="0"/>
          </a:p>
        </p:txBody>
      </p:sp>
      <p:sp>
        <p:nvSpPr>
          <p:cNvPr id="44" name="Text 41"/>
          <p:cNvSpPr txBox="1"/>
          <p:nvPr/>
        </p:nvSpPr>
        <p:spPr>
          <a:xfrm>
            <a:off x="9784080" y="4828032"/>
            <a:ext cx="192024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100+ languages, ~2x faster</a:t>
            </a:r>
            <a:endParaRPr lang="en-US" sz="950" dirty="0"/>
          </a:p>
        </p:txBody>
      </p:sp>
      <p:sp>
        <p:nvSpPr>
          <p:cNvPr id="45" name="Shape 42"/>
          <p:cNvSpPr/>
          <p:nvPr/>
        </p:nvSpPr>
        <p:spPr>
          <a:xfrm>
            <a:off x="4206240" y="5468112"/>
            <a:ext cx="7498080" cy="0"/>
          </a:xfrm>
          <a:prstGeom prst="line">
            <a:avLst/>
          </a:prstGeom>
          <a:noFill/>
          <a:ln w="9525">
            <a:solidFill>
              <a:srgbClr val="E8E8E8"/>
            </a:solidFill>
            <a:prstDash val="solid"/>
          </a:ln>
        </p:spPr>
      </p:sp>
      <p:sp>
        <p:nvSpPr>
          <p:cNvPr id="46" name="Text 43"/>
          <p:cNvSpPr txBox="1"/>
          <p:nvPr/>
        </p:nvSpPr>
        <p:spPr>
          <a:xfrm>
            <a:off x="4206240" y="5541264"/>
            <a:ext cx="1737360" cy="640080"/>
          </a:xfrm>
          <a:prstGeom prst="rect">
            <a:avLst/>
          </a:prstGeom>
          <a:noFill/>
          <a:ln/>
        </p:spPr>
        <p:txBody>
          <a:bodyPr wrap="square" lIns="0" tIns="0" rIns="0" bIns="0" rtlCol="0" anchor="t"/>
          <a:lstStyle/>
          <a:p>
            <a:pPr indent="0" marL="0">
              <a:lnSpc>
                <a:spcPct val="105000"/>
              </a:lnSpc>
              <a:buNone/>
            </a:pPr>
            <a:r>
              <a:rPr lang="en-US" sz="1000" dirty="0">
                <a:solidFill>
                  <a:srgbClr val="111111"/>
                </a:solidFill>
                <a:latin typeface="Courier New" pitchFamily="34" charset="0"/>
                <a:ea typeface="Courier New" pitchFamily="34" charset="-122"/>
                <a:cs typeface="Courier New" pitchFamily="34" charset="-120"/>
              </a:rPr>
              <a:t>laya-typed-decisions</a:t>
            </a:r>
            <a:endParaRPr lang="en-US" sz="1000" dirty="0"/>
          </a:p>
        </p:txBody>
      </p:sp>
      <p:sp>
        <p:nvSpPr>
          <p:cNvPr id="47" name="Text 44"/>
          <p:cNvSpPr txBox="1"/>
          <p:nvPr/>
        </p:nvSpPr>
        <p:spPr>
          <a:xfrm>
            <a:off x="5989320" y="5541264"/>
            <a:ext cx="1874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ModernBERT-large</a:t>
            </a:r>
            <a:endParaRPr lang="en-US" sz="950" dirty="0"/>
          </a:p>
        </p:txBody>
      </p:sp>
      <p:sp>
        <p:nvSpPr>
          <p:cNvPr id="48" name="Text 45"/>
          <p:cNvSpPr txBox="1"/>
          <p:nvPr/>
        </p:nvSpPr>
        <p:spPr>
          <a:xfrm>
            <a:off x="7909560" y="5541264"/>
            <a:ext cx="73152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421M</a:t>
            </a:r>
            <a:endParaRPr lang="en-US" sz="950" dirty="0"/>
          </a:p>
        </p:txBody>
      </p:sp>
      <p:sp>
        <p:nvSpPr>
          <p:cNvPr id="49" name="Text 46"/>
          <p:cNvSpPr txBox="1"/>
          <p:nvPr/>
        </p:nvSpPr>
        <p:spPr>
          <a:xfrm>
            <a:off x="8686800" y="5541264"/>
            <a:ext cx="105156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1024</a:t>
            </a:r>
            <a:endParaRPr lang="en-US" sz="950" dirty="0"/>
          </a:p>
        </p:txBody>
      </p:sp>
      <p:sp>
        <p:nvSpPr>
          <p:cNvPr id="50" name="Text 47"/>
          <p:cNvSpPr txBox="1"/>
          <p:nvPr/>
        </p:nvSpPr>
        <p:spPr>
          <a:xfrm>
            <a:off x="9784080" y="5541264"/>
            <a:ext cx="1920240" cy="64008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Agent observability, support workflows (0.766 acc.)</a:t>
            </a:r>
            <a:endParaRPr lang="en-US" sz="950" dirty="0"/>
          </a:p>
        </p:txBody>
      </p:sp>
      <p:sp>
        <p:nvSpPr>
          <p:cNvPr id="51" name="Shape 48"/>
          <p:cNvSpPr/>
          <p:nvPr/>
        </p:nvSpPr>
        <p:spPr>
          <a:xfrm>
            <a:off x="4206240" y="6181344"/>
            <a:ext cx="7498080" cy="0"/>
          </a:xfrm>
          <a:prstGeom prst="line">
            <a:avLst/>
          </a:prstGeom>
          <a:noFill/>
          <a:ln w="9525">
            <a:solidFill>
              <a:srgbClr val="E8E8E8"/>
            </a:solidFill>
            <a:prstDash val="solid"/>
          </a:ln>
        </p:spPr>
      </p:sp>
      <p:sp>
        <p:nvSpPr>
          <p:cNvPr id="52" name="Text 49"/>
          <p:cNvSpPr txBox="1"/>
          <p:nvPr/>
        </p:nvSpPr>
        <p:spPr>
          <a:xfrm>
            <a:off x="4206240" y="5897880"/>
            <a:ext cx="7498080" cy="274320"/>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Router(preload=True) picks the checkpoint in &lt;1 ms. English-only on Khmer: 0.000 accuracy at 0.952 confidence.</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37744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Where do these models fit?</a:t>
            </a:r>
            <a:endParaRPr lang="en-US" sz="4800" dirty="0"/>
          </a:p>
        </p:txBody>
      </p:sp>
      <p:sp>
        <p:nvSpPr>
          <p:cNvPr id="5" name="Text 1"/>
          <p:cNvSpPr txBox="1"/>
          <p:nvPr/>
        </p:nvSpPr>
        <p:spPr>
          <a:xfrm>
            <a:off x="502920" y="329184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Decide cheap, gate hard, write rarely</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SECTION 04</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2026</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Use a System One model where the output is a decision; keep the LLM or VLM where the output is text or structure</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WHERE TO USE · DECISION MAP</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12</a:t>
            </a:r>
            <a:endParaRPr lang="en-US" sz="900" dirty="0"/>
          </a:p>
        </p:txBody>
      </p:sp>
      <p:sp>
        <p:nvSpPr>
          <p:cNvPr id="6" name="Shape 3"/>
          <p:cNvSpPr/>
          <p:nvPr/>
        </p:nvSpPr>
        <p:spPr>
          <a:xfrm>
            <a:off x="502920" y="1783080"/>
            <a:ext cx="3611880" cy="4160520"/>
          </a:xfrm>
          <a:prstGeom prst="roundRect">
            <a:avLst>
              <a:gd name="adj" fmla="val 2025"/>
            </a:avLst>
          </a:prstGeom>
          <a:solidFill>
            <a:srgbClr val="7B909B"/>
          </a:solidFill>
          <a:ln w="12700">
            <a:solidFill>
              <a:srgbClr val="7B909B"/>
            </a:solidFill>
            <a:prstDash val="solid"/>
          </a:ln>
        </p:spPr>
      </p:sp>
      <p:pic>
        <p:nvPicPr>
          <p:cNvPr id="7" name="Image 0" descr="preencoded.png">    </p:cNvPr>
          <p:cNvPicPr>
            <a:picLocks noChangeAspect="1"/>
          </p:cNvPicPr>
          <p:nvPr/>
        </p:nvPicPr>
        <p:blipFill>
          <a:blip r:embed="rId1"/>
          <a:stretch>
            <a:fillRect/>
          </a:stretch>
        </p:blipFill>
        <p:spPr>
          <a:xfrm>
            <a:off x="731520" y="2011680"/>
            <a:ext cx="329184" cy="329184"/>
          </a:xfrm>
          <a:prstGeom prst="rect">
            <a:avLst/>
          </a:prstGeom>
        </p:spPr>
      </p:pic>
      <p:sp>
        <p:nvSpPr>
          <p:cNvPr id="8" name="Text 4"/>
          <p:cNvSpPr txBox="1"/>
          <p:nvPr/>
        </p:nvSpPr>
        <p:spPr>
          <a:xfrm>
            <a:off x="731520" y="2423160"/>
            <a:ext cx="3154680" cy="320040"/>
          </a:xfrm>
          <a:prstGeom prst="rect">
            <a:avLst/>
          </a:prstGeom>
          <a:noFill/>
          <a:ln/>
        </p:spPr>
        <p:txBody>
          <a:bodyPr wrap="square" lIns="0" tIns="0" rIns="0" bIns="0" rtlCol="0" anchor="t"/>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System One model</a:t>
            </a:r>
            <a:endParaRPr lang="en-US" sz="1500" dirty="0"/>
          </a:p>
        </p:txBody>
      </p:sp>
      <p:sp>
        <p:nvSpPr>
          <p:cNvPr id="9" name="Text 5"/>
          <p:cNvSpPr txBox="1"/>
          <p:nvPr/>
        </p:nvSpPr>
        <p:spPr>
          <a:xfrm>
            <a:off x="731520" y="2880360"/>
            <a:ext cx="3154680" cy="28803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Classify, route, score, verify, guardrail, branch</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High-volume, repeated decisions over shared state</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Latency-sensitive UX with a ~100 ms budget</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Map-reduce over big data to produce features</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Jailbreak and guardrail checks on every turn</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RAG passage relevance filtering</a:t>
            </a:r>
            <a:endParaRPr lang="en-US" sz="1050" dirty="0"/>
          </a:p>
          <a:p>
            <a:pPr marL="152400" indent="-152400">
              <a:lnSpc>
                <a:spcPct val="105000"/>
              </a:lnSpc>
              <a:spcAft>
                <a:spcPts val="500"/>
              </a:spcAft>
              <a:buSzPct val="100000"/>
              <a:buChar char="•"/>
            </a:pPr>
            <a:r>
              <a:rPr lang="en-US" sz="1050" dirty="0">
                <a:solidFill>
                  <a:srgbClr val="FFFFFF"/>
                </a:solidFill>
                <a:latin typeface="Helvetica Neue" pitchFamily="34" charset="0"/>
                <a:ea typeface="Helvetica Neue" pitchFamily="34" charset="-122"/>
                <a:cs typeface="Helvetica Neue" pitchFamily="34" charset="-120"/>
              </a:rPr>
              <a:t>Spam, phishing, intent, urgency, churn signals</a:t>
            </a:r>
            <a:endParaRPr lang="en-US" sz="1050" dirty="0"/>
          </a:p>
        </p:txBody>
      </p:sp>
      <p:sp>
        <p:nvSpPr>
          <p:cNvPr id="10" name="Shape 6"/>
          <p:cNvSpPr/>
          <p:nvPr/>
        </p:nvSpPr>
        <p:spPr>
          <a:xfrm>
            <a:off x="4279392" y="1783080"/>
            <a:ext cx="3611880" cy="4160520"/>
          </a:xfrm>
          <a:prstGeom prst="roundRect">
            <a:avLst>
              <a:gd name="adj" fmla="val 2025"/>
            </a:avLst>
          </a:prstGeom>
          <a:solidFill>
            <a:srgbClr val="EEF2F4"/>
          </a:solidFill>
          <a:ln w="12700">
            <a:solidFill>
              <a:srgbClr val="EEF2F4"/>
            </a:solidFill>
            <a:prstDash val="solid"/>
          </a:ln>
        </p:spPr>
      </p:sp>
      <p:pic>
        <p:nvPicPr>
          <p:cNvPr id="11" name="Image 1" descr="preencoded.png">    </p:cNvPr>
          <p:cNvPicPr>
            <a:picLocks noChangeAspect="1"/>
          </p:cNvPicPr>
          <p:nvPr/>
        </p:nvPicPr>
        <p:blipFill>
          <a:blip r:embed="rId2"/>
          <a:stretch>
            <a:fillRect/>
          </a:stretch>
        </p:blipFill>
        <p:spPr>
          <a:xfrm>
            <a:off x="4507992" y="2011680"/>
            <a:ext cx="329184" cy="329184"/>
          </a:xfrm>
          <a:prstGeom prst="rect">
            <a:avLst/>
          </a:prstGeom>
        </p:spPr>
      </p:pic>
      <p:sp>
        <p:nvSpPr>
          <p:cNvPr id="12" name="Text 7"/>
          <p:cNvSpPr txBox="1"/>
          <p:nvPr/>
        </p:nvSpPr>
        <p:spPr>
          <a:xfrm>
            <a:off x="4507992" y="2423160"/>
            <a:ext cx="3154680" cy="320040"/>
          </a:xfrm>
          <a:prstGeom prst="rect">
            <a:avLst/>
          </a:prstGeom>
          <a:noFill/>
          <a:ln/>
        </p:spPr>
        <p:txBody>
          <a:bodyPr wrap="square" lIns="0" tIns="0" rIns="0" bIns="0" rtlCol="0" anchor="t"/>
          <a:lstStyle/>
          <a:p>
            <a:pPr indent="0" marL="0">
              <a:buNone/>
            </a:pPr>
            <a:r>
              <a:rPr lang="en-US" sz="1500" dirty="0">
                <a:solidFill>
                  <a:srgbClr val="111111"/>
                </a:solidFill>
                <a:latin typeface="Helvetica Neue" pitchFamily="34" charset="0"/>
                <a:ea typeface="Helvetica Neue" pitchFamily="34" charset="-122"/>
                <a:cs typeface="Helvetica Neue" pitchFamily="34" charset="-120"/>
              </a:rPr>
              <a:t>Decide first, then generate</a:t>
            </a:r>
            <a:endParaRPr lang="en-US" sz="1500" dirty="0"/>
          </a:p>
        </p:txBody>
      </p:sp>
      <p:sp>
        <p:nvSpPr>
          <p:cNvPr id="13" name="Text 8"/>
          <p:cNvSpPr txBox="1"/>
          <p:nvPr/>
        </p:nvSpPr>
        <p:spPr>
          <a:xfrm>
            <a:off x="4507992" y="2880360"/>
            <a:ext cx="3154680" cy="28803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Intent + complexity → route to code, a specialist LLM, or a human</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Confidence gate in front of every autonomous action</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LLM-as-judge replaced by a calibrated noul</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Choose which parser or prompt to run before running it</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Label and filter training data at scale</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Cheap pre-check before an expensive frontier call</a:t>
            </a:r>
            <a:endParaRPr lang="en-US" sz="1050" dirty="0"/>
          </a:p>
        </p:txBody>
      </p:sp>
      <p:sp>
        <p:nvSpPr>
          <p:cNvPr id="14" name="Shape 9"/>
          <p:cNvSpPr/>
          <p:nvPr/>
        </p:nvSpPr>
        <p:spPr>
          <a:xfrm>
            <a:off x="8055864" y="1783080"/>
            <a:ext cx="3611880" cy="4160520"/>
          </a:xfrm>
          <a:prstGeom prst="roundRect">
            <a:avLst>
              <a:gd name="adj" fmla="val 2025"/>
            </a:avLst>
          </a:prstGeom>
          <a:solidFill>
            <a:srgbClr val="FFFFFF"/>
          </a:solidFill>
          <a:ln w="9525">
            <a:solidFill>
              <a:srgbClr val="111111"/>
            </a:solidFill>
            <a:prstDash val="solid"/>
          </a:ln>
        </p:spPr>
      </p:sp>
      <p:pic>
        <p:nvPicPr>
          <p:cNvPr id="15" name="Image 2" descr="preencoded.png">    </p:cNvPr>
          <p:cNvPicPr>
            <a:picLocks noChangeAspect="1"/>
          </p:cNvPicPr>
          <p:nvPr/>
        </p:nvPicPr>
        <p:blipFill>
          <a:blip r:embed="rId3"/>
          <a:stretch>
            <a:fillRect/>
          </a:stretch>
        </p:blipFill>
        <p:spPr>
          <a:xfrm>
            <a:off x="8284464" y="2011680"/>
            <a:ext cx="329184" cy="329184"/>
          </a:xfrm>
          <a:prstGeom prst="rect">
            <a:avLst/>
          </a:prstGeom>
        </p:spPr>
      </p:pic>
      <p:sp>
        <p:nvSpPr>
          <p:cNvPr id="16" name="Text 10"/>
          <p:cNvSpPr txBox="1"/>
          <p:nvPr/>
        </p:nvSpPr>
        <p:spPr>
          <a:xfrm>
            <a:off x="8284464" y="2423160"/>
            <a:ext cx="3154680" cy="320040"/>
          </a:xfrm>
          <a:prstGeom prst="rect">
            <a:avLst/>
          </a:prstGeom>
          <a:noFill/>
          <a:ln/>
        </p:spPr>
        <p:txBody>
          <a:bodyPr wrap="square" lIns="0" tIns="0" rIns="0" bIns="0" rtlCol="0" anchor="t"/>
          <a:lstStyle/>
          <a:p>
            <a:pPr indent="0" marL="0">
              <a:buNone/>
            </a:pPr>
            <a:r>
              <a:rPr lang="en-US" sz="1500" dirty="0">
                <a:solidFill>
                  <a:srgbClr val="111111"/>
                </a:solidFill>
                <a:latin typeface="Helvetica Neue" pitchFamily="34" charset="0"/>
                <a:ea typeface="Helvetica Neue" pitchFamily="34" charset="-122"/>
                <a:cs typeface="Helvetica Neue" pitchFamily="34" charset="-120"/>
              </a:rPr>
              <a:t>LLM / VLM</a:t>
            </a:r>
            <a:endParaRPr lang="en-US" sz="1500" dirty="0"/>
          </a:p>
        </p:txBody>
      </p:sp>
      <p:sp>
        <p:nvSpPr>
          <p:cNvPr id="17" name="Text 11"/>
          <p:cNvSpPr txBox="1"/>
          <p:nvPr/>
        </p:nvSpPr>
        <p:spPr>
          <a:xfrm>
            <a:off x="8284464" y="2880360"/>
            <a:ext cx="3154680" cy="288036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Writing: replies, summaries, explanations</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Parsing and extraction from documents, scans, PDFs (needs vision and reasoning)</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Open-ended reasoning, planning, multi-step agents</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Anything where the answer space is not known up front</a:t>
            </a:r>
            <a:endParaRPr lang="en-US" sz="1050" dirty="0"/>
          </a:p>
          <a:p>
            <a:pPr marL="152400" indent="-152400">
              <a:lnSpc>
                <a:spcPct val="105000"/>
              </a:lnSpc>
              <a:spcAft>
                <a:spcPts val="500"/>
              </a:spcAft>
              <a:buSzPct val="100000"/>
              <a:buChar char="•"/>
            </a:pPr>
            <a:r>
              <a:rPr lang="en-US" sz="1050" dirty="0">
                <a:solidFill>
                  <a:srgbClr val="4C4C4C"/>
                </a:solidFill>
                <a:latin typeface="Helvetica Neue" pitchFamily="34" charset="0"/>
                <a:ea typeface="Helvetica Neue" pitchFamily="34" charset="-122"/>
                <a:cs typeface="Helvetica Neue" pitchFamily="34" charset="-120"/>
              </a:rPr>
              <a:t>Code and structured generation</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Choosing between Jev and Laya, and why you should not have to choose forever</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WHERE TO USE · JEV OR LAYA</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13</a:t>
            </a:r>
            <a:endParaRPr lang="en-US" sz="900" dirty="0"/>
          </a:p>
        </p:txBody>
      </p:sp>
      <p:sp>
        <p:nvSpPr>
          <p:cNvPr id="6" name="Shape 3"/>
          <p:cNvSpPr/>
          <p:nvPr/>
        </p:nvSpPr>
        <p:spPr>
          <a:xfrm>
            <a:off x="502920" y="1783080"/>
            <a:ext cx="5440680" cy="3017520"/>
          </a:xfrm>
          <a:prstGeom prst="roundRect">
            <a:avLst>
              <a:gd name="adj" fmla="val 2424"/>
            </a:avLst>
          </a:prstGeom>
          <a:solidFill>
            <a:srgbClr val="EEF2F4"/>
          </a:solidFill>
          <a:ln w="12700">
            <a:solidFill>
              <a:srgbClr val="EEF2F4"/>
            </a:solidFill>
            <a:prstDash val="solid"/>
          </a:ln>
        </p:spPr>
      </p:sp>
      <p:sp>
        <p:nvSpPr>
          <p:cNvPr id="7" name="Text 4"/>
          <p:cNvSpPr txBox="1"/>
          <p:nvPr/>
        </p:nvSpPr>
        <p:spPr>
          <a:xfrm>
            <a:off x="731520" y="1984248"/>
            <a:ext cx="4983480" cy="320040"/>
          </a:xfrm>
          <a:prstGeom prst="rect">
            <a:avLst/>
          </a:prstGeom>
          <a:noFill/>
          <a:ln/>
        </p:spPr>
        <p:txBody>
          <a:bodyPr wrap="square" lIns="0" tIns="0" rIns="0" bIns="0" rtlCol="0" anchor="t"/>
          <a:lstStyle/>
          <a:p>
            <a:pPr indent="0" marL="0">
              <a:buNone/>
            </a:pPr>
            <a:r>
              <a:rPr lang="en-US" sz="1500" dirty="0">
                <a:solidFill>
                  <a:srgbClr val="111111"/>
                </a:solidFill>
                <a:latin typeface="Helvetica Neue" pitchFamily="34" charset="0"/>
                <a:ea typeface="Helvetica Neue" pitchFamily="34" charset="-122"/>
                <a:cs typeface="Helvetica Neue" pitchFamily="34" charset="-120"/>
              </a:rPr>
              <a:t>Reach for Jev when…</a:t>
            </a:r>
            <a:endParaRPr lang="en-US" sz="1500" dirty="0"/>
          </a:p>
        </p:txBody>
      </p:sp>
      <p:sp>
        <p:nvSpPr>
          <p:cNvPr id="8" name="Text 5"/>
          <p:cNvSpPr txBox="1"/>
          <p:nvPr/>
        </p:nvSpPr>
        <p:spPr>
          <a:xfrm>
            <a:off x="731520" y="2423160"/>
            <a:ext cx="4983480" cy="160020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100" dirty="0">
                <a:solidFill>
                  <a:srgbClr val="4C4C4C"/>
                </a:solidFill>
                <a:latin typeface="Helvetica Neue" pitchFamily="34" charset="0"/>
                <a:ea typeface="Helvetica Neue" pitchFamily="34" charset="-122"/>
                <a:cs typeface="Helvetica Neue" pitchFamily="34" charset="-120"/>
              </a:rPr>
              <a:t>The option set is wide (Banking77-style, &gt; 20 categories)</a:t>
            </a:r>
            <a:endParaRPr lang="en-US" sz="1100" dirty="0"/>
          </a:p>
          <a:p>
            <a:pPr marL="152400" indent="-152400">
              <a:lnSpc>
                <a:spcPct val="105000"/>
              </a:lnSpc>
              <a:spcAft>
                <a:spcPts val="500"/>
              </a:spcAft>
              <a:buSzPct val="100000"/>
              <a:buChar char="•"/>
            </a:pPr>
            <a:r>
              <a:rPr lang="en-US" sz="1100" dirty="0">
                <a:solidFill>
                  <a:srgbClr val="4C4C4C"/>
                </a:solidFill>
                <a:latin typeface="Helvetica Neue" pitchFamily="34" charset="0"/>
                <a:ea typeface="Helvetica Neue" pitchFamily="34" charset="-122"/>
                <a:cs typeface="Helvetica Neue" pitchFamily="34" charset="-120"/>
              </a:rPr>
              <a:t>You cannot label training data yet</a:t>
            </a:r>
            <a:endParaRPr lang="en-US" sz="1100" dirty="0"/>
          </a:p>
          <a:p>
            <a:pPr marL="152400" indent="-152400">
              <a:lnSpc>
                <a:spcPct val="105000"/>
              </a:lnSpc>
              <a:spcAft>
                <a:spcPts val="500"/>
              </a:spcAft>
              <a:buSzPct val="100000"/>
              <a:buChar char="•"/>
            </a:pPr>
            <a:r>
              <a:rPr lang="en-US" sz="1100" dirty="0">
                <a:solidFill>
                  <a:srgbClr val="4C4C4C"/>
                </a:solidFill>
                <a:latin typeface="Helvetica Neue" pitchFamily="34" charset="0"/>
                <a:ea typeface="Helvetica Neue" pitchFamily="34" charset="-122"/>
                <a:cs typeface="Helvetica Neue" pitchFamily="34" charset="-120"/>
              </a:rPr>
              <a:t>You want zero setup and a managed API today</a:t>
            </a:r>
            <a:endParaRPr lang="en-US" sz="1100" dirty="0"/>
          </a:p>
          <a:p>
            <a:pPr marL="152400" indent="-152400">
              <a:lnSpc>
                <a:spcPct val="105000"/>
              </a:lnSpc>
              <a:spcAft>
                <a:spcPts val="500"/>
              </a:spcAft>
              <a:buSzPct val="100000"/>
              <a:buChar char="•"/>
            </a:pPr>
            <a:r>
              <a:rPr lang="en-US" sz="1100" dirty="0">
                <a:solidFill>
                  <a:srgbClr val="4C4C4C"/>
                </a:solidFill>
                <a:latin typeface="Helvetica Neue" pitchFamily="34" charset="0"/>
                <a:ea typeface="Helvetica Neue" pitchFamily="34" charset="-122"/>
                <a:cs typeface="Helvetica Neue" pitchFamily="34" charset="-120"/>
              </a:rPr>
              <a:t>Metered pricing at $0.042 / MTok input is acceptable</a:t>
            </a:r>
            <a:endParaRPr lang="en-US" sz="1100" dirty="0"/>
          </a:p>
        </p:txBody>
      </p:sp>
      <p:sp>
        <p:nvSpPr>
          <p:cNvPr id="9" name="Text 6"/>
          <p:cNvSpPr txBox="1"/>
          <p:nvPr/>
        </p:nvSpPr>
        <p:spPr>
          <a:xfrm>
            <a:off x="731520" y="4069080"/>
            <a:ext cx="4983480" cy="640080"/>
          </a:xfrm>
          <a:prstGeom prst="rect">
            <a:avLst/>
          </a:prstGeom>
          <a:noFill/>
          <a:ln/>
        </p:spPr>
        <p:txBody>
          <a:bodyPr wrap="square" lIns="0" tIns="0" rIns="0" bIns="0" rtlCol="0" anchor="t"/>
          <a:lstStyle/>
          <a:p>
            <a:pPr indent="0" marL="0">
              <a:lnSpc>
                <a:spcPct val="105000"/>
              </a:lnSpc>
              <a:buNone/>
            </a:pPr>
            <a:r>
              <a:rPr lang="en-US" sz="980" dirty="0">
                <a:solidFill>
                  <a:srgbClr val="7A7A7A"/>
                </a:solidFill>
                <a:latin typeface="Helvetica Neue" pitchFamily="34" charset="0"/>
                <a:ea typeface="Helvetica Neue" pitchFamily="34" charset="-122"/>
                <a:cs typeface="Helvetica Neue" pitchFamily="34" charset="-120"/>
              </a:rPr>
              <a:t>Trade-offs: closed weights, no auditability, waitlist access, lock-in to one vendor's roadmap.</a:t>
            </a:r>
            <a:endParaRPr lang="en-US" sz="980" dirty="0"/>
          </a:p>
        </p:txBody>
      </p:sp>
      <p:sp>
        <p:nvSpPr>
          <p:cNvPr id="10" name="Shape 7"/>
          <p:cNvSpPr/>
          <p:nvPr/>
        </p:nvSpPr>
        <p:spPr>
          <a:xfrm>
            <a:off x="6217920" y="1783080"/>
            <a:ext cx="5440680" cy="3017520"/>
          </a:xfrm>
          <a:prstGeom prst="roundRect">
            <a:avLst>
              <a:gd name="adj" fmla="val 2424"/>
            </a:avLst>
          </a:prstGeom>
          <a:solidFill>
            <a:srgbClr val="7B909B"/>
          </a:solidFill>
          <a:ln w="12700">
            <a:solidFill>
              <a:srgbClr val="7B909B"/>
            </a:solidFill>
            <a:prstDash val="solid"/>
          </a:ln>
        </p:spPr>
      </p:sp>
      <p:sp>
        <p:nvSpPr>
          <p:cNvPr id="11" name="Text 8"/>
          <p:cNvSpPr txBox="1"/>
          <p:nvPr/>
        </p:nvSpPr>
        <p:spPr>
          <a:xfrm>
            <a:off x="6446520" y="1984248"/>
            <a:ext cx="4983480" cy="320040"/>
          </a:xfrm>
          <a:prstGeom prst="rect">
            <a:avLst/>
          </a:prstGeom>
          <a:noFill/>
          <a:ln/>
        </p:spPr>
        <p:txBody>
          <a:bodyPr wrap="square" lIns="0" tIns="0" rIns="0" bIns="0" rtlCol="0" anchor="t"/>
          <a:lstStyle/>
          <a:p>
            <a:pPr indent="0" marL="0">
              <a:buNone/>
            </a:pPr>
            <a:r>
              <a:rPr lang="en-US" sz="1500" dirty="0">
                <a:solidFill>
                  <a:srgbClr val="FFFFFF"/>
                </a:solidFill>
                <a:latin typeface="Helvetica Neue" pitchFamily="34" charset="0"/>
                <a:ea typeface="Helvetica Neue" pitchFamily="34" charset="-122"/>
                <a:cs typeface="Helvetica Neue" pitchFamily="34" charset="-120"/>
              </a:rPr>
              <a:t>Reach for Laya when…</a:t>
            </a:r>
            <a:endParaRPr lang="en-US" sz="1500" dirty="0"/>
          </a:p>
        </p:txBody>
      </p:sp>
      <p:sp>
        <p:nvSpPr>
          <p:cNvPr id="12" name="Text 9"/>
          <p:cNvSpPr txBox="1"/>
          <p:nvPr/>
        </p:nvSpPr>
        <p:spPr>
          <a:xfrm>
            <a:off x="6446520" y="2423160"/>
            <a:ext cx="4983480" cy="1600200"/>
          </a:xfrm>
          <a:prstGeom prst="rect">
            <a:avLst/>
          </a:prstGeom>
          <a:noFill/>
          <a:ln/>
        </p:spPr>
        <p:txBody>
          <a:bodyPr wrap="square" lIns="0" tIns="0" rIns="0" bIns="0" rtlCol="0" anchor="t"/>
          <a:lstStyle/>
          <a:p>
            <a:pPr marL="152400" indent="-152400">
              <a:lnSpc>
                <a:spcPct val="105000"/>
              </a:lnSpc>
              <a:spcAft>
                <a:spcPts val="500"/>
              </a:spcAft>
              <a:buSzPct val="100000"/>
              <a:buChar char="•"/>
            </a:pPr>
            <a:r>
              <a:rPr lang="en-US" sz="1100" dirty="0">
                <a:solidFill>
                  <a:srgbClr val="FFFFFF"/>
                </a:solidFill>
                <a:latin typeface="Helvetica Neue" pitchFamily="34" charset="0"/>
                <a:ea typeface="Helvetica Neue" pitchFamily="34" charset="-122"/>
                <a:cs typeface="Helvetica Neue" pitchFamily="34" charset="-120"/>
              </a:rPr>
              <a:t>The decision is narrow, binary or few-option, and high-volume</a:t>
            </a:r>
            <a:endParaRPr lang="en-US" sz="1100" dirty="0"/>
          </a:p>
          <a:p>
            <a:pPr marL="152400" indent="-152400">
              <a:lnSpc>
                <a:spcPct val="105000"/>
              </a:lnSpc>
              <a:spcAft>
                <a:spcPts val="500"/>
              </a:spcAft>
              <a:buSzPct val="100000"/>
              <a:buChar char="•"/>
            </a:pPr>
            <a:r>
              <a:rPr lang="en-US" sz="1100" dirty="0">
                <a:solidFill>
                  <a:srgbClr val="FFFFFF"/>
                </a:solidFill>
                <a:latin typeface="Helvetica Neue" pitchFamily="34" charset="0"/>
                <a:ea typeface="Helvetica Neue" pitchFamily="34" charset="-122"/>
                <a:cs typeface="Helvetica Neue" pitchFamily="34" charset="-120"/>
              </a:rPr>
              <a:t>You can label a few hundred examples from your domain</a:t>
            </a:r>
            <a:endParaRPr lang="en-US" sz="1100" dirty="0"/>
          </a:p>
          <a:p>
            <a:pPr marL="152400" indent="-152400">
              <a:lnSpc>
                <a:spcPct val="105000"/>
              </a:lnSpc>
              <a:spcAft>
                <a:spcPts val="500"/>
              </a:spcAft>
              <a:buSzPct val="100000"/>
              <a:buChar char="•"/>
            </a:pPr>
            <a:r>
              <a:rPr lang="en-US" sz="1100" dirty="0">
                <a:solidFill>
                  <a:srgbClr val="FFFFFF"/>
                </a:solidFill>
                <a:latin typeface="Helvetica Neue" pitchFamily="34" charset="0"/>
                <a:ea typeface="Helvetica Neue" pitchFamily="34" charset="-122"/>
                <a:cs typeface="Helvetica Neue" pitchFamily="34" charset="-120"/>
              </a:rPr>
              <a:t>Data residency or an audit trail is a requirement</a:t>
            </a:r>
            <a:endParaRPr lang="en-US" sz="1100" dirty="0"/>
          </a:p>
          <a:p>
            <a:pPr marL="152400" indent="-152400">
              <a:lnSpc>
                <a:spcPct val="105000"/>
              </a:lnSpc>
              <a:spcAft>
                <a:spcPts val="500"/>
              </a:spcAft>
              <a:buSzPct val="100000"/>
              <a:buChar char="•"/>
            </a:pPr>
            <a:r>
              <a:rPr lang="en-US" sz="1100" dirty="0">
                <a:solidFill>
                  <a:srgbClr val="FFFFFF"/>
                </a:solidFill>
                <a:latin typeface="Helvetica Neue" pitchFamily="34" charset="0"/>
                <a:ea typeface="Helvetica Neue" pitchFamily="34" charset="-122"/>
                <a:cs typeface="Helvetica Neue" pitchFamily="34" charset="-120"/>
              </a:rPr>
              <a:t>You want sub-50 ms on your own GPU and no per-token bill</a:t>
            </a:r>
            <a:endParaRPr lang="en-US" sz="1100" dirty="0"/>
          </a:p>
        </p:txBody>
      </p:sp>
      <p:sp>
        <p:nvSpPr>
          <p:cNvPr id="13" name="Text 10"/>
          <p:cNvSpPr txBox="1"/>
          <p:nvPr/>
        </p:nvSpPr>
        <p:spPr>
          <a:xfrm>
            <a:off x="6446520" y="4069080"/>
            <a:ext cx="4983480" cy="640080"/>
          </a:xfrm>
          <a:prstGeom prst="rect">
            <a:avLst/>
          </a:prstGeom>
          <a:noFill/>
          <a:ln/>
        </p:spPr>
        <p:txBody>
          <a:bodyPr wrap="square" lIns="0" tIns="0" rIns="0" bIns="0" rtlCol="0" anchor="t"/>
          <a:lstStyle/>
          <a:p>
            <a:pPr indent="0" marL="0">
              <a:lnSpc>
                <a:spcPct val="105000"/>
              </a:lnSpc>
              <a:buNone/>
            </a:pPr>
            <a:r>
              <a:rPr lang="en-US" sz="980" dirty="0">
                <a:solidFill>
                  <a:srgbClr val="EEF2F4"/>
                </a:solidFill>
                <a:latin typeface="Helvetica Neue" pitchFamily="34" charset="0"/>
                <a:ea typeface="Helvetica Neue" pitchFamily="34" charset="-122"/>
                <a:cs typeface="Helvetica Neue" pitchFamily="34" charset="-120"/>
              </a:rPr>
              <a:t>Trade-offs: you own fine-tuning, temperature fitting, a T4-class GPU and a 512/1024-token context.</a:t>
            </a:r>
            <a:endParaRPr lang="en-US" sz="980" dirty="0"/>
          </a:p>
        </p:txBody>
      </p:sp>
      <p:sp>
        <p:nvSpPr>
          <p:cNvPr id="14" name="Shape 11"/>
          <p:cNvSpPr/>
          <p:nvPr/>
        </p:nvSpPr>
        <p:spPr>
          <a:xfrm>
            <a:off x="502920" y="5029200"/>
            <a:ext cx="11185855" cy="1143000"/>
          </a:xfrm>
          <a:prstGeom prst="roundRect">
            <a:avLst>
              <a:gd name="adj" fmla="val 6400"/>
            </a:avLst>
          </a:prstGeom>
          <a:solidFill>
            <a:srgbClr val="FFFFFF"/>
          </a:solidFill>
          <a:ln w="9525">
            <a:solidFill>
              <a:srgbClr val="111111"/>
            </a:solidFill>
            <a:prstDash val="solid"/>
          </a:ln>
        </p:spPr>
      </p:sp>
      <p:pic>
        <p:nvPicPr>
          <p:cNvPr id="15" name="Image 0" descr="preencoded.png">    </p:cNvPr>
          <p:cNvPicPr>
            <a:picLocks noChangeAspect="1"/>
          </p:cNvPicPr>
          <p:nvPr/>
        </p:nvPicPr>
        <p:blipFill>
          <a:blip r:embed="rId1"/>
          <a:stretch>
            <a:fillRect/>
          </a:stretch>
        </p:blipFill>
        <p:spPr>
          <a:xfrm>
            <a:off x="731520" y="5257800"/>
            <a:ext cx="411480" cy="411480"/>
          </a:xfrm>
          <a:prstGeom prst="rect">
            <a:avLst/>
          </a:prstGeom>
        </p:spPr>
      </p:pic>
      <p:sp>
        <p:nvSpPr>
          <p:cNvPr id="16" name="Text 12"/>
          <p:cNvSpPr txBox="1"/>
          <p:nvPr/>
        </p:nvSpPr>
        <p:spPr>
          <a:xfrm>
            <a:off x="1325880" y="5166360"/>
            <a:ext cx="5486400" cy="292608"/>
          </a:xfrm>
          <a:prstGeom prst="rect">
            <a:avLst/>
          </a:prstGeom>
          <a:noFill/>
          <a:ln/>
        </p:spPr>
        <p:txBody>
          <a:bodyPr wrap="square" lIns="0" tIns="0" rIns="0" bIns="0" rtlCol="0" anchor="t"/>
          <a:lstStyle/>
          <a:p>
            <a:pPr indent="0" marL="0">
              <a:buNone/>
            </a:pPr>
            <a:r>
              <a:rPr lang="en-US" sz="1300" dirty="0">
                <a:solidFill>
                  <a:srgbClr val="111111"/>
                </a:solidFill>
                <a:latin typeface="Helvetica Neue" pitchFamily="34" charset="0"/>
                <a:ea typeface="Helvetica Neue" pitchFamily="34" charset="-122"/>
                <a:cs typeface="Helvetica Neue" pitchFamily="34" charset="-120"/>
              </a:rPr>
              <a:t>"A model lead is not a business moat."</a:t>
            </a:r>
            <a:endParaRPr lang="en-US" sz="1300" dirty="0"/>
          </a:p>
        </p:txBody>
      </p:sp>
      <p:sp>
        <p:nvSpPr>
          <p:cNvPr id="17" name="Text 13"/>
          <p:cNvSpPr txBox="1"/>
          <p:nvPr/>
        </p:nvSpPr>
        <p:spPr>
          <a:xfrm>
            <a:off x="1325880" y="5468112"/>
            <a:ext cx="10332720" cy="64008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Put the decision model behind a thin interface. Laya's laya-serve and the Node wrapper speak Jev's request shape, so swapping is a day's work. The moat is your labelled data, your calibrated thresholds, your audit trail, and the workflow around the model.</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alphaModFix amt="8000"/>
          </a:blip>
          <a:stretch>
            <a:fillRect/>
          </a:stretch>
        </p:blipFill>
        <p:spPr>
          <a:xfrm>
            <a:off x="6309360" y="822960"/>
            <a:ext cx="4754880" cy="4919472"/>
          </a:xfrm>
          <a:prstGeom prst="rect">
            <a:avLst/>
          </a:prstGeom>
        </p:spPr>
      </p:pic>
      <p:pic>
        <p:nvPicPr>
          <p:cNvPr id="3" name="Image 1" descr="preencoded.png">    </p:cNvPr>
          <p:cNvPicPr>
            <a:picLocks noChangeAspect="1"/>
          </p:cNvPicPr>
          <p:nvPr/>
        </p:nvPicPr>
        <p:blipFill>
          <a:blip r:embed="rId2"/>
          <a:stretch>
            <a:fillRect/>
          </a:stretch>
        </p:blipFill>
        <p:spPr>
          <a:xfrm>
            <a:off x="502920" y="457200"/>
            <a:ext cx="1828800" cy="315468"/>
          </a:xfrm>
          <a:prstGeom prst="rect">
            <a:avLst/>
          </a:prstGeom>
        </p:spPr>
      </p:pic>
      <p:sp>
        <p:nvSpPr>
          <p:cNvPr id="4" name="Text 0"/>
          <p:cNvSpPr txBox="1"/>
          <p:nvPr/>
        </p:nvSpPr>
        <p:spPr>
          <a:xfrm>
            <a:off x="502920" y="2377440"/>
            <a:ext cx="9601200" cy="1463040"/>
          </a:xfrm>
          <a:prstGeom prst="rect">
            <a:avLst/>
          </a:prstGeom>
          <a:noFill/>
          <a:ln/>
        </p:spPr>
        <p:txBody>
          <a:bodyPr wrap="square" lIns="0" tIns="0" rIns="0" bIns="0" rtlCol="0" anchor="t"/>
          <a:lstStyle/>
          <a:p>
            <a:pPr indent="0" marL="0">
              <a:lnSpc>
                <a:spcPct val="98000"/>
              </a:lnSpc>
              <a:buNone/>
            </a:pPr>
            <a:r>
              <a:rPr lang="en-US" sz="4800" dirty="0">
                <a:solidFill>
                  <a:srgbClr val="FFFFFF"/>
                </a:solidFill>
                <a:latin typeface="Helvetica Neue" pitchFamily="34" charset="0"/>
                <a:ea typeface="Helvetica Neue" pitchFamily="34" charset="-122"/>
                <a:cs typeface="Helvetica Neue" pitchFamily="34" charset="-120"/>
              </a:rPr>
              <a:t>Build time</a:t>
            </a:r>
            <a:endParaRPr lang="en-US" sz="4800" dirty="0"/>
          </a:p>
        </p:txBody>
      </p:sp>
      <p:sp>
        <p:nvSpPr>
          <p:cNvPr id="5" name="Text 1"/>
          <p:cNvSpPr txBox="1"/>
          <p:nvPr/>
        </p:nvSpPr>
        <p:spPr>
          <a:xfrm>
            <a:off x="502920" y="3291840"/>
            <a:ext cx="9601200" cy="457200"/>
          </a:xfrm>
          <a:prstGeom prst="rect">
            <a:avLst/>
          </a:prstGeom>
          <a:noFill/>
          <a:ln/>
        </p:spPr>
        <p:txBody>
          <a:bodyPr wrap="square" lIns="0" tIns="0" rIns="0" bIns="0" rtlCol="0" anchor="t"/>
          <a:lstStyle/>
          <a:p>
            <a:pPr indent="0" marL="0">
              <a:buNone/>
            </a:pPr>
            <a:r>
              <a:rPr lang="en-US" sz="1800" dirty="0">
                <a:solidFill>
                  <a:srgbClr val="B5B5B5"/>
                </a:solidFill>
                <a:latin typeface="Helvetica Neue" pitchFamily="34" charset="0"/>
                <a:ea typeface="Helvetica Neue" pitchFamily="34" charset="-122"/>
                <a:cs typeface="Helvetica Neue" pitchFamily="34" charset="-120"/>
              </a:rPr>
              <a:t>Laptops open. Three starter tracks, or ship your own thing</a:t>
            </a:r>
            <a:endParaRPr lang="en-US" sz="1800" dirty="0"/>
          </a:p>
        </p:txBody>
      </p:sp>
      <p:sp>
        <p:nvSpPr>
          <p:cNvPr id="6"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FFFFFF"/>
                </a:solidFill>
                <a:latin typeface="Helvetica Neue" pitchFamily="34" charset="0"/>
                <a:ea typeface="Helvetica Neue" pitchFamily="34" charset="-122"/>
                <a:cs typeface="Helvetica Neue" pitchFamily="34" charset="-120"/>
              </a:rPr>
              <a:t>SECTION 05</a:t>
            </a:r>
            <a:endParaRPr lang="en-US" sz="900" dirty="0"/>
          </a:p>
        </p:txBody>
      </p:sp>
      <p:sp>
        <p:nvSpPr>
          <p:cNvPr id="7" name="Text 3"/>
          <p:cNvSpPr txBox="1"/>
          <p:nvPr/>
        </p:nvSpPr>
        <p:spPr>
          <a:xfrm>
            <a:off x="9859975" y="6419088"/>
            <a:ext cx="18288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2026</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54864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Three starter tracks. Pick one, or ship your own thing</a:t>
            </a:r>
            <a:endParaRPr lang="en-US" sz="2700" dirty="0"/>
          </a:p>
        </p:txBody>
      </p:sp>
      <p:sp>
        <p:nvSpPr>
          <p:cNvPr id="3" name="Text 1"/>
          <p:cNvSpPr txBox="1"/>
          <p:nvPr/>
        </p:nvSpPr>
        <p:spPr>
          <a:xfrm>
            <a:off x="502920" y="932688"/>
            <a:ext cx="11185855" cy="365760"/>
          </a:xfrm>
          <a:prstGeom prst="rect">
            <a:avLst/>
          </a:prstGeom>
          <a:noFill/>
          <a:ln/>
        </p:spPr>
        <p:txBody>
          <a:bodyPr wrap="square" lIns="0" tIns="0" rIns="0" bIns="0" rtlCol="0" anchor="t"/>
          <a:lstStyle/>
          <a:p>
            <a:pPr indent="0" marL="0">
              <a:buNone/>
            </a:pPr>
            <a:r>
              <a:rPr lang="en-US" sz="1500" dirty="0">
                <a:solidFill>
                  <a:srgbClr val="B5B5B5"/>
                </a:solidFill>
                <a:latin typeface="Helvetica Neue" pitchFamily="34" charset="0"/>
                <a:ea typeface="Helvetica Neue" pitchFamily="34" charset="-122"/>
                <a:cs typeface="Helvetica Neue" pitchFamily="34" charset="-120"/>
              </a:rPr>
              <a:t>Bring a workflow you would like to make faster. Small teams, one measurable result each</a:t>
            </a:r>
            <a:endParaRPr lang="en-US" sz="1500" dirty="0"/>
          </a:p>
        </p:txBody>
      </p:sp>
      <p:sp>
        <p:nvSpPr>
          <p:cNvPr id="4"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BUILD TIME · TRACKS</a:t>
            </a:r>
            <a:endParaRPr lang="en-US" sz="900" dirty="0"/>
          </a:p>
        </p:txBody>
      </p:sp>
      <p:sp>
        <p:nvSpPr>
          <p:cNvPr id="5" name="Text 3"/>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15</a:t>
            </a:r>
            <a:endParaRPr lang="en-US" sz="900" dirty="0"/>
          </a:p>
        </p:txBody>
      </p:sp>
      <p:sp>
        <p:nvSpPr>
          <p:cNvPr id="7" name="Shape 4"/>
          <p:cNvSpPr/>
          <p:nvPr/>
        </p:nvSpPr>
        <p:spPr>
          <a:xfrm>
            <a:off x="502920" y="1783080"/>
            <a:ext cx="3611880" cy="3246120"/>
          </a:xfrm>
          <a:prstGeom prst="roundRect">
            <a:avLst>
              <a:gd name="adj" fmla="val 2254"/>
            </a:avLst>
          </a:prstGeom>
          <a:solidFill>
            <a:srgbClr val="FFFFFF"/>
          </a:solidFill>
          <a:ln w="9525">
            <a:solidFill>
              <a:srgbClr val="111111"/>
            </a:solidFill>
            <a:prstDash val="solid"/>
          </a:ln>
        </p:spPr>
      </p:sp>
      <p:sp>
        <p:nvSpPr>
          <p:cNvPr id="8" name="Shape 5"/>
          <p:cNvSpPr/>
          <p:nvPr/>
        </p:nvSpPr>
        <p:spPr>
          <a:xfrm>
            <a:off x="3657600" y="1984248"/>
            <a:ext cx="237744" cy="237744"/>
          </a:xfrm>
          <a:prstGeom prst="ellipse">
            <a:avLst/>
          </a:prstGeom>
          <a:solidFill>
            <a:srgbClr val="FFFFFF"/>
          </a:solidFill>
          <a:ln w="9525">
            <a:solidFill>
              <a:srgbClr val="111111"/>
            </a:solidFill>
            <a:prstDash val="solid"/>
          </a:ln>
        </p:spPr>
      </p:sp>
      <p:sp>
        <p:nvSpPr>
          <p:cNvPr id="9" name="Text 6"/>
          <p:cNvSpPr txBox="1"/>
          <p:nvPr/>
        </p:nvSpPr>
        <p:spPr>
          <a:xfrm>
            <a:off x="3657600" y="19933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1</a:t>
            </a:r>
            <a:endParaRPr lang="en-US" sz="900" dirty="0"/>
          </a:p>
        </p:txBody>
      </p:sp>
      <p:pic>
        <p:nvPicPr>
          <p:cNvPr id="10" name="Image 0" descr="preencoded.png">    </p:cNvPr>
          <p:cNvPicPr>
            <a:picLocks noChangeAspect="1"/>
          </p:cNvPicPr>
          <p:nvPr/>
        </p:nvPicPr>
        <p:blipFill>
          <a:blip r:embed="rId1"/>
          <a:stretch>
            <a:fillRect/>
          </a:stretch>
        </p:blipFill>
        <p:spPr>
          <a:xfrm>
            <a:off x="704088" y="1984248"/>
            <a:ext cx="329184" cy="329184"/>
          </a:xfrm>
          <a:prstGeom prst="rect">
            <a:avLst/>
          </a:prstGeom>
        </p:spPr>
      </p:pic>
      <p:sp>
        <p:nvSpPr>
          <p:cNvPr id="11" name="Text 7"/>
          <p:cNvSpPr txBox="1"/>
          <p:nvPr/>
        </p:nvSpPr>
        <p:spPr>
          <a:xfrm>
            <a:off x="704088" y="2423160"/>
            <a:ext cx="3209544" cy="365760"/>
          </a:xfrm>
          <a:prstGeom prst="rect">
            <a:avLst/>
          </a:prstGeom>
          <a:noFill/>
          <a:ln/>
        </p:spPr>
        <p:txBody>
          <a:bodyPr wrap="square" lIns="0" tIns="0" rIns="0" bIns="0" rtlCol="0" anchor="t"/>
          <a:lstStyle/>
          <a:p>
            <a:pPr indent="0" marL="0">
              <a:buNone/>
            </a:pPr>
            <a:r>
              <a:rPr lang="en-US" sz="1800" dirty="0">
                <a:solidFill>
                  <a:srgbClr val="111111"/>
                </a:solidFill>
                <a:latin typeface="Helvetica Neue" pitchFamily="34" charset="0"/>
                <a:ea typeface="Helvetica Neue" pitchFamily="34" charset="-122"/>
                <a:cs typeface="Helvetica Neue" pitchFamily="34" charset="-120"/>
              </a:rPr>
              <a:t>Replace</a:t>
            </a:r>
            <a:endParaRPr lang="en-US" sz="1800" dirty="0"/>
          </a:p>
        </p:txBody>
      </p:sp>
      <p:sp>
        <p:nvSpPr>
          <p:cNvPr id="12" name="Text 8"/>
          <p:cNvSpPr txBox="1"/>
          <p:nvPr/>
        </p:nvSpPr>
        <p:spPr>
          <a:xfrm>
            <a:off x="704088" y="2880360"/>
            <a:ext cx="3209544" cy="137160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Swap an LLM-as-classifier step for Jev on the same inputs. Compare p50 latency, cost per 1k decisions, accuracy and ECE.</a:t>
            </a:r>
            <a:endParaRPr lang="en-US" sz="1050" dirty="0"/>
          </a:p>
        </p:txBody>
      </p:sp>
      <p:sp>
        <p:nvSpPr>
          <p:cNvPr id="13" name="Shape 9"/>
          <p:cNvSpPr/>
          <p:nvPr/>
        </p:nvSpPr>
        <p:spPr>
          <a:xfrm>
            <a:off x="704088" y="4297680"/>
            <a:ext cx="3209544" cy="0"/>
          </a:xfrm>
          <a:prstGeom prst="line">
            <a:avLst/>
          </a:prstGeom>
          <a:noFill/>
          <a:ln w="9525">
            <a:solidFill>
              <a:srgbClr val="E8E8E8"/>
            </a:solidFill>
            <a:prstDash val="solid"/>
          </a:ln>
        </p:spPr>
      </p:sp>
      <p:sp>
        <p:nvSpPr>
          <p:cNvPr id="14" name="Text 10"/>
          <p:cNvSpPr txBox="1"/>
          <p:nvPr/>
        </p:nvSpPr>
        <p:spPr>
          <a:xfrm>
            <a:off x="704088" y="4389120"/>
            <a:ext cx="3209544" cy="548640"/>
          </a:xfrm>
          <a:prstGeom prst="rect">
            <a:avLst/>
          </a:prstGeom>
          <a:noFill/>
          <a:ln/>
        </p:spPr>
        <p:txBody>
          <a:bodyPr wrap="square" lIns="0" tIns="0" rIns="0" bIns="0" rtlCol="0" anchor="t"/>
          <a:lstStyle/>
          <a:p>
            <a:pPr indent="0" marL="0">
              <a:lnSpc>
                <a:spcPct val="105000"/>
              </a:lnSpc>
              <a:buNone/>
            </a:pPr>
            <a:r>
              <a:rPr lang="en-US" sz="980" dirty="0">
                <a:solidFill>
                  <a:srgbClr val="2E2E2E"/>
                </a:solidFill>
                <a:latin typeface="Helvetica Neue" pitchFamily="34" charset="0"/>
                <a:ea typeface="Helvetica Neue" pitchFamily="34" charset="-122"/>
                <a:cs typeface="Helvetica Neue" pitchFamily="34" charset="-120"/>
              </a:rPr>
              <a:t>Deliverable: one comparison table</a:t>
            </a:r>
            <a:endParaRPr lang="en-US" sz="980" dirty="0"/>
          </a:p>
        </p:txBody>
      </p:sp>
      <p:sp>
        <p:nvSpPr>
          <p:cNvPr id="15" name="Shape 11"/>
          <p:cNvSpPr/>
          <p:nvPr/>
        </p:nvSpPr>
        <p:spPr>
          <a:xfrm>
            <a:off x="4279392" y="1783080"/>
            <a:ext cx="3611880" cy="3246120"/>
          </a:xfrm>
          <a:prstGeom prst="roundRect">
            <a:avLst>
              <a:gd name="adj" fmla="val 2254"/>
            </a:avLst>
          </a:prstGeom>
          <a:solidFill>
            <a:srgbClr val="FFFFFF"/>
          </a:solidFill>
          <a:ln w="9525">
            <a:solidFill>
              <a:srgbClr val="111111"/>
            </a:solidFill>
            <a:prstDash val="solid"/>
          </a:ln>
        </p:spPr>
      </p:sp>
      <p:sp>
        <p:nvSpPr>
          <p:cNvPr id="16" name="Shape 12"/>
          <p:cNvSpPr/>
          <p:nvPr/>
        </p:nvSpPr>
        <p:spPr>
          <a:xfrm>
            <a:off x="7434072" y="1984248"/>
            <a:ext cx="237744" cy="237744"/>
          </a:xfrm>
          <a:prstGeom prst="ellipse">
            <a:avLst/>
          </a:prstGeom>
          <a:solidFill>
            <a:srgbClr val="FFFFFF"/>
          </a:solidFill>
          <a:ln w="9525">
            <a:solidFill>
              <a:srgbClr val="111111"/>
            </a:solidFill>
            <a:prstDash val="solid"/>
          </a:ln>
        </p:spPr>
      </p:sp>
      <p:sp>
        <p:nvSpPr>
          <p:cNvPr id="17" name="Text 13"/>
          <p:cNvSpPr txBox="1"/>
          <p:nvPr/>
        </p:nvSpPr>
        <p:spPr>
          <a:xfrm>
            <a:off x="7434072" y="19933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2</a:t>
            </a:r>
            <a:endParaRPr lang="en-US" sz="900" dirty="0"/>
          </a:p>
        </p:txBody>
      </p:sp>
      <p:pic>
        <p:nvPicPr>
          <p:cNvPr id="18" name="Image 1" descr="preencoded.png">    </p:cNvPr>
          <p:cNvPicPr>
            <a:picLocks noChangeAspect="1"/>
          </p:cNvPicPr>
          <p:nvPr/>
        </p:nvPicPr>
        <p:blipFill>
          <a:blip r:embed="rId2"/>
          <a:stretch>
            <a:fillRect/>
          </a:stretch>
        </p:blipFill>
        <p:spPr>
          <a:xfrm>
            <a:off x="4480560" y="1984248"/>
            <a:ext cx="329184" cy="329184"/>
          </a:xfrm>
          <a:prstGeom prst="rect">
            <a:avLst/>
          </a:prstGeom>
        </p:spPr>
      </p:pic>
      <p:sp>
        <p:nvSpPr>
          <p:cNvPr id="19" name="Text 14"/>
          <p:cNvSpPr txBox="1"/>
          <p:nvPr/>
        </p:nvSpPr>
        <p:spPr>
          <a:xfrm>
            <a:off x="4480560" y="2423160"/>
            <a:ext cx="3209544" cy="365760"/>
          </a:xfrm>
          <a:prstGeom prst="rect">
            <a:avLst/>
          </a:prstGeom>
          <a:noFill/>
          <a:ln/>
        </p:spPr>
        <p:txBody>
          <a:bodyPr wrap="square" lIns="0" tIns="0" rIns="0" bIns="0" rtlCol="0" anchor="t"/>
          <a:lstStyle/>
          <a:p>
            <a:pPr indent="0" marL="0">
              <a:buNone/>
            </a:pPr>
            <a:r>
              <a:rPr lang="en-US" sz="1800" dirty="0">
                <a:solidFill>
                  <a:srgbClr val="111111"/>
                </a:solidFill>
                <a:latin typeface="Helvetica Neue" pitchFamily="34" charset="0"/>
                <a:ea typeface="Helvetica Neue" pitchFamily="34" charset="-122"/>
                <a:cs typeface="Helvetica Neue" pitchFamily="34" charset="-120"/>
              </a:rPr>
              <a:t>Fine-tune</a:t>
            </a:r>
            <a:endParaRPr lang="en-US" sz="1800" dirty="0"/>
          </a:p>
        </p:txBody>
      </p:sp>
      <p:sp>
        <p:nvSpPr>
          <p:cNvPr id="20" name="Text 15"/>
          <p:cNvSpPr txBox="1"/>
          <p:nvPr/>
        </p:nvSpPr>
        <p:spPr>
          <a:xfrm>
            <a:off x="4480560" y="2880360"/>
            <a:ext cx="3209544" cy="137160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Label a few hundred decisions from your domain and run the Laya Kaggle notebook. Fit temperatures. Zero-shot vs fine-tuned.</a:t>
            </a:r>
            <a:endParaRPr lang="en-US" sz="1050" dirty="0"/>
          </a:p>
        </p:txBody>
      </p:sp>
      <p:sp>
        <p:nvSpPr>
          <p:cNvPr id="21" name="Shape 16"/>
          <p:cNvSpPr/>
          <p:nvPr/>
        </p:nvSpPr>
        <p:spPr>
          <a:xfrm>
            <a:off x="4480560" y="4297680"/>
            <a:ext cx="3209544" cy="0"/>
          </a:xfrm>
          <a:prstGeom prst="line">
            <a:avLst/>
          </a:prstGeom>
          <a:noFill/>
          <a:ln w="9525">
            <a:solidFill>
              <a:srgbClr val="E8E8E8"/>
            </a:solidFill>
            <a:prstDash val="solid"/>
          </a:ln>
        </p:spPr>
      </p:sp>
      <p:sp>
        <p:nvSpPr>
          <p:cNvPr id="22" name="Text 17"/>
          <p:cNvSpPr txBox="1"/>
          <p:nvPr/>
        </p:nvSpPr>
        <p:spPr>
          <a:xfrm>
            <a:off x="4480560" y="4389120"/>
            <a:ext cx="3209544" cy="548640"/>
          </a:xfrm>
          <a:prstGeom prst="rect">
            <a:avLst/>
          </a:prstGeom>
          <a:noFill/>
          <a:ln/>
        </p:spPr>
        <p:txBody>
          <a:bodyPr wrap="square" lIns="0" tIns="0" rIns="0" bIns="0" rtlCol="0" anchor="t"/>
          <a:lstStyle/>
          <a:p>
            <a:pPr indent="0" marL="0">
              <a:lnSpc>
                <a:spcPct val="105000"/>
              </a:lnSpc>
              <a:buNone/>
            </a:pPr>
            <a:r>
              <a:rPr lang="en-US" sz="980" dirty="0">
                <a:solidFill>
                  <a:srgbClr val="2E2E2E"/>
                </a:solidFill>
                <a:latin typeface="Helvetica Neue" pitchFamily="34" charset="0"/>
                <a:ea typeface="Helvetica Neue" pitchFamily="34" charset="-122"/>
                <a:cs typeface="Helvetica Neue" pitchFamily="34" charset="-120"/>
              </a:rPr>
              <a:t>Deliverable: before/after accuracy + ECE, pushed checkpoint</a:t>
            </a:r>
            <a:endParaRPr lang="en-US" sz="980" dirty="0"/>
          </a:p>
        </p:txBody>
      </p:sp>
      <p:sp>
        <p:nvSpPr>
          <p:cNvPr id="23" name="Shape 18"/>
          <p:cNvSpPr/>
          <p:nvPr/>
        </p:nvSpPr>
        <p:spPr>
          <a:xfrm>
            <a:off x="8055864" y="1783080"/>
            <a:ext cx="3611880" cy="3246120"/>
          </a:xfrm>
          <a:prstGeom prst="roundRect">
            <a:avLst>
              <a:gd name="adj" fmla="val 2254"/>
            </a:avLst>
          </a:prstGeom>
          <a:solidFill>
            <a:srgbClr val="FFFFFF"/>
          </a:solidFill>
          <a:ln w="9525">
            <a:solidFill>
              <a:srgbClr val="111111"/>
            </a:solidFill>
            <a:prstDash val="solid"/>
          </a:ln>
        </p:spPr>
      </p:sp>
      <p:sp>
        <p:nvSpPr>
          <p:cNvPr id="24" name="Shape 19"/>
          <p:cNvSpPr/>
          <p:nvPr/>
        </p:nvSpPr>
        <p:spPr>
          <a:xfrm>
            <a:off x="11210544" y="1984248"/>
            <a:ext cx="237744" cy="237744"/>
          </a:xfrm>
          <a:prstGeom prst="ellipse">
            <a:avLst/>
          </a:prstGeom>
          <a:solidFill>
            <a:srgbClr val="FFFFFF"/>
          </a:solidFill>
          <a:ln w="9525">
            <a:solidFill>
              <a:srgbClr val="111111"/>
            </a:solidFill>
            <a:prstDash val="solid"/>
          </a:ln>
        </p:spPr>
      </p:sp>
      <p:sp>
        <p:nvSpPr>
          <p:cNvPr id="25" name="Text 20"/>
          <p:cNvSpPr txBox="1"/>
          <p:nvPr/>
        </p:nvSpPr>
        <p:spPr>
          <a:xfrm>
            <a:off x="11210544" y="19933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3</a:t>
            </a:r>
            <a:endParaRPr lang="en-US" sz="900" dirty="0"/>
          </a:p>
        </p:txBody>
      </p:sp>
      <p:pic>
        <p:nvPicPr>
          <p:cNvPr id="26" name="Image 2" descr="preencoded.png">    </p:cNvPr>
          <p:cNvPicPr>
            <a:picLocks noChangeAspect="1"/>
          </p:cNvPicPr>
          <p:nvPr/>
        </p:nvPicPr>
        <p:blipFill>
          <a:blip r:embed="rId3"/>
          <a:stretch>
            <a:fillRect/>
          </a:stretch>
        </p:blipFill>
        <p:spPr>
          <a:xfrm>
            <a:off x="8257032" y="1984248"/>
            <a:ext cx="329184" cy="329184"/>
          </a:xfrm>
          <a:prstGeom prst="rect">
            <a:avLst/>
          </a:prstGeom>
        </p:spPr>
      </p:pic>
      <p:sp>
        <p:nvSpPr>
          <p:cNvPr id="27" name="Text 21"/>
          <p:cNvSpPr txBox="1"/>
          <p:nvPr/>
        </p:nvSpPr>
        <p:spPr>
          <a:xfrm>
            <a:off x="8257032" y="2423160"/>
            <a:ext cx="3209544" cy="365760"/>
          </a:xfrm>
          <a:prstGeom prst="rect">
            <a:avLst/>
          </a:prstGeom>
          <a:noFill/>
          <a:ln/>
        </p:spPr>
        <p:txBody>
          <a:bodyPr wrap="square" lIns="0" tIns="0" rIns="0" bIns="0" rtlCol="0" anchor="t"/>
          <a:lstStyle/>
          <a:p>
            <a:pPr indent="0" marL="0">
              <a:buNone/>
            </a:pPr>
            <a:r>
              <a:rPr lang="en-US" sz="1800" dirty="0">
                <a:solidFill>
                  <a:srgbClr val="111111"/>
                </a:solidFill>
                <a:latin typeface="Helvetica Neue" pitchFamily="34" charset="0"/>
                <a:ea typeface="Helvetica Neue" pitchFamily="34" charset="-122"/>
                <a:cs typeface="Helvetica Neue" pitchFamily="34" charset="-120"/>
              </a:rPr>
              <a:t>Gate</a:t>
            </a:r>
            <a:endParaRPr lang="en-US" sz="1800" dirty="0"/>
          </a:p>
        </p:txBody>
      </p:sp>
      <p:sp>
        <p:nvSpPr>
          <p:cNvPr id="28" name="Text 22"/>
          <p:cNvSpPr txBox="1"/>
          <p:nvPr/>
        </p:nvSpPr>
        <p:spPr>
          <a:xfrm>
            <a:off x="8257032" y="2880360"/>
            <a:ext cx="3209544" cy="1371600"/>
          </a:xfrm>
          <a:prstGeom prst="rect">
            <a:avLst/>
          </a:prstGeom>
          <a:noFill/>
          <a:ln/>
        </p:spPr>
        <p:txBody>
          <a:bodyPr wrap="square" lIns="0" tIns="0" rIns="0" bIns="0" rtlCol="0" anchor="t"/>
          <a:lstStyle/>
          <a:p>
            <a:pPr indent="0" marL="0">
              <a:lnSpc>
                <a:spcPct val="105000"/>
              </a:lnSpc>
              <a:buNone/>
            </a:pPr>
            <a:r>
              <a:rPr lang="en-US" sz="1050" dirty="0">
                <a:solidFill>
                  <a:srgbClr val="4C4C4C"/>
                </a:solidFill>
                <a:latin typeface="Helvetica Neue" pitchFamily="34" charset="0"/>
                <a:ea typeface="Helvetica Neue" pitchFamily="34" charset="-122"/>
                <a:cs typeface="Helvetica Neue" pitchFamily="34" charset="-120"/>
              </a:rPr>
              <a:t>Wire calibrated probabilities into a routing or escalation threshold instead of a hard rule. Measure automatable share at a target error rate.</a:t>
            </a:r>
            <a:endParaRPr lang="en-US" sz="1050" dirty="0"/>
          </a:p>
        </p:txBody>
      </p:sp>
      <p:sp>
        <p:nvSpPr>
          <p:cNvPr id="29" name="Shape 23"/>
          <p:cNvSpPr/>
          <p:nvPr/>
        </p:nvSpPr>
        <p:spPr>
          <a:xfrm>
            <a:off x="8257032" y="4297680"/>
            <a:ext cx="3209544" cy="0"/>
          </a:xfrm>
          <a:prstGeom prst="line">
            <a:avLst/>
          </a:prstGeom>
          <a:noFill/>
          <a:ln w="9525">
            <a:solidFill>
              <a:srgbClr val="E8E8E8"/>
            </a:solidFill>
            <a:prstDash val="solid"/>
          </a:ln>
        </p:spPr>
      </p:sp>
      <p:sp>
        <p:nvSpPr>
          <p:cNvPr id="30" name="Text 24"/>
          <p:cNvSpPr txBox="1"/>
          <p:nvPr/>
        </p:nvSpPr>
        <p:spPr>
          <a:xfrm>
            <a:off x="8257032" y="4389120"/>
            <a:ext cx="3209544" cy="548640"/>
          </a:xfrm>
          <a:prstGeom prst="rect">
            <a:avLst/>
          </a:prstGeom>
          <a:noFill/>
          <a:ln/>
        </p:spPr>
        <p:txBody>
          <a:bodyPr wrap="square" lIns="0" tIns="0" rIns="0" bIns="0" rtlCol="0" anchor="t"/>
          <a:lstStyle/>
          <a:p>
            <a:pPr indent="0" marL="0">
              <a:lnSpc>
                <a:spcPct val="105000"/>
              </a:lnSpc>
              <a:buNone/>
            </a:pPr>
            <a:r>
              <a:rPr lang="en-US" sz="980" dirty="0">
                <a:solidFill>
                  <a:srgbClr val="2E2E2E"/>
                </a:solidFill>
                <a:latin typeface="Helvetica Neue" pitchFamily="34" charset="0"/>
                <a:ea typeface="Helvetica Neue" pitchFamily="34" charset="-122"/>
                <a:cs typeface="Helvetica Neue" pitchFamily="34" charset="-120"/>
              </a:rPr>
              <a:t>Deliverable: a coverage-vs-accuracy curve</a:t>
            </a:r>
            <a:endParaRPr lang="en-US" sz="980" dirty="0"/>
          </a:p>
        </p:txBody>
      </p:sp>
      <p:sp>
        <p:nvSpPr>
          <p:cNvPr id="31" name="Shape 25"/>
          <p:cNvSpPr/>
          <p:nvPr/>
        </p:nvSpPr>
        <p:spPr>
          <a:xfrm>
            <a:off x="502920" y="5303520"/>
            <a:ext cx="3840480" cy="457200"/>
          </a:xfrm>
          <a:prstGeom prst="roundRect">
            <a:avLst>
              <a:gd name="adj" fmla="val 50000"/>
            </a:avLst>
          </a:prstGeom>
          <a:solidFill>
            <a:srgbClr val="FFFFFF"/>
          </a:solidFill>
          <a:ln w="6350">
            <a:solidFill>
              <a:srgbClr val="E8E8E8"/>
            </a:solidFill>
            <a:prstDash val="solid"/>
          </a:ln>
          <a:effectLst>
            <a:outerShdw sx="100000" sy="100000" kx="0" ky="0" algn="bl" rotWithShape="0" blurRad="76200" dist="12700" dir="5400000">
              <a:srgbClr val="000000">
                <a:alpha val="8000"/>
              </a:srgbClr>
            </a:outerShdw>
          </a:effectLst>
        </p:spPr>
      </p:sp>
      <p:pic>
        <p:nvPicPr>
          <p:cNvPr id="32" name="Image 3" descr="preencoded.png">    </p:cNvPr>
          <p:cNvPicPr>
            <a:picLocks noChangeAspect="1"/>
          </p:cNvPicPr>
          <p:nvPr/>
        </p:nvPicPr>
        <p:blipFill>
          <a:blip r:embed="rId4"/>
          <a:stretch>
            <a:fillRect/>
          </a:stretch>
        </p:blipFill>
        <p:spPr>
          <a:xfrm>
            <a:off x="667512" y="5422392"/>
            <a:ext cx="219456" cy="219456"/>
          </a:xfrm>
          <a:prstGeom prst="rect">
            <a:avLst/>
          </a:prstGeom>
        </p:spPr>
      </p:pic>
      <p:sp>
        <p:nvSpPr>
          <p:cNvPr id="33" name="Text 26"/>
          <p:cNvSpPr txBox="1"/>
          <p:nvPr/>
        </p:nvSpPr>
        <p:spPr>
          <a:xfrm>
            <a:off x="960120" y="5321808"/>
            <a:ext cx="2743200" cy="420624"/>
          </a:xfrm>
          <a:prstGeom prst="rect">
            <a:avLst/>
          </a:prstGeom>
          <a:noFill/>
          <a:ln/>
        </p:spPr>
        <p:txBody>
          <a:bodyPr wrap="square" lIns="0" tIns="0" rIns="0" bIns="0" rtlCol="0" anchor="ctr"/>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Or ship your own thing</a:t>
            </a:r>
            <a:endParaRPr lang="en-US" sz="1250" dirty="0"/>
          </a:p>
        </p:txBody>
      </p:sp>
      <p:sp>
        <p:nvSpPr>
          <p:cNvPr id="34" name="Shape 27"/>
          <p:cNvSpPr/>
          <p:nvPr/>
        </p:nvSpPr>
        <p:spPr>
          <a:xfrm>
            <a:off x="3703320" y="5422392"/>
            <a:ext cx="457200" cy="219456"/>
          </a:xfrm>
          <a:prstGeom prst="roundRect">
            <a:avLst>
              <a:gd name="adj" fmla="val 50000"/>
            </a:avLst>
          </a:prstGeom>
          <a:solidFill>
            <a:srgbClr val="22C55E"/>
          </a:solidFill>
          <a:ln w="12700">
            <a:solidFill>
              <a:srgbClr val="22C55E"/>
            </a:solidFill>
            <a:prstDash val="solid"/>
          </a:ln>
        </p:spPr>
      </p:sp>
      <p:sp>
        <p:nvSpPr>
          <p:cNvPr id="35" name="Shape 28"/>
          <p:cNvSpPr/>
          <p:nvPr/>
        </p:nvSpPr>
        <p:spPr>
          <a:xfrm>
            <a:off x="3959352" y="5440680"/>
            <a:ext cx="182880" cy="182880"/>
          </a:xfrm>
          <a:prstGeom prst="ellipse">
            <a:avLst/>
          </a:prstGeom>
          <a:solidFill>
            <a:srgbClr val="FFFFFF"/>
          </a:solidFill>
          <a:ln w="12700">
            <a:solidFill>
              <a:srgbClr val="FFFFFF"/>
            </a:solidFill>
            <a:prstDash val="solid"/>
          </a:ln>
        </p:spPr>
      </p:sp>
      <p:sp>
        <p:nvSpPr>
          <p:cNvPr id="36" name="Text 29"/>
          <p:cNvSpPr txBox="1"/>
          <p:nvPr/>
        </p:nvSpPr>
        <p:spPr>
          <a:xfrm>
            <a:off x="4572000" y="5285232"/>
            <a:ext cx="7132320" cy="548640"/>
          </a:xfrm>
          <a:prstGeom prst="rect">
            <a:avLst/>
          </a:prstGeom>
          <a:noFill/>
          <a:ln/>
        </p:spPr>
        <p:txBody>
          <a:bodyPr wrap="square" lIns="0" tIns="0" rIns="0" bIns="0" rtlCol="0" anchor="t"/>
          <a:lstStyle/>
          <a:p>
            <a:pPr indent="0" marL="0">
              <a:buNone/>
            </a:pPr>
            <a:r>
              <a:rPr lang="en-US" sz="1100" dirty="0">
                <a:solidFill>
                  <a:srgbClr val="4C4C4C"/>
                </a:solidFill>
                <a:latin typeface="Helvetica Neue" pitchFamily="34" charset="0"/>
                <a:ea typeface="Helvetica Neue" pitchFamily="34" charset="-122"/>
                <a:cs typeface="Helvetica Neue" pitchFamily="34" charset="-120"/>
              </a:rPr>
              <a:t>The only ask: show a number at the end. Latency, cost, accuracy or calibration — measured on your workflow, not quoted from a launch post.</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Three problem statements from an inbox-to-ERP pipeline, with data you can start on</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BUILD TIME · PROBLEM STATEMENTS</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16</a:t>
            </a:r>
            <a:endParaRPr lang="en-US" sz="900" dirty="0"/>
          </a:p>
        </p:txBody>
      </p:sp>
      <p:sp>
        <p:nvSpPr>
          <p:cNvPr id="6" name="Shape 3"/>
          <p:cNvSpPr/>
          <p:nvPr/>
        </p:nvSpPr>
        <p:spPr>
          <a:xfrm>
            <a:off x="502920" y="1783080"/>
            <a:ext cx="3611880" cy="4206240"/>
          </a:xfrm>
          <a:prstGeom prst="roundRect">
            <a:avLst>
              <a:gd name="adj" fmla="val 2025"/>
            </a:avLst>
          </a:prstGeom>
          <a:solidFill>
            <a:srgbClr val="EEF2F4"/>
          </a:solidFill>
          <a:ln w="12700">
            <a:solidFill>
              <a:srgbClr val="EEF2F4"/>
            </a:solidFill>
            <a:prstDash val="solid"/>
          </a:ln>
        </p:spPr>
      </p:sp>
      <p:sp>
        <p:nvSpPr>
          <p:cNvPr id="7" name="Text 4"/>
          <p:cNvSpPr txBox="1"/>
          <p:nvPr/>
        </p:nvSpPr>
        <p:spPr>
          <a:xfrm>
            <a:off x="731520" y="1965960"/>
            <a:ext cx="731520" cy="320040"/>
          </a:xfrm>
          <a:prstGeom prst="rect">
            <a:avLst/>
          </a:prstGeom>
          <a:noFill/>
          <a:ln/>
        </p:spPr>
        <p:txBody>
          <a:bodyPr wrap="square" lIns="0" tIns="0" rIns="0" bIns="0" rtlCol="0" anchor="t"/>
          <a:lstStyle/>
          <a:p>
            <a:pPr indent="0" marL="0">
              <a:buNone/>
            </a:pPr>
            <a:r>
              <a:rPr lang="en-US" sz="1500" dirty="0">
                <a:solidFill>
                  <a:srgbClr val="7A7A7A"/>
                </a:solidFill>
                <a:latin typeface="Helvetica Neue" pitchFamily="34" charset="0"/>
                <a:ea typeface="Helvetica Neue" pitchFamily="34" charset="-122"/>
                <a:cs typeface="Helvetica Neue" pitchFamily="34" charset="-120"/>
              </a:rPr>
              <a:t>01</a:t>
            </a:r>
            <a:endParaRPr lang="en-US" sz="1500" dirty="0"/>
          </a:p>
        </p:txBody>
      </p:sp>
      <p:sp>
        <p:nvSpPr>
          <p:cNvPr id="8" name="Text 5"/>
          <p:cNvSpPr txBox="1"/>
          <p:nvPr/>
        </p:nvSpPr>
        <p:spPr>
          <a:xfrm>
            <a:off x="731520" y="2286000"/>
            <a:ext cx="2331720" cy="365760"/>
          </a:xfrm>
          <a:prstGeom prst="rect">
            <a:avLst/>
          </a:prstGeom>
          <a:noFill/>
          <a:ln/>
        </p:spPr>
        <p:txBody>
          <a:bodyPr wrap="square" lIns="0" tIns="0" rIns="0" bIns="0" rtlCol="0" anchor="t"/>
          <a:lstStyle/>
          <a:p>
            <a:pPr indent="0" marL="0">
              <a:buNone/>
            </a:pPr>
            <a:r>
              <a:rPr lang="en-US" sz="1700" dirty="0">
                <a:solidFill>
                  <a:srgbClr val="111111"/>
                </a:solidFill>
                <a:latin typeface="Helvetica Neue" pitchFamily="34" charset="0"/>
                <a:ea typeface="Helvetica Neue" pitchFamily="34" charset="-122"/>
                <a:cs typeface="Helvetica Neue" pitchFamily="34" charset="-120"/>
              </a:rPr>
              <a:t>Inbox IQ</a:t>
            </a:r>
            <a:endParaRPr lang="en-US" sz="1700" dirty="0"/>
          </a:p>
        </p:txBody>
      </p:sp>
      <p:sp>
        <p:nvSpPr>
          <p:cNvPr id="9" name="Shape 6"/>
          <p:cNvSpPr/>
          <p:nvPr/>
        </p:nvSpPr>
        <p:spPr>
          <a:xfrm>
            <a:off x="3154680" y="2331720"/>
            <a:ext cx="731520" cy="237744"/>
          </a:xfrm>
          <a:prstGeom prst="roundRect">
            <a:avLst>
              <a:gd name="adj" fmla="val 50000"/>
            </a:avLst>
          </a:prstGeom>
          <a:solidFill>
            <a:srgbClr val="111111"/>
          </a:solidFill>
          <a:ln w="6350">
            <a:solidFill>
              <a:srgbClr val="111111"/>
            </a:solidFill>
            <a:prstDash val="solid"/>
          </a:ln>
        </p:spPr>
      </p:sp>
      <p:sp>
        <p:nvSpPr>
          <p:cNvPr id="10" name="Text 7"/>
          <p:cNvSpPr txBox="1"/>
          <p:nvPr/>
        </p:nvSpPr>
        <p:spPr>
          <a:xfrm>
            <a:off x="3154680" y="2336292"/>
            <a:ext cx="731520"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Easy</a:t>
            </a:r>
            <a:endParaRPr lang="en-US" sz="850" dirty="0"/>
          </a:p>
        </p:txBody>
      </p:sp>
      <p:sp>
        <p:nvSpPr>
          <p:cNvPr id="11" name="Text 8"/>
          <p:cNvSpPr txBox="1"/>
          <p:nvPr/>
        </p:nvSpPr>
        <p:spPr>
          <a:xfrm>
            <a:off x="731520" y="274320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Input</a:t>
            </a:r>
            <a:endParaRPr lang="en-US" sz="850" dirty="0"/>
          </a:p>
        </p:txBody>
      </p:sp>
      <p:sp>
        <p:nvSpPr>
          <p:cNvPr id="12" name="Text 9"/>
          <p:cNvSpPr txBox="1"/>
          <p:nvPr/>
        </p:nvSpPr>
        <p:spPr>
          <a:xfrm>
            <a:off x="731520" y="2944368"/>
            <a:ext cx="3154680" cy="868680"/>
          </a:xfrm>
          <a:prstGeom prst="rect">
            <a:avLst/>
          </a:prstGeom>
          <a:noFill/>
          <a:ln/>
        </p:spPr>
        <p:txBody>
          <a:bodyPr wrap="square" lIns="0" tIns="0" rIns="0" bIns="0" rtlCol="0" anchor="t"/>
          <a:lstStyle/>
          <a:p>
            <a:pPr indent="0" marL="0">
              <a:lnSpc>
                <a:spcPct val="105000"/>
              </a:lnSpc>
              <a:buNone/>
            </a:pPr>
            <a:r>
              <a:rPr lang="en-US" sz="980" dirty="0">
                <a:solidFill>
                  <a:srgbClr val="4C4C4C"/>
                </a:solidFill>
                <a:latin typeface="Helvetica Neue" pitchFamily="34" charset="0"/>
                <a:ea typeface="Helvetica Neue" pitchFamily="34" charset="-122"/>
                <a:cs typeface="Helvetica Neue" pitchFamily="34" charset="-120"/>
              </a:rPr>
              <a:t>A shared ops mailbox: orders, changes, invoices, shipment questions, claims, noise. 60 synthetic emails (EN/DE) with labels.</a:t>
            </a:r>
            <a:endParaRPr lang="en-US" sz="980" dirty="0"/>
          </a:p>
        </p:txBody>
      </p:sp>
      <p:sp>
        <p:nvSpPr>
          <p:cNvPr id="13" name="Text 10"/>
          <p:cNvSpPr txBox="1"/>
          <p:nvPr/>
        </p:nvSpPr>
        <p:spPr>
          <a:xfrm>
            <a:off x="731520" y="384048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Decide</a:t>
            </a:r>
            <a:endParaRPr lang="en-US" sz="850" dirty="0"/>
          </a:p>
        </p:txBody>
      </p:sp>
      <p:sp>
        <p:nvSpPr>
          <p:cNvPr id="14" name="Text 11"/>
          <p:cNvSpPr txBox="1"/>
          <p:nvPr/>
        </p:nvSpPr>
        <p:spPr>
          <a:xfrm>
            <a:off x="731520" y="4041648"/>
            <a:ext cx="3154680" cy="109728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queue (choice, keep "other")</a:t>
            </a:r>
            <a:endParaRPr lang="en-US" sz="980" dirty="0"/>
          </a:p>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urgency (score 0–2)</a:t>
            </a:r>
            <a:endParaRPr lang="en-US" sz="980" dirty="0"/>
          </a:p>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needs reply (noul)</a:t>
            </a:r>
            <a:endParaRPr lang="en-US" sz="980" dirty="0"/>
          </a:p>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actionable attachment (noul)</a:t>
            </a:r>
            <a:endParaRPr lang="en-US" sz="980" dirty="0"/>
          </a:p>
        </p:txBody>
      </p:sp>
      <p:sp>
        <p:nvSpPr>
          <p:cNvPr id="15" name="Text 12"/>
          <p:cNvSpPr txBox="1"/>
          <p:nvPr/>
        </p:nvSpPr>
        <p:spPr>
          <a:xfrm>
            <a:off x="731520" y="516636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Measure</a:t>
            </a:r>
            <a:endParaRPr lang="en-US" sz="850" dirty="0"/>
          </a:p>
        </p:txBody>
      </p:sp>
      <p:sp>
        <p:nvSpPr>
          <p:cNvPr id="16" name="Text 13"/>
          <p:cNvSpPr txBox="1"/>
          <p:nvPr/>
        </p:nvSpPr>
        <p:spPr>
          <a:xfrm>
            <a:off x="731520" y="5367528"/>
            <a:ext cx="3154680" cy="566928"/>
          </a:xfrm>
          <a:prstGeom prst="rect">
            <a:avLst/>
          </a:prstGeom>
          <a:noFill/>
          <a:ln/>
        </p:spPr>
        <p:txBody>
          <a:bodyPr wrap="square" lIns="0" tIns="0" rIns="0" bIns="0" rtlCol="0" anchor="t"/>
          <a:lstStyle/>
          <a:p>
            <a:pPr indent="0" marL="0">
              <a:lnSpc>
                <a:spcPct val="105000"/>
              </a:lnSpc>
              <a:buNone/>
            </a:pPr>
            <a:r>
              <a:rPr lang="en-US" sz="980" dirty="0">
                <a:solidFill>
                  <a:srgbClr val="4C4C4C"/>
                </a:solidFill>
                <a:latin typeface="Helvetica Neue" pitchFamily="34" charset="0"/>
                <a:ea typeface="Helvetica Neue" pitchFamily="34" charset="-122"/>
                <a:cs typeface="Helvetica Neue" pitchFamily="34" charset="-120"/>
              </a:rPr>
              <a:t>Coverage at 95% precision on queue; ECE; p50 latency; cost per 1k emails.</a:t>
            </a:r>
            <a:endParaRPr lang="en-US" sz="980" dirty="0"/>
          </a:p>
        </p:txBody>
      </p:sp>
      <p:sp>
        <p:nvSpPr>
          <p:cNvPr id="17" name="Shape 14"/>
          <p:cNvSpPr/>
          <p:nvPr/>
        </p:nvSpPr>
        <p:spPr>
          <a:xfrm>
            <a:off x="4279392" y="1783080"/>
            <a:ext cx="3611880" cy="4206240"/>
          </a:xfrm>
          <a:prstGeom prst="roundRect">
            <a:avLst>
              <a:gd name="adj" fmla="val 2025"/>
            </a:avLst>
          </a:prstGeom>
          <a:solidFill>
            <a:srgbClr val="EEF2F4"/>
          </a:solidFill>
          <a:ln w="12700">
            <a:solidFill>
              <a:srgbClr val="EEF2F4"/>
            </a:solidFill>
            <a:prstDash val="solid"/>
          </a:ln>
        </p:spPr>
      </p:sp>
      <p:sp>
        <p:nvSpPr>
          <p:cNvPr id="18" name="Text 15"/>
          <p:cNvSpPr txBox="1"/>
          <p:nvPr/>
        </p:nvSpPr>
        <p:spPr>
          <a:xfrm>
            <a:off x="4507992" y="1965960"/>
            <a:ext cx="731520" cy="320040"/>
          </a:xfrm>
          <a:prstGeom prst="rect">
            <a:avLst/>
          </a:prstGeom>
          <a:noFill/>
          <a:ln/>
        </p:spPr>
        <p:txBody>
          <a:bodyPr wrap="square" lIns="0" tIns="0" rIns="0" bIns="0" rtlCol="0" anchor="t"/>
          <a:lstStyle/>
          <a:p>
            <a:pPr indent="0" marL="0">
              <a:buNone/>
            </a:pPr>
            <a:r>
              <a:rPr lang="en-US" sz="1500" dirty="0">
                <a:solidFill>
                  <a:srgbClr val="7A7A7A"/>
                </a:solidFill>
                <a:latin typeface="Helvetica Neue" pitchFamily="34" charset="0"/>
                <a:ea typeface="Helvetica Neue" pitchFamily="34" charset="-122"/>
                <a:cs typeface="Helvetica Neue" pitchFamily="34" charset="-120"/>
              </a:rPr>
              <a:t>02</a:t>
            </a:r>
            <a:endParaRPr lang="en-US" sz="1500" dirty="0"/>
          </a:p>
        </p:txBody>
      </p:sp>
      <p:sp>
        <p:nvSpPr>
          <p:cNvPr id="19" name="Text 16"/>
          <p:cNvSpPr txBox="1"/>
          <p:nvPr/>
        </p:nvSpPr>
        <p:spPr>
          <a:xfrm>
            <a:off x="4507992" y="2286000"/>
            <a:ext cx="2331720" cy="365760"/>
          </a:xfrm>
          <a:prstGeom prst="rect">
            <a:avLst/>
          </a:prstGeom>
          <a:noFill/>
          <a:ln/>
        </p:spPr>
        <p:txBody>
          <a:bodyPr wrap="square" lIns="0" tIns="0" rIns="0" bIns="0" rtlCol="0" anchor="t"/>
          <a:lstStyle/>
          <a:p>
            <a:pPr indent="0" marL="0">
              <a:buNone/>
            </a:pPr>
            <a:r>
              <a:rPr lang="en-US" sz="1700" dirty="0">
                <a:solidFill>
                  <a:srgbClr val="111111"/>
                </a:solidFill>
                <a:latin typeface="Helvetica Neue" pitchFamily="34" charset="0"/>
                <a:ea typeface="Helvetica Neue" pitchFamily="34" charset="-122"/>
                <a:cs typeface="Helvetica Neue" pitchFamily="34" charset="-120"/>
              </a:rPr>
              <a:t>Rule engine</a:t>
            </a:r>
            <a:endParaRPr lang="en-US" sz="1700" dirty="0"/>
          </a:p>
        </p:txBody>
      </p:sp>
      <p:sp>
        <p:nvSpPr>
          <p:cNvPr id="20" name="Shape 17"/>
          <p:cNvSpPr/>
          <p:nvPr/>
        </p:nvSpPr>
        <p:spPr>
          <a:xfrm>
            <a:off x="6931152" y="2331720"/>
            <a:ext cx="731520" cy="237744"/>
          </a:xfrm>
          <a:prstGeom prst="roundRect">
            <a:avLst>
              <a:gd name="adj" fmla="val 50000"/>
            </a:avLst>
          </a:prstGeom>
          <a:solidFill>
            <a:srgbClr val="111111"/>
          </a:solidFill>
          <a:ln w="6350">
            <a:solidFill>
              <a:srgbClr val="111111"/>
            </a:solidFill>
            <a:prstDash val="solid"/>
          </a:ln>
        </p:spPr>
      </p:sp>
      <p:sp>
        <p:nvSpPr>
          <p:cNvPr id="21" name="Text 18"/>
          <p:cNvSpPr txBox="1"/>
          <p:nvPr/>
        </p:nvSpPr>
        <p:spPr>
          <a:xfrm>
            <a:off x="6931152" y="2336292"/>
            <a:ext cx="731520"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Medium</a:t>
            </a:r>
            <a:endParaRPr lang="en-US" sz="850" dirty="0"/>
          </a:p>
        </p:txBody>
      </p:sp>
      <p:sp>
        <p:nvSpPr>
          <p:cNvPr id="22" name="Text 19"/>
          <p:cNvSpPr txBox="1"/>
          <p:nvPr/>
        </p:nvSpPr>
        <p:spPr>
          <a:xfrm>
            <a:off x="4507992" y="274320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Input</a:t>
            </a:r>
            <a:endParaRPr lang="en-US" sz="850" dirty="0"/>
          </a:p>
        </p:txBody>
      </p:sp>
      <p:sp>
        <p:nvSpPr>
          <p:cNvPr id="23" name="Text 20"/>
          <p:cNvSpPr txBox="1"/>
          <p:nvPr/>
        </p:nvSpPr>
        <p:spPr>
          <a:xfrm>
            <a:off x="4507992" y="2944368"/>
            <a:ext cx="3154680" cy="868680"/>
          </a:xfrm>
          <a:prstGeom prst="rect">
            <a:avLst/>
          </a:prstGeom>
          <a:noFill/>
          <a:ln/>
        </p:spPr>
        <p:txBody>
          <a:bodyPr wrap="square" lIns="0" tIns="0" rIns="0" bIns="0" rtlCol="0" anchor="t"/>
          <a:lstStyle/>
          <a:p>
            <a:pPr indent="0" marL="0">
              <a:lnSpc>
                <a:spcPct val="105000"/>
              </a:lnSpc>
              <a:buNone/>
            </a:pPr>
            <a:r>
              <a:rPr lang="en-US" sz="980" dirty="0">
                <a:solidFill>
                  <a:srgbClr val="4C4C4C"/>
                </a:solidFill>
                <a:latin typeface="Helvetica Neue" pitchFamily="34" charset="0"/>
                <a:ea typeface="Helvetica Neue" pitchFamily="34" charset="-122"/>
                <a:cs typeface="Helvetica Neue" pitchFamily="34" charset="-120"/>
              </a:rPr>
              <a:t>A structured record + the email it came from + master data (allowed units, list price, lead time). 40 cases. Deterministic rules stay code; fuzzy rules become questions.</a:t>
            </a:r>
            <a:endParaRPr lang="en-US" sz="980" dirty="0"/>
          </a:p>
        </p:txBody>
      </p:sp>
      <p:sp>
        <p:nvSpPr>
          <p:cNvPr id="24" name="Text 21"/>
          <p:cNvSpPr txBox="1"/>
          <p:nvPr/>
        </p:nvSpPr>
        <p:spPr>
          <a:xfrm>
            <a:off x="4507992" y="384048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Decide</a:t>
            </a:r>
            <a:endParaRPr lang="en-US" sz="850" dirty="0"/>
          </a:p>
        </p:txBody>
      </p:sp>
      <p:sp>
        <p:nvSpPr>
          <p:cNvPr id="25" name="Text 22"/>
          <p:cNvSpPr txBox="1"/>
          <p:nvPr/>
        </p:nvSpPr>
        <p:spPr>
          <a:xfrm>
            <a:off x="4507992" y="4041648"/>
            <a:ext cx="3154680" cy="109728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hold order? pickup? price disputed? partial confirmation? (noul)</a:t>
            </a:r>
            <a:endParaRPr lang="en-US" sz="980" dirty="0"/>
          </a:p>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which unit did they mean? (choice over the record's own allowed units)</a:t>
            </a:r>
            <a:endParaRPr lang="en-US" sz="980" dirty="0"/>
          </a:p>
          <a:p>
            <a:pPr marL="152400" indent="-152400">
              <a:lnSpc>
                <a:spcPct val="105000"/>
              </a:lnSpc>
              <a:spcAft>
                <a:spcPts val="300"/>
              </a:spcAft>
              <a:buSzPct val="100000"/>
              <a:buChar char="•"/>
            </a:pPr>
            <a:r>
              <a:rPr lang="en-US" sz="980" dirty="0">
                <a:solidFill>
                  <a:srgbClr val="4C4C4C"/>
                </a:solidFill>
                <a:latin typeface="Helvetica Neue" pitchFamily="34" charset="0"/>
                <a:ea typeface="Helvetica Neue" pitchFamily="34" charset="-122"/>
                <a:cs typeface="Helvetica Neue" pitchFamily="34" charset="-120"/>
              </a:rPr>
              <a:t>escalate to a human? (the meta-rule)</a:t>
            </a:r>
            <a:endParaRPr lang="en-US" sz="980" dirty="0"/>
          </a:p>
        </p:txBody>
      </p:sp>
      <p:sp>
        <p:nvSpPr>
          <p:cNvPr id="26" name="Text 23"/>
          <p:cNvSpPr txBox="1"/>
          <p:nvPr/>
        </p:nvSpPr>
        <p:spPr>
          <a:xfrm>
            <a:off x="4507992" y="5166360"/>
            <a:ext cx="3154680" cy="201168"/>
          </a:xfrm>
          <a:prstGeom prst="rect">
            <a:avLst/>
          </a:prstGeom>
          <a:noFill/>
          <a:ln/>
        </p:spPr>
        <p:txBody>
          <a:bodyPr wrap="square" lIns="0" tIns="0" rIns="0" bIns="0" rtlCol="0" anchor="t"/>
          <a:lstStyle/>
          <a:p>
            <a:pPr indent="0" marL="0">
              <a:buNone/>
            </a:pPr>
            <a:r>
              <a:rPr lang="en-US" sz="850" dirty="0">
                <a:solidFill>
                  <a:srgbClr val="7A7A7A"/>
                </a:solidFill>
                <a:latin typeface="Helvetica Neue" pitchFamily="34" charset="0"/>
                <a:ea typeface="Helvetica Neue" pitchFamily="34" charset="-122"/>
                <a:cs typeface="Helvetica Neue" pitchFamily="34" charset="-120"/>
              </a:rPr>
              <a:t>Measure</a:t>
            </a:r>
            <a:endParaRPr lang="en-US" sz="850" dirty="0"/>
          </a:p>
        </p:txBody>
      </p:sp>
      <p:sp>
        <p:nvSpPr>
          <p:cNvPr id="27" name="Text 24"/>
          <p:cNvSpPr txBox="1"/>
          <p:nvPr/>
        </p:nvSpPr>
        <p:spPr>
          <a:xfrm>
            <a:off x="4507992" y="5367528"/>
            <a:ext cx="3154680" cy="566928"/>
          </a:xfrm>
          <a:prstGeom prst="rect">
            <a:avLst/>
          </a:prstGeom>
          <a:noFill/>
          <a:ln/>
        </p:spPr>
        <p:txBody>
          <a:bodyPr wrap="square" lIns="0" tIns="0" rIns="0" bIns="0" rtlCol="0" anchor="t"/>
          <a:lstStyle/>
          <a:p>
            <a:pPr indent="0" marL="0">
              <a:lnSpc>
                <a:spcPct val="105000"/>
              </a:lnSpc>
              <a:buNone/>
            </a:pPr>
            <a:r>
              <a:rPr lang="en-US" sz="980" dirty="0">
                <a:solidFill>
                  <a:srgbClr val="4C4C4C"/>
                </a:solidFill>
                <a:latin typeface="Helvetica Neue" pitchFamily="34" charset="0"/>
                <a:ea typeface="Helvetica Neue" pitchFamily="34" charset="-122"/>
                <a:cs typeface="Helvetica Neue" pitchFamily="34" charset="-120"/>
              </a:rPr>
              <a:t>Per-rule AUROC; share auto-processed at ≤ 2% wrong-auto; beat the regex baseline.</a:t>
            </a:r>
            <a:endParaRPr lang="en-US" sz="980" dirty="0"/>
          </a:p>
        </p:txBody>
      </p:sp>
      <p:sp>
        <p:nvSpPr>
          <p:cNvPr id="28" name="Shape 25"/>
          <p:cNvSpPr/>
          <p:nvPr/>
        </p:nvSpPr>
        <p:spPr>
          <a:xfrm>
            <a:off x="8055864" y="1783080"/>
            <a:ext cx="3611880" cy="4206240"/>
          </a:xfrm>
          <a:prstGeom prst="roundRect">
            <a:avLst>
              <a:gd name="adj" fmla="val 2025"/>
            </a:avLst>
          </a:prstGeom>
          <a:solidFill>
            <a:srgbClr val="7B909B"/>
          </a:solidFill>
          <a:ln w="12700">
            <a:solidFill>
              <a:srgbClr val="7B909B"/>
            </a:solidFill>
            <a:prstDash val="solid"/>
          </a:ln>
        </p:spPr>
      </p:sp>
      <p:sp>
        <p:nvSpPr>
          <p:cNvPr id="29" name="Text 26"/>
          <p:cNvSpPr txBox="1"/>
          <p:nvPr/>
        </p:nvSpPr>
        <p:spPr>
          <a:xfrm>
            <a:off x="8284464" y="1965960"/>
            <a:ext cx="731520" cy="320040"/>
          </a:xfrm>
          <a:prstGeom prst="rect">
            <a:avLst/>
          </a:prstGeom>
          <a:noFill/>
          <a:ln/>
        </p:spPr>
        <p:txBody>
          <a:bodyPr wrap="square" lIns="0" tIns="0" rIns="0" bIns="0" rtlCol="0" anchor="t"/>
          <a:lstStyle/>
          <a:p>
            <a:pPr indent="0" marL="0">
              <a:buNone/>
            </a:pPr>
            <a:r>
              <a:rPr lang="en-US" sz="1500" dirty="0">
                <a:solidFill>
                  <a:srgbClr val="EEF2F4"/>
                </a:solidFill>
                <a:latin typeface="Helvetica Neue" pitchFamily="34" charset="0"/>
                <a:ea typeface="Helvetica Neue" pitchFamily="34" charset="-122"/>
                <a:cs typeface="Helvetica Neue" pitchFamily="34" charset="-120"/>
              </a:rPr>
              <a:t>03</a:t>
            </a:r>
            <a:endParaRPr lang="en-US" sz="1500" dirty="0"/>
          </a:p>
        </p:txBody>
      </p:sp>
      <p:sp>
        <p:nvSpPr>
          <p:cNvPr id="30" name="Text 27"/>
          <p:cNvSpPr txBox="1"/>
          <p:nvPr/>
        </p:nvSpPr>
        <p:spPr>
          <a:xfrm>
            <a:off x="8284464" y="2286000"/>
            <a:ext cx="2331720" cy="365760"/>
          </a:xfrm>
          <a:prstGeom prst="rect">
            <a:avLst/>
          </a:prstGeom>
          <a:noFill/>
          <a:ln/>
        </p:spPr>
        <p:txBody>
          <a:bodyPr wrap="square" lIns="0" tIns="0" rIns="0" bIns="0" rtlCol="0" anchor="t"/>
          <a:lstStyle/>
          <a:p>
            <a:pPr indent="0" marL="0">
              <a:buNone/>
            </a:pPr>
            <a:r>
              <a:rPr lang="en-US" sz="1700" dirty="0">
                <a:solidFill>
                  <a:srgbClr val="FFFFFF"/>
                </a:solidFill>
                <a:latin typeface="Helvetica Neue" pitchFamily="34" charset="0"/>
                <a:ea typeface="Helvetica Neue" pitchFamily="34" charset="-122"/>
                <a:cs typeface="Helvetica Neue" pitchFamily="34" charset="-120"/>
              </a:rPr>
              <a:t>Confidence scoring</a:t>
            </a:r>
            <a:endParaRPr lang="en-US" sz="1700" dirty="0"/>
          </a:p>
        </p:txBody>
      </p:sp>
      <p:sp>
        <p:nvSpPr>
          <p:cNvPr id="31" name="Shape 28"/>
          <p:cNvSpPr/>
          <p:nvPr/>
        </p:nvSpPr>
        <p:spPr>
          <a:xfrm>
            <a:off x="10707624" y="2331720"/>
            <a:ext cx="731520" cy="237744"/>
          </a:xfrm>
          <a:prstGeom prst="roundRect">
            <a:avLst>
              <a:gd name="adj" fmla="val 50000"/>
            </a:avLst>
          </a:prstGeom>
          <a:solidFill>
            <a:srgbClr val="FFFFFF"/>
          </a:solidFill>
          <a:ln w="6350">
            <a:solidFill>
              <a:srgbClr val="FFFFFF"/>
            </a:solidFill>
            <a:prstDash val="solid"/>
          </a:ln>
        </p:spPr>
      </p:sp>
      <p:sp>
        <p:nvSpPr>
          <p:cNvPr id="32" name="Text 29"/>
          <p:cNvSpPr txBox="1"/>
          <p:nvPr/>
        </p:nvSpPr>
        <p:spPr>
          <a:xfrm>
            <a:off x="10707624" y="2336292"/>
            <a:ext cx="731520" cy="228600"/>
          </a:xfrm>
          <a:prstGeom prst="rect">
            <a:avLst/>
          </a:prstGeom>
          <a:noFill/>
          <a:ln/>
        </p:spPr>
        <p:txBody>
          <a:bodyPr wrap="square" lIns="0" tIns="0" rIns="0" bIns="0" rtlCol="0" anchor="ctr"/>
          <a:lstStyle/>
          <a:p>
            <a:pPr algn="ctr" indent="0" marL="0">
              <a:buNone/>
            </a:pPr>
            <a:r>
              <a:rPr lang="en-US" sz="850" dirty="0">
                <a:solidFill>
                  <a:srgbClr val="111111"/>
                </a:solidFill>
                <a:latin typeface="Helvetica Neue" pitchFamily="34" charset="0"/>
                <a:ea typeface="Helvetica Neue" pitchFamily="34" charset="-122"/>
                <a:cs typeface="Helvetica Neue" pitchFamily="34" charset="-120"/>
              </a:rPr>
              <a:t>Hard</a:t>
            </a:r>
            <a:endParaRPr lang="en-US" sz="850" dirty="0"/>
          </a:p>
        </p:txBody>
      </p:sp>
      <p:sp>
        <p:nvSpPr>
          <p:cNvPr id="33" name="Text 30"/>
          <p:cNvSpPr txBox="1"/>
          <p:nvPr/>
        </p:nvSpPr>
        <p:spPr>
          <a:xfrm>
            <a:off x="8284464" y="2743200"/>
            <a:ext cx="3154680" cy="201168"/>
          </a:xfrm>
          <a:prstGeom prst="rect">
            <a:avLst/>
          </a:prstGeom>
          <a:noFill/>
          <a:ln/>
        </p:spPr>
        <p:txBody>
          <a:bodyPr wrap="square" lIns="0" tIns="0" rIns="0" bIns="0" rtlCol="0" anchor="t"/>
          <a:lstStyle/>
          <a:p>
            <a:pPr indent="0" marL="0">
              <a:buNone/>
            </a:pPr>
            <a:r>
              <a:rPr lang="en-US" sz="850" dirty="0">
                <a:solidFill>
                  <a:srgbClr val="EEF2F4"/>
                </a:solidFill>
                <a:latin typeface="Helvetica Neue" pitchFamily="34" charset="0"/>
                <a:ea typeface="Helvetica Neue" pitchFamily="34" charset="-122"/>
                <a:cs typeface="Helvetica Neue" pitchFamily="34" charset="-120"/>
              </a:rPr>
              <a:t>Input</a:t>
            </a:r>
            <a:endParaRPr lang="en-US" sz="850" dirty="0"/>
          </a:p>
        </p:txBody>
      </p:sp>
      <p:sp>
        <p:nvSpPr>
          <p:cNvPr id="34" name="Text 31"/>
          <p:cNvSpPr txBox="1"/>
          <p:nvPr/>
        </p:nvSpPr>
        <p:spPr>
          <a:xfrm>
            <a:off x="8284464" y="2944368"/>
            <a:ext cx="3154680" cy="868680"/>
          </a:xfrm>
          <a:prstGeom prst="rect">
            <a:avLst/>
          </a:prstGeom>
          <a:noFill/>
          <a:ln/>
        </p:spPr>
        <p:txBody>
          <a:bodyPr wrap="square" lIns="0" tIns="0" rIns="0" bIns="0" rtlCol="0" anchor="t"/>
          <a:lstStyle/>
          <a:p>
            <a:pPr indent="0" marL="0">
              <a:lnSpc>
                <a:spcPct val="105000"/>
              </a:lnSpc>
              <a:buNone/>
            </a:pPr>
            <a:r>
              <a:rPr lang="en-US" sz="980" dirty="0">
                <a:solidFill>
                  <a:srgbClr val="FFFFFF"/>
                </a:solidFill>
                <a:latin typeface="Helvetica Neue" pitchFamily="34" charset="0"/>
                <a:ea typeface="Helvetica Neue" pitchFamily="34" charset="-122"/>
                <a:cs typeface="Helvetica Neue" pitchFamily="34" charset="-120"/>
              </a:rPr>
              <a:t>Per extracted field: source snippet, extracted value, candidate matches with similarity scores, the incumbent heuristic score. 200 fields, 40 records. Ground truth = did the operator edit it.</a:t>
            </a:r>
            <a:endParaRPr lang="en-US" sz="980" dirty="0"/>
          </a:p>
        </p:txBody>
      </p:sp>
      <p:sp>
        <p:nvSpPr>
          <p:cNvPr id="35" name="Text 32"/>
          <p:cNvSpPr txBox="1"/>
          <p:nvPr/>
        </p:nvSpPr>
        <p:spPr>
          <a:xfrm>
            <a:off x="8284464" y="3840480"/>
            <a:ext cx="3154680" cy="201168"/>
          </a:xfrm>
          <a:prstGeom prst="rect">
            <a:avLst/>
          </a:prstGeom>
          <a:noFill/>
          <a:ln/>
        </p:spPr>
        <p:txBody>
          <a:bodyPr wrap="square" lIns="0" tIns="0" rIns="0" bIns="0" rtlCol="0" anchor="t"/>
          <a:lstStyle/>
          <a:p>
            <a:pPr indent="0" marL="0">
              <a:buNone/>
            </a:pPr>
            <a:r>
              <a:rPr lang="en-US" sz="850" dirty="0">
                <a:solidFill>
                  <a:srgbClr val="EEF2F4"/>
                </a:solidFill>
                <a:latin typeface="Helvetica Neue" pitchFamily="34" charset="0"/>
                <a:ea typeface="Helvetica Neue" pitchFamily="34" charset="-122"/>
                <a:cs typeface="Helvetica Neue" pitchFamily="34" charset="-120"/>
              </a:rPr>
              <a:t>Decide</a:t>
            </a:r>
            <a:endParaRPr lang="en-US" sz="850" dirty="0"/>
          </a:p>
        </p:txBody>
      </p:sp>
      <p:sp>
        <p:nvSpPr>
          <p:cNvPr id="36" name="Text 33"/>
          <p:cNvSpPr txBox="1"/>
          <p:nvPr/>
        </p:nvSpPr>
        <p:spPr>
          <a:xfrm>
            <a:off x="8284464" y="4041648"/>
            <a:ext cx="3154680" cy="1097280"/>
          </a:xfrm>
          <a:prstGeom prst="rect">
            <a:avLst/>
          </a:prstGeom>
          <a:noFill/>
          <a:ln/>
        </p:spPr>
        <p:txBody>
          <a:bodyPr wrap="square" lIns="0" tIns="0" rIns="0" bIns="0" rtlCol="0" anchor="t"/>
          <a:lstStyle/>
          <a:p>
            <a:pPr marL="152400" indent="-152400">
              <a:lnSpc>
                <a:spcPct val="105000"/>
              </a:lnSpc>
              <a:spcAft>
                <a:spcPts val="300"/>
              </a:spcAft>
              <a:buSzPct val="100000"/>
              <a:buChar char="•"/>
            </a:pPr>
            <a:r>
              <a:rPr lang="en-US" sz="980" dirty="0">
                <a:solidFill>
                  <a:srgbClr val="FFFFFF"/>
                </a:solidFill>
                <a:latin typeface="Helvetica Neue" pitchFamily="34" charset="0"/>
                <a:ea typeface="Helvetica Neue" pitchFamily="34" charset="-122"/>
                <a:cs typeface="Helvetica Neue" pitchFamily="34" charset="-120"/>
              </a:rPr>
              <a:t>p(field is correct) (noul)</a:t>
            </a:r>
            <a:endParaRPr lang="en-US" sz="980" dirty="0"/>
          </a:p>
          <a:p>
            <a:pPr marL="152400" indent="-152400">
              <a:lnSpc>
                <a:spcPct val="105000"/>
              </a:lnSpc>
              <a:spcAft>
                <a:spcPts val="300"/>
              </a:spcAft>
              <a:buSzPct val="100000"/>
              <a:buChar char="•"/>
            </a:pPr>
            <a:r>
              <a:rPr lang="en-US" sz="980" dirty="0">
                <a:solidFill>
                  <a:srgbClr val="FFFFFF"/>
                </a:solidFill>
                <a:latin typeface="Helvetica Neue" pitchFamily="34" charset="0"/>
                <a:ea typeface="Helvetica Neue" pitchFamily="34" charset="-122"/>
                <a:cs typeface="Helvetica Neue" pitchFamily="34" charset="-120"/>
              </a:rPr>
              <a:t>p(record bookable without edits) via your aggregation</a:t>
            </a:r>
            <a:endParaRPr lang="en-US" sz="980" dirty="0"/>
          </a:p>
          <a:p>
            <a:pPr marL="152400" indent="-152400">
              <a:lnSpc>
                <a:spcPct val="105000"/>
              </a:lnSpc>
              <a:spcAft>
                <a:spcPts val="300"/>
              </a:spcAft>
              <a:buSzPct val="100000"/>
              <a:buChar char="•"/>
            </a:pPr>
            <a:r>
              <a:rPr lang="en-US" sz="980" dirty="0">
                <a:solidFill>
                  <a:srgbClr val="FFFFFF"/>
                </a:solidFill>
                <a:latin typeface="Helvetica Neue" pitchFamily="34" charset="0"/>
                <a:ea typeface="Helvetica Neue" pitchFamily="34" charset="-122"/>
                <a:cs typeface="Helvetica Neue" pitchFamily="34" charset="-120"/>
              </a:rPr>
              <a:t>compare against the uncalibrated heuristic</a:t>
            </a:r>
            <a:endParaRPr lang="en-US" sz="980" dirty="0"/>
          </a:p>
        </p:txBody>
      </p:sp>
      <p:sp>
        <p:nvSpPr>
          <p:cNvPr id="37" name="Text 34"/>
          <p:cNvSpPr txBox="1"/>
          <p:nvPr/>
        </p:nvSpPr>
        <p:spPr>
          <a:xfrm>
            <a:off x="8284464" y="5166360"/>
            <a:ext cx="3154680" cy="201168"/>
          </a:xfrm>
          <a:prstGeom prst="rect">
            <a:avLst/>
          </a:prstGeom>
          <a:noFill/>
          <a:ln/>
        </p:spPr>
        <p:txBody>
          <a:bodyPr wrap="square" lIns="0" tIns="0" rIns="0" bIns="0" rtlCol="0" anchor="t"/>
          <a:lstStyle/>
          <a:p>
            <a:pPr indent="0" marL="0">
              <a:buNone/>
            </a:pPr>
            <a:r>
              <a:rPr lang="en-US" sz="850" dirty="0">
                <a:solidFill>
                  <a:srgbClr val="EEF2F4"/>
                </a:solidFill>
                <a:latin typeface="Helvetica Neue" pitchFamily="34" charset="0"/>
                <a:ea typeface="Helvetica Neue" pitchFamily="34" charset="-122"/>
                <a:cs typeface="Helvetica Neue" pitchFamily="34" charset="-120"/>
              </a:rPr>
              <a:t>Measure</a:t>
            </a:r>
            <a:endParaRPr lang="en-US" sz="850" dirty="0"/>
          </a:p>
        </p:txBody>
      </p:sp>
      <p:sp>
        <p:nvSpPr>
          <p:cNvPr id="38" name="Text 35"/>
          <p:cNvSpPr txBox="1"/>
          <p:nvPr/>
        </p:nvSpPr>
        <p:spPr>
          <a:xfrm>
            <a:off x="8284464" y="5367528"/>
            <a:ext cx="3154680" cy="566928"/>
          </a:xfrm>
          <a:prstGeom prst="rect">
            <a:avLst/>
          </a:prstGeom>
          <a:noFill/>
          <a:ln/>
        </p:spPr>
        <p:txBody>
          <a:bodyPr wrap="square" lIns="0" tIns="0" rIns="0" bIns="0" rtlCol="0" anchor="t"/>
          <a:lstStyle/>
          <a:p>
            <a:pPr indent="0" marL="0">
              <a:lnSpc>
                <a:spcPct val="105000"/>
              </a:lnSpc>
              <a:buNone/>
            </a:pPr>
            <a:r>
              <a:rPr lang="en-US" sz="980" dirty="0">
                <a:solidFill>
                  <a:srgbClr val="FFFFFF"/>
                </a:solidFill>
                <a:latin typeface="Helvetica Neue" pitchFamily="34" charset="0"/>
                <a:ea typeface="Helvetica Neue" pitchFamily="34" charset="-122"/>
                <a:cs typeface="Helvetica Neue" pitchFamily="34" charset="-120"/>
              </a:rPr>
              <a:t>ECE and reliability vs the heuristic; coverage at ≤ 1% error; one coverage-vs-error chart.</a:t>
            </a:r>
            <a:endParaRPr lang="en-US" sz="980" dirty="0"/>
          </a:p>
        </p:txBody>
      </p:sp>
      <p:sp>
        <p:nvSpPr>
          <p:cNvPr id="39" name="Text 36"/>
          <p:cNvSpPr txBox="1"/>
          <p:nvPr/>
        </p:nvSpPr>
        <p:spPr>
          <a:xfrm>
            <a:off x="502920" y="6071616"/>
            <a:ext cx="11155680" cy="274320"/>
          </a:xfrm>
          <a:prstGeom prst="rect">
            <a:avLst/>
          </a:prstGeom>
          <a:noFill/>
          <a:ln/>
        </p:spPr>
        <p:txBody>
          <a:bodyPr wrap="square" lIns="0" tIns="0" rIns="0" bIns="0" rtlCol="0" anchor="t"/>
          <a:lstStyle/>
          <a:p>
            <a:pPr indent="0" marL="0">
              <a:buNone/>
            </a:pPr>
            <a:r>
              <a:rPr lang="en-US" sz="950" dirty="0">
                <a:solidFill>
                  <a:srgbClr val="7A7A7A"/>
                </a:solidFill>
                <a:latin typeface="Helvetica Neue" pitchFamily="34" charset="0"/>
                <a:ea typeface="Helvetica Neue" pitchFamily="34" charset="-122"/>
                <a:cs typeface="Helvetica Neue" pitchFamily="34" charset="-120"/>
              </a:rPr>
              <a:t>Each problem ships as a folder: README, synthetic data (no customer data), and a starter script that already calls the model and prints these metrics.</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96012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Worked examples: a fuzzy rule becomes a question, a confidence becomes a probability</a:t>
            </a:r>
            <a:endParaRPr lang="en-US" sz="2700" dirty="0"/>
          </a:p>
        </p:txBody>
      </p:sp>
      <p:sp>
        <p:nvSpPr>
          <p:cNvPr id="3" name="Text 1"/>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BUILD TIME · WORKED EXAMPLES</a:t>
            </a:r>
            <a:endParaRPr lang="en-US" sz="900" dirty="0"/>
          </a:p>
        </p:txBody>
      </p:sp>
      <p:sp>
        <p:nvSpPr>
          <p:cNvPr id="4" name="Text 2"/>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17</a:t>
            </a:r>
            <a:endParaRPr lang="en-US" sz="900" dirty="0"/>
          </a:p>
        </p:txBody>
      </p:sp>
      <p:sp>
        <p:nvSpPr>
          <p:cNvPr id="6" name="Text 3"/>
          <p:cNvSpPr txBox="1"/>
          <p:nvPr/>
        </p:nvSpPr>
        <p:spPr>
          <a:xfrm>
            <a:off x="502920" y="1783080"/>
            <a:ext cx="548640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Rule engine · one record, six rules, one call</a:t>
            </a:r>
            <a:endParaRPr lang="en-US" sz="1250" dirty="0"/>
          </a:p>
        </p:txBody>
      </p:sp>
      <p:sp>
        <p:nvSpPr>
          <p:cNvPr id="7" name="Shape 4"/>
          <p:cNvSpPr/>
          <p:nvPr/>
        </p:nvSpPr>
        <p:spPr>
          <a:xfrm>
            <a:off x="502920" y="2103120"/>
            <a:ext cx="5486400" cy="2148840"/>
          </a:xfrm>
          <a:prstGeom prst="roundRect">
            <a:avLst>
              <a:gd name="adj" fmla="val 2553"/>
            </a:avLst>
          </a:prstGeom>
          <a:solidFill>
            <a:srgbClr val="F4F5F7"/>
          </a:solidFill>
          <a:ln w="9525">
            <a:solidFill>
              <a:srgbClr val="E0E6E9"/>
            </a:solidFill>
            <a:prstDash val="solid"/>
          </a:ln>
        </p:spPr>
      </p:sp>
      <p:sp>
        <p:nvSpPr>
          <p:cNvPr id="8" name="Text 5"/>
          <p:cNvSpPr txBox="1"/>
          <p:nvPr/>
        </p:nvSpPr>
        <p:spPr>
          <a:xfrm>
            <a:off x="667512" y="2231136"/>
            <a:ext cx="5157216" cy="1892808"/>
          </a:xfrm>
          <a:prstGeom prst="rect">
            <a:avLst/>
          </a:prstGeom>
          <a:noFill/>
          <a:ln/>
        </p:spPr>
        <p:txBody>
          <a:bodyPr wrap="square" lIns="0" tIns="0" rIns="0" bIns="0" rtlCol="0" anchor="t"/>
          <a:lstStyle/>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state = {</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"record": {"type": "sales_order", "ship_to_address": null,</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"requested_delivery_date": "2026-09-28",</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"lines": [{"item": "XR-40", "qty": 12, "unit": null,</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"price_quoted": 35.82}]},</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"email_text": "12 of the large buckets of XR-40. Our driver</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will swing by with the van on Thursday. We calculated</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with 35.82 as per our framework agreement.",</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"master": {"email_date": "2026-09-23", "lead_time_days": 5,</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"allowed_units": ["bucket_4kg","bucket_20kg","pallet"],</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"list_price": 39.80}}</a:t>
            </a:r>
            <a:endParaRPr lang="en-US" sz="860" dirty="0"/>
          </a:p>
        </p:txBody>
      </p:sp>
      <p:sp>
        <p:nvSpPr>
          <p:cNvPr id="9" name="Text 6"/>
          <p:cNvSpPr txBox="1"/>
          <p:nvPr/>
        </p:nvSpPr>
        <p:spPr>
          <a:xfrm>
            <a:off x="502920" y="4343400"/>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is_pickup</a:t>
            </a:r>
            <a:endParaRPr lang="en-US" sz="950" dirty="0"/>
          </a:p>
        </p:txBody>
      </p:sp>
      <p:sp>
        <p:nvSpPr>
          <p:cNvPr id="10" name="Shape 7"/>
          <p:cNvSpPr/>
          <p:nvPr/>
        </p:nvSpPr>
        <p:spPr>
          <a:xfrm>
            <a:off x="2560320" y="4361688"/>
            <a:ext cx="566928" cy="237744"/>
          </a:xfrm>
          <a:prstGeom prst="roundRect">
            <a:avLst>
              <a:gd name="adj" fmla="val 50000"/>
            </a:avLst>
          </a:prstGeom>
          <a:solidFill>
            <a:srgbClr val="EEF2F4"/>
          </a:solidFill>
          <a:ln w="6350">
            <a:solidFill>
              <a:srgbClr val="CBD5DA"/>
            </a:solidFill>
            <a:prstDash val="solid"/>
          </a:ln>
        </p:spPr>
      </p:sp>
      <p:sp>
        <p:nvSpPr>
          <p:cNvPr id="11" name="Text 8"/>
          <p:cNvSpPr txBox="1"/>
          <p:nvPr/>
        </p:nvSpPr>
        <p:spPr>
          <a:xfrm>
            <a:off x="2560320" y="4366260"/>
            <a:ext cx="566928" cy="228600"/>
          </a:xfrm>
          <a:prstGeom prst="rect">
            <a:avLst/>
          </a:prstGeom>
          <a:noFill/>
          <a:ln/>
        </p:spPr>
        <p:txBody>
          <a:bodyPr wrap="square" lIns="0" tIns="0" rIns="0" bIns="0" rtlCol="0" anchor="ctr"/>
          <a:lstStyle/>
          <a:p>
            <a:pPr algn="ctr" indent="0" marL="0">
              <a:buNone/>
            </a:pPr>
            <a:r>
              <a:rPr lang="en-US" sz="850" dirty="0">
                <a:solidFill>
                  <a:srgbClr val="2E2E2E"/>
                </a:solidFill>
                <a:latin typeface="Helvetica Neue" pitchFamily="34" charset="0"/>
                <a:ea typeface="Helvetica Neue" pitchFamily="34" charset="-122"/>
                <a:cs typeface="Helvetica Neue" pitchFamily="34" charset="-120"/>
              </a:rPr>
              <a:t>noul</a:t>
            </a:r>
            <a:endParaRPr lang="en-US" sz="850" dirty="0"/>
          </a:p>
        </p:txBody>
      </p:sp>
      <p:sp>
        <p:nvSpPr>
          <p:cNvPr id="12" name="Text 9"/>
          <p:cNvSpPr txBox="1"/>
          <p:nvPr/>
        </p:nvSpPr>
        <p:spPr>
          <a:xfrm>
            <a:off x="3246120" y="4343400"/>
            <a:ext cx="1737360" cy="256032"/>
          </a:xfrm>
          <a:prstGeom prst="rect">
            <a:avLst/>
          </a:prstGeom>
          <a:noFill/>
          <a:ln/>
        </p:spPr>
        <p:txBody>
          <a:bodyPr wrap="square" lIns="0" tIns="0" rIns="0" bIns="0" rtlCol="0" anchor="t"/>
          <a:lstStyle/>
          <a:p>
            <a:pPr indent="0" marL="0">
              <a:buNone/>
            </a:pPr>
            <a:r>
              <a:rPr lang="en-US" sz="950" dirty="0">
                <a:solidFill>
                  <a:srgbClr val="111111"/>
                </a:solidFill>
                <a:latin typeface="Helvetica Neue" pitchFamily="34" charset="0"/>
                <a:ea typeface="Helvetica Neue" pitchFamily="34" charset="-122"/>
                <a:cs typeface="Helvetica Neue" pitchFamily="34" charset="-120"/>
              </a:rPr>
              <a:t>0.93</a:t>
            </a:r>
            <a:endParaRPr lang="en-US" sz="950" dirty="0"/>
          </a:p>
        </p:txBody>
      </p:sp>
      <p:sp>
        <p:nvSpPr>
          <p:cNvPr id="13" name="Shape 10"/>
          <p:cNvSpPr/>
          <p:nvPr/>
        </p:nvSpPr>
        <p:spPr>
          <a:xfrm>
            <a:off x="5029200" y="4416552"/>
            <a:ext cx="109728" cy="109728"/>
          </a:xfrm>
          <a:prstGeom prst="ellipse">
            <a:avLst/>
          </a:prstGeom>
          <a:solidFill>
            <a:srgbClr val="EE7A2F"/>
          </a:solidFill>
          <a:ln w="12700">
            <a:solidFill>
              <a:srgbClr val="EE7A2F"/>
            </a:solidFill>
            <a:prstDash val="solid"/>
          </a:ln>
        </p:spPr>
      </p:sp>
      <p:sp>
        <p:nvSpPr>
          <p:cNvPr id="14" name="Text 11"/>
          <p:cNvSpPr txBox="1"/>
          <p:nvPr/>
        </p:nvSpPr>
        <p:spPr>
          <a:xfrm>
            <a:off x="502920" y="4599432"/>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price_disputed</a:t>
            </a:r>
            <a:endParaRPr lang="en-US" sz="950" dirty="0"/>
          </a:p>
        </p:txBody>
      </p:sp>
      <p:sp>
        <p:nvSpPr>
          <p:cNvPr id="15" name="Shape 12"/>
          <p:cNvSpPr/>
          <p:nvPr/>
        </p:nvSpPr>
        <p:spPr>
          <a:xfrm>
            <a:off x="2560320" y="4617720"/>
            <a:ext cx="566928" cy="237744"/>
          </a:xfrm>
          <a:prstGeom prst="roundRect">
            <a:avLst>
              <a:gd name="adj" fmla="val 50000"/>
            </a:avLst>
          </a:prstGeom>
          <a:solidFill>
            <a:srgbClr val="EEF2F4"/>
          </a:solidFill>
          <a:ln w="6350">
            <a:solidFill>
              <a:srgbClr val="CBD5DA"/>
            </a:solidFill>
            <a:prstDash val="solid"/>
          </a:ln>
        </p:spPr>
      </p:sp>
      <p:sp>
        <p:nvSpPr>
          <p:cNvPr id="16" name="Text 13"/>
          <p:cNvSpPr txBox="1"/>
          <p:nvPr/>
        </p:nvSpPr>
        <p:spPr>
          <a:xfrm>
            <a:off x="2560320" y="4622292"/>
            <a:ext cx="566928" cy="228600"/>
          </a:xfrm>
          <a:prstGeom prst="rect">
            <a:avLst/>
          </a:prstGeom>
          <a:noFill/>
          <a:ln/>
        </p:spPr>
        <p:txBody>
          <a:bodyPr wrap="square" lIns="0" tIns="0" rIns="0" bIns="0" rtlCol="0" anchor="ctr"/>
          <a:lstStyle/>
          <a:p>
            <a:pPr algn="ctr" indent="0" marL="0">
              <a:buNone/>
            </a:pPr>
            <a:r>
              <a:rPr lang="en-US" sz="850" dirty="0">
                <a:solidFill>
                  <a:srgbClr val="2E2E2E"/>
                </a:solidFill>
                <a:latin typeface="Helvetica Neue" pitchFamily="34" charset="0"/>
                <a:ea typeface="Helvetica Neue" pitchFamily="34" charset="-122"/>
                <a:cs typeface="Helvetica Neue" pitchFamily="34" charset="-120"/>
              </a:rPr>
              <a:t>noul</a:t>
            </a:r>
            <a:endParaRPr lang="en-US" sz="850" dirty="0"/>
          </a:p>
        </p:txBody>
      </p:sp>
      <p:sp>
        <p:nvSpPr>
          <p:cNvPr id="17" name="Text 14"/>
          <p:cNvSpPr txBox="1"/>
          <p:nvPr/>
        </p:nvSpPr>
        <p:spPr>
          <a:xfrm>
            <a:off x="3246120" y="4599432"/>
            <a:ext cx="1737360" cy="256032"/>
          </a:xfrm>
          <a:prstGeom prst="rect">
            <a:avLst/>
          </a:prstGeom>
          <a:noFill/>
          <a:ln/>
        </p:spPr>
        <p:txBody>
          <a:bodyPr wrap="square" lIns="0" tIns="0" rIns="0" bIns="0" rtlCol="0" anchor="t"/>
          <a:lstStyle/>
          <a:p>
            <a:pPr indent="0" marL="0">
              <a:buNone/>
            </a:pPr>
            <a:r>
              <a:rPr lang="en-US" sz="950" dirty="0">
                <a:solidFill>
                  <a:srgbClr val="111111"/>
                </a:solidFill>
                <a:latin typeface="Helvetica Neue" pitchFamily="34" charset="0"/>
                <a:ea typeface="Helvetica Neue" pitchFamily="34" charset="-122"/>
                <a:cs typeface="Helvetica Neue" pitchFamily="34" charset="-120"/>
              </a:rPr>
              <a:t>0.91</a:t>
            </a:r>
            <a:endParaRPr lang="en-US" sz="950" dirty="0"/>
          </a:p>
        </p:txBody>
      </p:sp>
      <p:sp>
        <p:nvSpPr>
          <p:cNvPr id="18" name="Shape 15"/>
          <p:cNvSpPr/>
          <p:nvPr/>
        </p:nvSpPr>
        <p:spPr>
          <a:xfrm>
            <a:off x="5029200" y="4672584"/>
            <a:ext cx="109728" cy="109728"/>
          </a:xfrm>
          <a:prstGeom prst="ellipse">
            <a:avLst/>
          </a:prstGeom>
          <a:solidFill>
            <a:srgbClr val="EE7A2F"/>
          </a:solidFill>
          <a:ln w="12700">
            <a:solidFill>
              <a:srgbClr val="EE7A2F"/>
            </a:solidFill>
            <a:prstDash val="solid"/>
          </a:ln>
        </p:spPr>
      </p:sp>
      <p:sp>
        <p:nvSpPr>
          <p:cNvPr id="19" name="Text 16"/>
          <p:cNvSpPr txBox="1"/>
          <p:nvPr/>
        </p:nvSpPr>
        <p:spPr>
          <a:xfrm>
            <a:off x="502920" y="4855464"/>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hold_order</a:t>
            </a:r>
            <a:endParaRPr lang="en-US" sz="950" dirty="0"/>
          </a:p>
        </p:txBody>
      </p:sp>
      <p:sp>
        <p:nvSpPr>
          <p:cNvPr id="20" name="Shape 17"/>
          <p:cNvSpPr/>
          <p:nvPr/>
        </p:nvSpPr>
        <p:spPr>
          <a:xfrm>
            <a:off x="2560320" y="4873752"/>
            <a:ext cx="566928" cy="237744"/>
          </a:xfrm>
          <a:prstGeom prst="roundRect">
            <a:avLst>
              <a:gd name="adj" fmla="val 50000"/>
            </a:avLst>
          </a:prstGeom>
          <a:solidFill>
            <a:srgbClr val="EEF2F4"/>
          </a:solidFill>
          <a:ln w="6350">
            <a:solidFill>
              <a:srgbClr val="CBD5DA"/>
            </a:solidFill>
            <a:prstDash val="solid"/>
          </a:ln>
        </p:spPr>
      </p:sp>
      <p:sp>
        <p:nvSpPr>
          <p:cNvPr id="21" name="Text 18"/>
          <p:cNvSpPr txBox="1"/>
          <p:nvPr/>
        </p:nvSpPr>
        <p:spPr>
          <a:xfrm>
            <a:off x="2560320" y="4878324"/>
            <a:ext cx="566928" cy="228600"/>
          </a:xfrm>
          <a:prstGeom prst="rect">
            <a:avLst/>
          </a:prstGeom>
          <a:noFill/>
          <a:ln/>
        </p:spPr>
        <p:txBody>
          <a:bodyPr wrap="square" lIns="0" tIns="0" rIns="0" bIns="0" rtlCol="0" anchor="ctr"/>
          <a:lstStyle/>
          <a:p>
            <a:pPr algn="ctr" indent="0" marL="0">
              <a:buNone/>
            </a:pPr>
            <a:r>
              <a:rPr lang="en-US" sz="850" dirty="0">
                <a:solidFill>
                  <a:srgbClr val="2E2E2E"/>
                </a:solidFill>
                <a:latin typeface="Helvetica Neue" pitchFamily="34" charset="0"/>
                <a:ea typeface="Helvetica Neue" pitchFamily="34" charset="-122"/>
                <a:cs typeface="Helvetica Neue" pitchFamily="34" charset="-120"/>
              </a:rPr>
              <a:t>noul</a:t>
            </a:r>
            <a:endParaRPr lang="en-US" sz="850" dirty="0"/>
          </a:p>
        </p:txBody>
      </p:sp>
      <p:sp>
        <p:nvSpPr>
          <p:cNvPr id="22" name="Text 19"/>
          <p:cNvSpPr txBox="1"/>
          <p:nvPr/>
        </p:nvSpPr>
        <p:spPr>
          <a:xfrm>
            <a:off x="3246120" y="4855464"/>
            <a:ext cx="1737360" cy="256032"/>
          </a:xfrm>
          <a:prstGeom prst="rect">
            <a:avLst/>
          </a:prstGeom>
          <a:noFill/>
          <a:ln/>
        </p:spPr>
        <p:txBody>
          <a:bodyPr wrap="square" lIns="0" tIns="0" rIns="0" bIns="0" rtlCol="0" anchor="t"/>
          <a:lstStyle/>
          <a:p>
            <a:pPr indent="0" marL="0">
              <a:buNone/>
            </a:pPr>
            <a:r>
              <a:rPr lang="en-US" sz="950" dirty="0">
                <a:solidFill>
                  <a:srgbClr val="7A7A7A"/>
                </a:solidFill>
                <a:latin typeface="Helvetica Neue" pitchFamily="34" charset="0"/>
                <a:ea typeface="Helvetica Neue" pitchFamily="34" charset="-122"/>
                <a:cs typeface="Helvetica Neue" pitchFamily="34" charset="-120"/>
              </a:rPr>
              <a:t>0.08</a:t>
            </a:r>
            <a:endParaRPr lang="en-US" sz="950" dirty="0"/>
          </a:p>
        </p:txBody>
      </p:sp>
      <p:sp>
        <p:nvSpPr>
          <p:cNvPr id="23" name="Text 20"/>
          <p:cNvSpPr txBox="1"/>
          <p:nvPr/>
        </p:nvSpPr>
        <p:spPr>
          <a:xfrm>
            <a:off x="502920" y="5111496"/>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unit_resolution</a:t>
            </a:r>
            <a:endParaRPr lang="en-US" sz="950" dirty="0"/>
          </a:p>
        </p:txBody>
      </p:sp>
      <p:sp>
        <p:nvSpPr>
          <p:cNvPr id="24" name="Shape 21"/>
          <p:cNvSpPr/>
          <p:nvPr/>
        </p:nvSpPr>
        <p:spPr>
          <a:xfrm>
            <a:off x="2560320" y="5129784"/>
            <a:ext cx="566928" cy="237744"/>
          </a:xfrm>
          <a:prstGeom prst="roundRect">
            <a:avLst>
              <a:gd name="adj" fmla="val 50000"/>
            </a:avLst>
          </a:prstGeom>
          <a:solidFill>
            <a:srgbClr val="EEF2F4"/>
          </a:solidFill>
          <a:ln w="6350">
            <a:solidFill>
              <a:srgbClr val="CBD5DA"/>
            </a:solidFill>
            <a:prstDash val="solid"/>
          </a:ln>
        </p:spPr>
      </p:sp>
      <p:sp>
        <p:nvSpPr>
          <p:cNvPr id="25" name="Text 22"/>
          <p:cNvSpPr txBox="1"/>
          <p:nvPr/>
        </p:nvSpPr>
        <p:spPr>
          <a:xfrm>
            <a:off x="2560320" y="5134356"/>
            <a:ext cx="566928" cy="228600"/>
          </a:xfrm>
          <a:prstGeom prst="rect">
            <a:avLst/>
          </a:prstGeom>
          <a:noFill/>
          <a:ln/>
        </p:spPr>
        <p:txBody>
          <a:bodyPr wrap="square" lIns="0" tIns="0" rIns="0" bIns="0" rtlCol="0" anchor="ctr"/>
          <a:lstStyle/>
          <a:p>
            <a:pPr algn="ctr" indent="0" marL="0">
              <a:buNone/>
            </a:pPr>
            <a:r>
              <a:rPr lang="en-US" sz="850" dirty="0">
                <a:solidFill>
                  <a:srgbClr val="2E2E2E"/>
                </a:solidFill>
                <a:latin typeface="Helvetica Neue" pitchFamily="34" charset="0"/>
                <a:ea typeface="Helvetica Neue" pitchFamily="34" charset="-122"/>
                <a:cs typeface="Helvetica Neue" pitchFamily="34" charset="-120"/>
              </a:rPr>
              <a:t>choice</a:t>
            </a:r>
            <a:endParaRPr lang="en-US" sz="850" dirty="0"/>
          </a:p>
        </p:txBody>
      </p:sp>
      <p:sp>
        <p:nvSpPr>
          <p:cNvPr id="26" name="Text 23"/>
          <p:cNvSpPr txBox="1"/>
          <p:nvPr/>
        </p:nvSpPr>
        <p:spPr>
          <a:xfrm>
            <a:off x="3246120" y="5111496"/>
            <a:ext cx="1737360" cy="256032"/>
          </a:xfrm>
          <a:prstGeom prst="rect">
            <a:avLst/>
          </a:prstGeom>
          <a:noFill/>
          <a:ln/>
        </p:spPr>
        <p:txBody>
          <a:bodyPr wrap="square" lIns="0" tIns="0" rIns="0" bIns="0" rtlCol="0" anchor="t"/>
          <a:lstStyle/>
          <a:p>
            <a:pPr indent="0" marL="0">
              <a:buNone/>
            </a:pPr>
            <a:r>
              <a:rPr lang="en-US" sz="950" dirty="0">
                <a:solidFill>
                  <a:srgbClr val="111111"/>
                </a:solidFill>
                <a:latin typeface="Helvetica Neue" pitchFamily="34" charset="0"/>
                <a:ea typeface="Helvetica Neue" pitchFamily="34" charset="-122"/>
                <a:cs typeface="Helvetica Neue" pitchFamily="34" charset="-120"/>
              </a:rPr>
              <a:t>bucket_20kg · 0.88</a:t>
            </a:r>
            <a:endParaRPr lang="en-US" sz="950" dirty="0"/>
          </a:p>
        </p:txBody>
      </p:sp>
      <p:sp>
        <p:nvSpPr>
          <p:cNvPr id="27" name="Shape 24"/>
          <p:cNvSpPr/>
          <p:nvPr/>
        </p:nvSpPr>
        <p:spPr>
          <a:xfrm>
            <a:off x="5029200" y="5184648"/>
            <a:ext cx="109728" cy="109728"/>
          </a:xfrm>
          <a:prstGeom prst="ellipse">
            <a:avLst/>
          </a:prstGeom>
          <a:solidFill>
            <a:srgbClr val="EE7A2F"/>
          </a:solidFill>
          <a:ln w="12700">
            <a:solidFill>
              <a:srgbClr val="EE7A2F"/>
            </a:solidFill>
            <a:prstDash val="solid"/>
          </a:ln>
        </p:spPr>
      </p:sp>
      <p:sp>
        <p:nvSpPr>
          <p:cNvPr id="28" name="Text 25"/>
          <p:cNvSpPr txBox="1"/>
          <p:nvPr/>
        </p:nvSpPr>
        <p:spPr>
          <a:xfrm>
            <a:off x="502920" y="5367528"/>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escalate_to_human</a:t>
            </a:r>
            <a:endParaRPr lang="en-US" sz="950" dirty="0"/>
          </a:p>
        </p:txBody>
      </p:sp>
      <p:sp>
        <p:nvSpPr>
          <p:cNvPr id="29" name="Shape 26"/>
          <p:cNvSpPr/>
          <p:nvPr/>
        </p:nvSpPr>
        <p:spPr>
          <a:xfrm>
            <a:off x="2560320" y="5385816"/>
            <a:ext cx="566928" cy="237744"/>
          </a:xfrm>
          <a:prstGeom prst="roundRect">
            <a:avLst>
              <a:gd name="adj" fmla="val 50000"/>
            </a:avLst>
          </a:prstGeom>
          <a:solidFill>
            <a:srgbClr val="EEF2F4"/>
          </a:solidFill>
          <a:ln w="6350">
            <a:solidFill>
              <a:srgbClr val="CBD5DA"/>
            </a:solidFill>
            <a:prstDash val="solid"/>
          </a:ln>
        </p:spPr>
      </p:sp>
      <p:sp>
        <p:nvSpPr>
          <p:cNvPr id="30" name="Text 27"/>
          <p:cNvSpPr txBox="1"/>
          <p:nvPr/>
        </p:nvSpPr>
        <p:spPr>
          <a:xfrm>
            <a:off x="2560320" y="5390388"/>
            <a:ext cx="566928" cy="228600"/>
          </a:xfrm>
          <a:prstGeom prst="rect">
            <a:avLst/>
          </a:prstGeom>
          <a:noFill/>
          <a:ln/>
        </p:spPr>
        <p:txBody>
          <a:bodyPr wrap="square" lIns="0" tIns="0" rIns="0" bIns="0" rtlCol="0" anchor="ctr"/>
          <a:lstStyle/>
          <a:p>
            <a:pPr algn="ctr" indent="0" marL="0">
              <a:buNone/>
            </a:pPr>
            <a:r>
              <a:rPr lang="en-US" sz="850" dirty="0">
                <a:solidFill>
                  <a:srgbClr val="2E2E2E"/>
                </a:solidFill>
                <a:latin typeface="Helvetica Neue" pitchFamily="34" charset="0"/>
                <a:ea typeface="Helvetica Neue" pitchFamily="34" charset="-122"/>
                <a:cs typeface="Helvetica Neue" pitchFamily="34" charset="-120"/>
              </a:rPr>
              <a:t>noul</a:t>
            </a:r>
            <a:endParaRPr lang="en-US" sz="850" dirty="0"/>
          </a:p>
        </p:txBody>
      </p:sp>
      <p:sp>
        <p:nvSpPr>
          <p:cNvPr id="31" name="Text 28"/>
          <p:cNvSpPr txBox="1"/>
          <p:nvPr/>
        </p:nvSpPr>
        <p:spPr>
          <a:xfrm>
            <a:off x="3246120" y="5367528"/>
            <a:ext cx="1737360" cy="256032"/>
          </a:xfrm>
          <a:prstGeom prst="rect">
            <a:avLst/>
          </a:prstGeom>
          <a:noFill/>
          <a:ln/>
        </p:spPr>
        <p:txBody>
          <a:bodyPr wrap="square" lIns="0" tIns="0" rIns="0" bIns="0" rtlCol="0" anchor="t"/>
          <a:lstStyle/>
          <a:p>
            <a:pPr indent="0" marL="0">
              <a:buNone/>
            </a:pPr>
            <a:r>
              <a:rPr lang="en-US" sz="950" dirty="0">
                <a:solidFill>
                  <a:srgbClr val="111111"/>
                </a:solidFill>
                <a:latin typeface="Helvetica Neue" pitchFamily="34" charset="0"/>
                <a:ea typeface="Helvetica Neue" pitchFamily="34" charset="-122"/>
                <a:cs typeface="Helvetica Neue" pitchFamily="34" charset="-120"/>
              </a:rPr>
              <a:t>0.90</a:t>
            </a:r>
            <a:endParaRPr lang="en-US" sz="950" dirty="0"/>
          </a:p>
        </p:txBody>
      </p:sp>
      <p:sp>
        <p:nvSpPr>
          <p:cNvPr id="32" name="Shape 29"/>
          <p:cNvSpPr/>
          <p:nvPr/>
        </p:nvSpPr>
        <p:spPr>
          <a:xfrm>
            <a:off x="5029200" y="5440680"/>
            <a:ext cx="109728" cy="109728"/>
          </a:xfrm>
          <a:prstGeom prst="ellipse">
            <a:avLst/>
          </a:prstGeom>
          <a:solidFill>
            <a:srgbClr val="EE7A2F"/>
          </a:solidFill>
          <a:ln w="12700">
            <a:solidFill>
              <a:srgbClr val="EE7A2F"/>
            </a:solidFill>
            <a:prstDash val="solid"/>
          </a:ln>
        </p:spPr>
      </p:sp>
      <p:sp>
        <p:nvSpPr>
          <p:cNvPr id="33" name="Text 30"/>
          <p:cNvSpPr txBox="1"/>
          <p:nvPr/>
        </p:nvSpPr>
        <p:spPr>
          <a:xfrm>
            <a:off x="502920" y="5623560"/>
            <a:ext cx="2011680" cy="256032"/>
          </a:xfrm>
          <a:prstGeom prst="rect">
            <a:avLst/>
          </a:prstGeom>
          <a:noFill/>
          <a:ln/>
        </p:spPr>
        <p:txBody>
          <a:bodyPr wrap="square" lIns="0" tIns="0" rIns="0" bIns="0" rtlCol="0" anchor="t"/>
          <a:lstStyle/>
          <a:p>
            <a:pPr indent="0" marL="0">
              <a:buNone/>
            </a:pPr>
            <a:r>
              <a:rPr lang="en-US" sz="950" dirty="0">
                <a:solidFill>
                  <a:srgbClr val="111111"/>
                </a:solidFill>
                <a:latin typeface="Courier New" pitchFamily="34" charset="0"/>
                <a:ea typeface="Courier New" pitchFamily="34" charset="-122"/>
                <a:cs typeface="Courier New" pitchFamily="34" charset="-120"/>
              </a:rPr>
              <a:t>delivery_date_conflict</a:t>
            </a:r>
            <a:endParaRPr lang="en-US" sz="950" dirty="0"/>
          </a:p>
        </p:txBody>
      </p:sp>
      <p:sp>
        <p:nvSpPr>
          <p:cNvPr id="34" name="Shape 31"/>
          <p:cNvSpPr/>
          <p:nvPr/>
        </p:nvSpPr>
        <p:spPr>
          <a:xfrm>
            <a:off x="2560320" y="5641848"/>
            <a:ext cx="566928" cy="237744"/>
          </a:xfrm>
          <a:prstGeom prst="roundRect">
            <a:avLst>
              <a:gd name="adj" fmla="val 50000"/>
            </a:avLst>
          </a:prstGeom>
          <a:solidFill>
            <a:srgbClr val="111111"/>
          </a:solidFill>
          <a:ln w="6350">
            <a:solidFill>
              <a:srgbClr val="111111"/>
            </a:solidFill>
            <a:prstDash val="solid"/>
          </a:ln>
        </p:spPr>
      </p:sp>
      <p:sp>
        <p:nvSpPr>
          <p:cNvPr id="35" name="Text 32"/>
          <p:cNvSpPr txBox="1"/>
          <p:nvPr/>
        </p:nvSpPr>
        <p:spPr>
          <a:xfrm>
            <a:off x="2560320" y="5646420"/>
            <a:ext cx="566928" cy="228600"/>
          </a:xfrm>
          <a:prstGeom prst="rect">
            <a:avLst/>
          </a:prstGeom>
          <a:noFill/>
          <a:ln/>
        </p:spPr>
        <p:txBody>
          <a:bodyPr wrap="square" lIns="0" tIns="0" rIns="0" bIns="0" rtlCol="0" anchor="ctr"/>
          <a:lstStyle/>
          <a:p>
            <a:pPr algn="ctr" indent="0" marL="0">
              <a:buNone/>
            </a:pPr>
            <a:r>
              <a:rPr lang="en-US" sz="850" dirty="0">
                <a:solidFill>
                  <a:srgbClr val="FFFFFF"/>
                </a:solidFill>
                <a:latin typeface="Helvetica Neue" pitchFamily="34" charset="0"/>
                <a:ea typeface="Helvetica Neue" pitchFamily="34" charset="-122"/>
                <a:cs typeface="Helvetica Neue" pitchFamily="34" charset="-120"/>
              </a:rPr>
              <a:t>code</a:t>
            </a:r>
            <a:endParaRPr lang="en-US" sz="850" dirty="0"/>
          </a:p>
        </p:txBody>
      </p:sp>
      <p:sp>
        <p:nvSpPr>
          <p:cNvPr id="36" name="Text 33"/>
          <p:cNvSpPr txBox="1"/>
          <p:nvPr/>
        </p:nvSpPr>
        <p:spPr>
          <a:xfrm>
            <a:off x="3246120" y="5623560"/>
            <a:ext cx="1737360" cy="256032"/>
          </a:xfrm>
          <a:prstGeom prst="rect">
            <a:avLst/>
          </a:prstGeom>
          <a:noFill/>
          <a:ln/>
        </p:spPr>
        <p:txBody>
          <a:bodyPr wrap="square" lIns="0" tIns="0" rIns="0" bIns="0" rtlCol="0" anchor="t"/>
          <a:lstStyle/>
          <a:p>
            <a:pPr indent="0" marL="0">
              <a:buNone/>
            </a:pPr>
            <a:r>
              <a:rPr lang="en-US" sz="950" dirty="0">
                <a:solidFill>
                  <a:srgbClr val="7A7A7A"/>
                </a:solidFill>
                <a:latin typeface="Helvetica Neue" pitchFamily="34" charset="0"/>
                <a:ea typeface="Helvetica Neue" pitchFamily="34" charset="-122"/>
                <a:cs typeface="Helvetica Neue" pitchFamily="34" charset="-120"/>
              </a:rPr>
              <a:t>false (5 d ≥ 5 d)</a:t>
            </a:r>
            <a:endParaRPr lang="en-US" sz="950" dirty="0"/>
          </a:p>
        </p:txBody>
      </p:sp>
      <p:sp>
        <p:nvSpPr>
          <p:cNvPr id="37" name="Text 34"/>
          <p:cNvSpPr txBox="1"/>
          <p:nvPr/>
        </p:nvSpPr>
        <p:spPr>
          <a:xfrm>
            <a:off x="502920" y="5943600"/>
            <a:ext cx="5486400" cy="411480"/>
          </a:xfrm>
          <a:prstGeom prst="rect">
            <a:avLst/>
          </a:prstGeom>
          <a:noFill/>
          <a:ln/>
        </p:spPr>
        <p:txBody>
          <a:bodyPr wrap="square" lIns="0" tIns="0" rIns="0" bIns="0" rtlCol="0" anchor="t"/>
          <a:lstStyle/>
          <a:p>
            <a:pPr indent="0" marL="0">
              <a:lnSpc>
                <a:spcPct val="105000"/>
              </a:lnSpc>
              <a:buNone/>
            </a:pPr>
            <a:r>
              <a:rPr lang="en-US" sz="900" dirty="0">
                <a:solidFill>
                  <a:srgbClr val="4C4C4C"/>
                </a:solidFill>
                <a:latin typeface="Helvetica Neue" pitchFamily="34" charset="0"/>
                <a:ea typeface="Helvetica Neue" pitchFamily="34" charset="-122"/>
                <a:cs typeface="Helvetica Neue" pitchFamily="34" charset="-120"/>
              </a:rPr>
              <a:t>Action: escalate with two flags attached; unit resolved automatically; the date rule never touched a model.</a:t>
            </a:r>
            <a:endParaRPr lang="en-US" sz="900" dirty="0"/>
          </a:p>
        </p:txBody>
      </p:sp>
      <p:sp>
        <p:nvSpPr>
          <p:cNvPr id="38" name="Shape 35"/>
          <p:cNvSpPr/>
          <p:nvPr/>
        </p:nvSpPr>
        <p:spPr>
          <a:xfrm>
            <a:off x="6263640" y="1783080"/>
            <a:ext cx="0" cy="4526280"/>
          </a:xfrm>
          <a:prstGeom prst="line">
            <a:avLst/>
          </a:prstGeom>
          <a:noFill/>
          <a:ln w="9525">
            <a:solidFill>
              <a:srgbClr val="E8E8E8"/>
            </a:solidFill>
            <a:prstDash val="solid"/>
          </a:ln>
        </p:spPr>
      </p:sp>
      <p:sp>
        <p:nvSpPr>
          <p:cNvPr id="39" name="Text 36"/>
          <p:cNvSpPr txBox="1"/>
          <p:nvPr/>
        </p:nvSpPr>
        <p:spPr>
          <a:xfrm>
            <a:off x="6492240" y="1783080"/>
            <a:ext cx="5212080" cy="274320"/>
          </a:xfrm>
          <a:prstGeom prst="rect">
            <a:avLst/>
          </a:prstGeom>
          <a:noFill/>
          <a:ln/>
        </p:spPr>
        <p:txBody>
          <a:bodyPr wrap="square" lIns="0" tIns="0" rIns="0" bIns="0" rtlCol="0" anchor="t"/>
          <a:lstStyle/>
          <a:p>
            <a:pPr indent="0" marL="0">
              <a:buNone/>
            </a:pPr>
            <a:r>
              <a:rPr lang="en-US" sz="1250" dirty="0">
                <a:solidFill>
                  <a:srgbClr val="111111"/>
                </a:solidFill>
                <a:latin typeface="Helvetica Neue" pitchFamily="34" charset="0"/>
                <a:ea typeface="Helvetica Neue" pitchFamily="34" charset="-122"/>
                <a:cs typeface="Helvetica Neue" pitchFamily="34" charset="-120"/>
              </a:rPr>
              <a:t>Confidence scoring · one field, one probability</a:t>
            </a:r>
            <a:endParaRPr lang="en-US" sz="1250" dirty="0"/>
          </a:p>
        </p:txBody>
      </p:sp>
      <p:sp>
        <p:nvSpPr>
          <p:cNvPr id="40" name="Shape 37"/>
          <p:cNvSpPr/>
          <p:nvPr/>
        </p:nvSpPr>
        <p:spPr>
          <a:xfrm>
            <a:off x="6492240" y="2103120"/>
            <a:ext cx="5193792" cy="1554480"/>
          </a:xfrm>
          <a:prstGeom prst="roundRect">
            <a:avLst>
              <a:gd name="adj" fmla="val 3529"/>
            </a:avLst>
          </a:prstGeom>
          <a:solidFill>
            <a:srgbClr val="F4F5F7"/>
          </a:solidFill>
          <a:ln w="9525">
            <a:solidFill>
              <a:srgbClr val="E0E6E9"/>
            </a:solidFill>
            <a:prstDash val="solid"/>
          </a:ln>
        </p:spPr>
      </p:sp>
      <p:sp>
        <p:nvSpPr>
          <p:cNvPr id="41" name="Text 38"/>
          <p:cNvSpPr txBox="1"/>
          <p:nvPr/>
        </p:nvSpPr>
        <p:spPr>
          <a:xfrm>
            <a:off x="6656832" y="2231136"/>
            <a:ext cx="4864608" cy="1298448"/>
          </a:xfrm>
          <a:prstGeom prst="rect">
            <a:avLst/>
          </a:prstGeom>
          <a:noFill/>
          <a:ln/>
        </p:spPr>
        <p:txBody>
          <a:bodyPr wrap="square" lIns="0" tIns="0" rIns="0" bIns="0" rtlCol="0" anchor="t"/>
          <a:lstStyle/>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state = {"field": "customer_id",</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"source_snippet": "From: buyer@acme-trading.de —</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Subject: order for ACME GmbH",</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"extracted_value": "44812",</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"candidates": [{"44812": "ACME GmbH",         "sim": 0.91},</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                 {"44902": "ACME Trading GmbH", "sim": 0.88}]}</a:t>
            </a:r>
            <a:endParaRPr lang="en-US" sz="860" dirty="0"/>
          </a:p>
          <a:p>
            <a:pPr indent="0" marL="0">
              <a:lnSpc>
                <a:spcPct val="110000"/>
              </a:lnSpc>
              <a:buNone/>
            </a:pPr>
            <a:r>
              <a:rPr lang="en-US" sz="860" dirty="0">
                <a:solidFill>
                  <a:srgbClr val="111111"/>
                </a:solidFill>
                <a:latin typeface="Courier New" pitchFamily="34" charset="0"/>
                <a:ea typeface="Courier New" pitchFamily="34" charset="-122"/>
                <a:cs typeface="Courier New" pitchFamily="34" charset="-120"/>
              </a:rPr>
              <a:t>question: is_correct (noul) — "what a careful operator would book?"</a:t>
            </a:r>
            <a:endParaRPr lang="en-US" sz="860" dirty="0"/>
          </a:p>
        </p:txBody>
      </p:sp>
      <p:sp>
        <p:nvSpPr>
          <p:cNvPr id="42" name="Shape 39"/>
          <p:cNvSpPr/>
          <p:nvPr/>
        </p:nvSpPr>
        <p:spPr>
          <a:xfrm>
            <a:off x="6492240" y="3877056"/>
            <a:ext cx="128016" cy="128016"/>
          </a:xfrm>
          <a:prstGeom prst="ellipse">
            <a:avLst/>
          </a:prstGeom>
          <a:solidFill>
            <a:srgbClr val="CBD5DA"/>
          </a:solidFill>
          <a:ln w="12700">
            <a:solidFill>
              <a:srgbClr val="CBD5DA"/>
            </a:solidFill>
            <a:prstDash val="solid"/>
          </a:ln>
        </p:spPr>
      </p:sp>
      <p:sp>
        <p:nvSpPr>
          <p:cNvPr id="43" name="Text 40"/>
          <p:cNvSpPr txBox="1"/>
          <p:nvPr/>
        </p:nvSpPr>
        <p:spPr>
          <a:xfrm>
            <a:off x="6720840" y="3794760"/>
            <a:ext cx="1920240" cy="292608"/>
          </a:xfrm>
          <a:prstGeom prst="rect">
            <a:avLst/>
          </a:prstGeom>
          <a:noFill/>
          <a:ln/>
        </p:spPr>
        <p:txBody>
          <a:bodyPr wrap="square" lIns="0" tIns="0" rIns="0" bIns="0" rtlCol="0" anchor="t"/>
          <a:lstStyle/>
          <a:p>
            <a:pPr indent="0" marL="0">
              <a:buNone/>
            </a:pPr>
            <a:r>
              <a:rPr lang="en-US" sz="1050" dirty="0">
                <a:solidFill>
                  <a:srgbClr val="111111"/>
                </a:solidFill>
                <a:latin typeface="Helvetica Neue" pitchFamily="34" charset="0"/>
                <a:ea typeface="Helvetica Neue" pitchFamily="34" charset="-122"/>
                <a:cs typeface="Helvetica Neue" pitchFamily="34" charset="-120"/>
              </a:rPr>
              <a:t>Incumbent heuristic</a:t>
            </a:r>
            <a:endParaRPr lang="en-US" sz="1050" dirty="0"/>
          </a:p>
        </p:txBody>
      </p:sp>
      <p:sp>
        <p:nvSpPr>
          <p:cNvPr id="44" name="Text 41"/>
          <p:cNvSpPr txBox="1"/>
          <p:nvPr/>
        </p:nvSpPr>
        <p:spPr>
          <a:xfrm>
            <a:off x="8641080" y="3794760"/>
            <a:ext cx="822960" cy="292608"/>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0.90</a:t>
            </a:r>
            <a:endParaRPr lang="en-US" sz="1200" dirty="0"/>
          </a:p>
        </p:txBody>
      </p:sp>
      <p:sp>
        <p:nvSpPr>
          <p:cNvPr id="45" name="Text 42"/>
          <p:cNvSpPr txBox="1"/>
          <p:nvPr/>
        </p:nvSpPr>
        <p:spPr>
          <a:xfrm>
            <a:off x="9464040" y="3822192"/>
            <a:ext cx="2240280" cy="292608"/>
          </a:xfrm>
          <a:prstGeom prst="rect">
            <a:avLst/>
          </a:prstGeom>
          <a:noFill/>
          <a:ln/>
        </p:spPr>
        <p:txBody>
          <a:bodyPr wrap="square" lIns="0" tIns="0" rIns="0" bIns="0" rtlCol="0" anchor="t"/>
          <a:lstStyle/>
          <a:p>
            <a:pPr indent="0" marL="0">
              <a:buNone/>
            </a:pPr>
            <a:r>
              <a:rPr lang="en-US" sz="880" dirty="0">
                <a:solidFill>
                  <a:srgbClr val="7A7A7A"/>
                </a:solidFill>
                <a:latin typeface="Helvetica Neue" pitchFamily="34" charset="0"/>
                <a:ea typeface="Helvetica Neue" pitchFamily="34" charset="-122"/>
                <a:cs typeface="Helvetica Neue" pitchFamily="34" charset="-120"/>
              </a:rPr>
              <a:t>top similarity score, blended</a:t>
            </a:r>
            <a:endParaRPr lang="en-US" sz="880" dirty="0"/>
          </a:p>
        </p:txBody>
      </p:sp>
      <p:sp>
        <p:nvSpPr>
          <p:cNvPr id="46" name="Shape 43"/>
          <p:cNvSpPr/>
          <p:nvPr/>
        </p:nvSpPr>
        <p:spPr>
          <a:xfrm>
            <a:off x="6492240" y="4334256"/>
            <a:ext cx="128016" cy="128016"/>
          </a:xfrm>
          <a:prstGeom prst="ellipse">
            <a:avLst/>
          </a:prstGeom>
          <a:solidFill>
            <a:srgbClr val="EE7A2F"/>
          </a:solidFill>
          <a:ln w="12700">
            <a:solidFill>
              <a:srgbClr val="EE7A2F"/>
            </a:solidFill>
            <a:prstDash val="solid"/>
          </a:ln>
        </p:spPr>
      </p:sp>
      <p:sp>
        <p:nvSpPr>
          <p:cNvPr id="47" name="Text 44"/>
          <p:cNvSpPr txBox="1"/>
          <p:nvPr/>
        </p:nvSpPr>
        <p:spPr>
          <a:xfrm>
            <a:off x="6720840" y="4251960"/>
            <a:ext cx="1920240" cy="292608"/>
          </a:xfrm>
          <a:prstGeom prst="rect">
            <a:avLst/>
          </a:prstGeom>
          <a:noFill/>
          <a:ln/>
        </p:spPr>
        <p:txBody>
          <a:bodyPr wrap="square" lIns="0" tIns="0" rIns="0" bIns="0" rtlCol="0" anchor="t"/>
          <a:lstStyle/>
          <a:p>
            <a:pPr indent="0" marL="0">
              <a:buNone/>
            </a:pPr>
            <a:r>
              <a:rPr lang="en-US" sz="1050" dirty="0">
                <a:solidFill>
                  <a:srgbClr val="111111"/>
                </a:solidFill>
                <a:latin typeface="Helvetica Neue" pitchFamily="34" charset="0"/>
                <a:ea typeface="Helvetica Neue" pitchFamily="34" charset="-122"/>
                <a:cs typeface="Helvetica Neue" pitchFamily="34" charset="-120"/>
              </a:rPr>
              <a:t>System One p(correct)</a:t>
            </a:r>
            <a:endParaRPr lang="en-US" sz="1050" dirty="0"/>
          </a:p>
        </p:txBody>
      </p:sp>
      <p:sp>
        <p:nvSpPr>
          <p:cNvPr id="48" name="Text 45"/>
          <p:cNvSpPr txBox="1"/>
          <p:nvPr/>
        </p:nvSpPr>
        <p:spPr>
          <a:xfrm>
            <a:off x="8641080" y="4251960"/>
            <a:ext cx="822960" cy="292608"/>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0.62</a:t>
            </a:r>
            <a:endParaRPr lang="en-US" sz="1200" dirty="0"/>
          </a:p>
        </p:txBody>
      </p:sp>
      <p:sp>
        <p:nvSpPr>
          <p:cNvPr id="49" name="Text 46"/>
          <p:cNvSpPr txBox="1"/>
          <p:nvPr/>
        </p:nvSpPr>
        <p:spPr>
          <a:xfrm>
            <a:off x="9464040" y="4279392"/>
            <a:ext cx="2240280" cy="292608"/>
          </a:xfrm>
          <a:prstGeom prst="rect">
            <a:avLst/>
          </a:prstGeom>
          <a:noFill/>
          <a:ln/>
        </p:spPr>
        <p:txBody>
          <a:bodyPr wrap="square" lIns="0" tIns="0" rIns="0" bIns="0" rtlCol="0" anchor="t"/>
          <a:lstStyle/>
          <a:p>
            <a:pPr indent="0" marL="0">
              <a:buNone/>
            </a:pPr>
            <a:r>
              <a:rPr lang="en-US" sz="880" dirty="0">
                <a:solidFill>
                  <a:srgbClr val="7A7A7A"/>
                </a:solidFill>
                <a:latin typeface="Helvetica Neue" pitchFamily="34" charset="0"/>
                <a:ea typeface="Helvetica Neue" pitchFamily="34" charset="-122"/>
                <a:cs typeface="Helvetica Neue" pitchFamily="34" charset="-120"/>
              </a:rPr>
              <a:t>read the sender domain; saw the near-duplicate</a:t>
            </a:r>
            <a:endParaRPr lang="en-US" sz="880" dirty="0"/>
          </a:p>
        </p:txBody>
      </p:sp>
      <p:sp>
        <p:nvSpPr>
          <p:cNvPr id="50" name="Shape 47"/>
          <p:cNvSpPr/>
          <p:nvPr/>
        </p:nvSpPr>
        <p:spPr>
          <a:xfrm>
            <a:off x="6492240" y="4791456"/>
            <a:ext cx="128016" cy="128016"/>
          </a:xfrm>
          <a:prstGeom prst="ellipse">
            <a:avLst/>
          </a:prstGeom>
          <a:solidFill>
            <a:srgbClr val="111111"/>
          </a:solidFill>
          <a:ln w="12700">
            <a:solidFill>
              <a:srgbClr val="111111"/>
            </a:solidFill>
            <a:prstDash val="solid"/>
          </a:ln>
        </p:spPr>
      </p:sp>
      <p:sp>
        <p:nvSpPr>
          <p:cNvPr id="51" name="Text 48"/>
          <p:cNvSpPr txBox="1"/>
          <p:nvPr/>
        </p:nvSpPr>
        <p:spPr>
          <a:xfrm>
            <a:off x="6720840" y="4709160"/>
            <a:ext cx="1920240" cy="292608"/>
          </a:xfrm>
          <a:prstGeom prst="rect">
            <a:avLst/>
          </a:prstGeom>
          <a:noFill/>
          <a:ln/>
        </p:spPr>
        <p:txBody>
          <a:bodyPr wrap="square" lIns="0" tIns="0" rIns="0" bIns="0" rtlCol="0" anchor="t"/>
          <a:lstStyle/>
          <a:p>
            <a:pPr indent="0" marL="0">
              <a:buNone/>
            </a:pPr>
            <a:r>
              <a:rPr lang="en-US" sz="1050" dirty="0">
                <a:solidFill>
                  <a:srgbClr val="111111"/>
                </a:solidFill>
                <a:latin typeface="Helvetica Neue" pitchFamily="34" charset="0"/>
                <a:ea typeface="Helvetica Neue" pitchFamily="34" charset="-122"/>
                <a:cs typeface="Helvetica Neue" pitchFamily="34" charset="-120"/>
              </a:rPr>
              <a:t>Ground truth</a:t>
            </a:r>
            <a:endParaRPr lang="en-US" sz="1050" dirty="0"/>
          </a:p>
        </p:txBody>
      </p:sp>
      <p:sp>
        <p:nvSpPr>
          <p:cNvPr id="52" name="Text 49"/>
          <p:cNvSpPr txBox="1"/>
          <p:nvPr/>
        </p:nvSpPr>
        <p:spPr>
          <a:xfrm>
            <a:off x="8641080" y="4709160"/>
            <a:ext cx="822960" cy="292608"/>
          </a:xfrm>
          <a:prstGeom prst="rect">
            <a:avLst/>
          </a:prstGeom>
          <a:noFill/>
          <a:ln/>
        </p:spPr>
        <p:txBody>
          <a:bodyPr wrap="square" lIns="0" tIns="0" rIns="0" bIns="0" rtlCol="0" anchor="t"/>
          <a:lstStyle/>
          <a:p>
            <a:pPr indent="0" marL="0">
              <a:buNone/>
            </a:pPr>
            <a:r>
              <a:rPr lang="en-US" sz="1200" dirty="0">
                <a:solidFill>
                  <a:srgbClr val="111111"/>
                </a:solidFill>
                <a:latin typeface="Helvetica Neue" pitchFamily="34" charset="0"/>
                <a:ea typeface="Helvetica Neue" pitchFamily="34" charset="-122"/>
                <a:cs typeface="Helvetica Neue" pitchFamily="34" charset="-120"/>
              </a:rPr>
              <a:t>edited</a:t>
            </a:r>
            <a:endParaRPr lang="en-US" sz="1200" dirty="0"/>
          </a:p>
        </p:txBody>
      </p:sp>
      <p:sp>
        <p:nvSpPr>
          <p:cNvPr id="53" name="Text 50"/>
          <p:cNvSpPr txBox="1"/>
          <p:nvPr/>
        </p:nvSpPr>
        <p:spPr>
          <a:xfrm>
            <a:off x="9464040" y="4736592"/>
            <a:ext cx="2240280" cy="292608"/>
          </a:xfrm>
          <a:prstGeom prst="rect">
            <a:avLst/>
          </a:prstGeom>
          <a:noFill/>
          <a:ln/>
        </p:spPr>
        <p:txBody>
          <a:bodyPr wrap="square" lIns="0" tIns="0" rIns="0" bIns="0" rtlCol="0" anchor="t"/>
          <a:lstStyle/>
          <a:p>
            <a:pPr indent="0" marL="0">
              <a:buNone/>
            </a:pPr>
            <a:r>
              <a:rPr lang="en-US" sz="880" dirty="0">
                <a:solidFill>
                  <a:srgbClr val="7A7A7A"/>
                </a:solidFill>
                <a:latin typeface="Helvetica Neue" pitchFamily="34" charset="0"/>
                <a:ea typeface="Helvetica Neue" pitchFamily="34" charset="-122"/>
                <a:cs typeface="Helvetica Neue" pitchFamily="34" charset="-120"/>
              </a:rPr>
              <a:t>operator changed it to 44902</a:t>
            </a:r>
            <a:endParaRPr lang="en-US" sz="880" dirty="0"/>
          </a:p>
        </p:txBody>
      </p:sp>
      <p:sp>
        <p:nvSpPr>
          <p:cNvPr id="54" name="Shape 51"/>
          <p:cNvSpPr/>
          <p:nvPr/>
        </p:nvSpPr>
        <p:spPr>
          <a:xfrm>
            <a:off x="6492240" y="5230368"/>
            <a:ext cx="5193792" cy="0"/>
          </a:xfrm>
          <a:prstGeom prst="line">
            <a:avLst/>
          </a:prstGeom>
          <a:noFill/>
          <a:ln w="9525">
            <a:solidFill>
              <a:srgbClr val="E8E8E8"/>
            </a:solidFill>
            <a:prstDash val="solid"/>
          </a:ln>
        </p:spPr>
      </p:sp>
      <p:sp>
        <p:nvSpPr>
          <p:cNvPr id="55" name="Text 52"/>
          <p:cNvSpPr txBox="1"/>
          <p:nvPr/>
        </p:nvSpPr>
        <p:spPr>
          <a:xfrm>
            <a:off x="6492240" y="5321808"/>
            <a:ext cx="5193792" cy="457200"/>
          </a:xfrm>
          <a:prstGeom prst="rect">
            <a:avLst/>
          </a:prstGeom>
          <a:noFill/>
          <a:ln/>
        </p:spPr>
        <p:txBody>
          <a:bodyPr wrap="square" lIns="0" tIns="0" rIns="0" bIns="0" rtlCol="0" anchor="t"/>
          <a:lstStyle/>
          <a:p>
            <a:pPr indent="0" marL="0">
              <a:lnSpc>
                <a:spcPct val="105000"/>
              </a:lnSpc>
              <a:buNone/>
            </a:pPr>
            <a:r>
              <a:rPr lang="en-US" sz="950" dirty="0">
                <a:solidFill>
                  <a:srgbClr val="4C4C4C"/>
                </a:solidFill>
                <a:latin typeface="Helvetica Neue" pitchFamily="34" charset="0"/>
                <a:ea typeface="Helvetica Neue" pitchFamily="34" charset="-122"/>
                <a:cs typeface="Helvetica Neue" pitchFamily="34" charset="-120"/>
              </a:rPr>
              <a:t>Record level: five fields → p(bookable) = 0.58 (product). Gate at 0.95 → confirm, not autopilot. The heuristic would have booked it.</a:t>
            </a:r>
            <a:endParaRPr lang="en-US" sz="950" dirty="0"/>
          </a:p>
        </p:txBody>
      </p:sp>
      <p:sp>
        <p:nvSpPr>
          <p:cNvPr id="56" name="Text 53"/>
          <p:cNvSpPr txBox="1"/>
          <p:nvPr/>
        </p:nvSpPr>
        <p:spPr>
          <a:xfrm>
            <a:off x="6492240" y="5852160"/>
            <a:ext cx="5193792" cy="502920"/>
          </a:xfrm>
          <a:prstGeom prst="rect">
            <a:avLst/>
          </a:prstGeom>
          <a:noFill/>
          <a:ln/>
        </p:spPr>
        <p:txBody>
          <a:bodyPr wrap="square" lIns="0" tIns="0" rIns="0" bIns="0" rtlCol="0" anchor="t"/>
          <a:lstStyle/>
          <a:p>
            <a:pPr indent="0" marL="0">
              <a:lnSpc>
                <a:spcPct val="105000"/>
              </a:lnSpc>
              <a:buNone/>
            </a:pPr>
            <a:r>
              <a:rPr lang="en-US" sz="900" dirty="0">
                <a:solidFill>
                  <a:srgbClr val="2E2E2E"/>
                </a:solidFill>
                <a:latin typeface="Helvetica Neue" pitchFamily="34" charset="0"/>
                <a:ea typeface="Helvetica Neue" pitchFamily="34" charset="-122"/>
                <a:cs typeface="Helvetica Neue" pitchFamily="34" charset="-120"/>
              </a:rPr>
              <a:t>Deliverable: coverage-vs-error for both scores on one chart. If your curve sits above the heuristic's, you have changed how the automation rate gets set.</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C"/>
        </a:solidFill>
      </p:bgPr>
    </p:bg>
    <p:spTree>
      <p:nvGrpSpPr>
        <p:cNvPr id="1" name=""/>
        <p:cNvGrpSpPr/>
        <p:nvPr/>
      </p:nvGrpSpPr>
      <p:grpSpPr>
        <a:xfrm>
          <a:off x="0" y="0"/>
          <a:ext cx="0" cy="0"/>
          <a:chOff x="0" y="0"/>
          <a:chExt cx="0" cy="0"/>
        </a:xfrm>
      </p:grpSpPr>
      <p:sp>
        <p:nvSpPr>
          <p:cNvPr id="2" name="Text 0"/>
          <p:cNvSpPr txBox="1"/>
          <p:nvPr/>
        </p:nvSpPr>
        <p:spPr>
          <a:xfrm>
            <a:off x="502920" y="384048"/>
            <a:ext cx="11185855" cy="548640"/>
          </a:xfrm>
          <a:prstGeom prst="rect">
            <a:avLst/>
          </a:prstGeom>
          <a:noFill/>
          <a:ln/>
        </p:spPr>
        <p:txBody>
          <a:bodyPr wrap="square" lIns="0" tIns="0" rIns="0" bIns="0" rtlCol="0" anchor="t"/>
          <a:lstStyle/>
          <a:p>
            <a:pPr indent="0" marL="0">
              <a:lnSpc>
                <a:spcPct val="98000"/>
              </a:lnSpc>
              <a:buNone/>
            </a:pPr>
            <a:r>
              <a:rPr lang="en-US" sz="2700" dirty="0">
                <a:solidFill>
                  <a:srgbClr val="111111"/>
                </a:solidFill>
                <a:latin typeface="Helvetica Neue" pitchFamily="34" charset="0"/>
                <a:ea typeface="Helvetica Neue" pitchFamily="34" charset="-122"/>
                <a:cs typeface="Helvetica Neue" pitchFamily="34" charset="-120"/>
              </a:rPr>
              <a:t>The toolkit for today</a:t>
            </a:r>
            <a:endParaRPr lang="en-US" sz="2700" dirty="0"/>
          </a:p>
        </p:txBody>
      </p:sp>
      <p:sp>
        <p:nvSpPr>
          <p:cNvPr id="3" name="Text 1"/>
          <p:cNvSpPr txBox="1"/>
          <p:nvPr/>
        </p:nvSpPr>
        <p:spPr>
          <a:xfrm>
            <a:off x="502920" y="932688"/>
            <a:ext cx="11185855" cy="365760"/>
          </a:xfrm>
          <a:prstGeom prst="rect">
            <a:avLst/>
          </a:prstGeom>
          <a:noFill/>
          <a:ln/>
        </p:spPr>
        <p:txBody>
          <a:bodyPr wrap="square" lIns="0" tIns="0" rIns="0" bIns="0" rtlCol="0" anchor="t"/>
          <a:lstStyle/>
          <a:p>
            <a:pPr indent="0" marL="0">
              <a:buNone/>
            </a:pPr>
            <a:r>
              <a:rPr lang="en-US" sz="1500" dirty="0">
                <a:solidFill>
                  <a:srgbClr val="B5B5B5"/>
                </a:solidFill>
                <a:latin typeface="Helvetica Neue" pitchFamily="34" charset="0"/>
                <a:ea typeface="Helvetica Neue" pitchFamily="34" charset="-122"/>
                <a:cs typeface="Helvetica Neue" pitchFamily="34" charset="-120"/>
              </a:rPr>
              <a:t>Everything is free to use today. Links are in the shared notes</a:t>
            </a:r>
            <a:endParaRPr lang="en-US" sz="1500" dirty="0"/>
          </a:p>
        </p:txBody>
      </p:sp>
      <p:sp>
        <p:nvSpPr>
          <p:cNvPr id="4" name="Text 2"/>
          <p:cNvSpPr txBox="1"/>
          <p:nvPr/>
        </p:nvSpPr>
        <p:spPr>
          <a:xfrm>
            <a:off x="502920" y="6419088"/>
            <a:ext cx="5486400" cy="228600"/>
          </a:xfrm>
          <a:prstGeom prst="rect">
            <a:avLst/>
          </a:prstGeom>
          <a:noFill/>
          <a:ln/>
        </p:spPr>
        <p:txBody>
          <a:bodyPr wrap="square" lIns="0" tIns="0" rIns="0" bIns="0" rtlCol="0" anchor="t"/>
          <a:lstStyle/>
          <a:p>
            <a:pPr indent="0" marL="0">
              <a:buNone/>
            </a:pPr>
            <a:r>
              <a:rPr lang="en-US" sz="900" spc="100" kern="0" dirty="0">
                <a:solidFill>
                  <a:srgbClr val="111111"/>
                </a:solidFill>
                <a:latin typeface="Helvetica Neue" pitchFamily="34" charset="0"/>
                <a:ea typeface="Helvetica Neue" pitchFamily="34" charset="-122"/>
                <a:cs typeface="Helvetica Neue" pitchFamily="34" charset="-120"/>
              </a:rPr>
              <a:t>BUILD TIME · TOOLKIT</a:t>
            </a:r>
            <a:endParaRPr lang="en-US" sz="900" dirty="0"/>
          </a:p>
        </p:txBody>
      </p:sp>
      <p:sp>
        <p:nvSpPr>
          <p:cNvPr id="5" name="Text 3"/>
          <p:cNvSpPr txBox="1"/>
          <p:nvPr/>
        </p:nvSpPr>
        <p:spPr>
          <a:xfrm>
            <a:off x="10774375" y="6419088"/>
            <a:ext cx="914400" cy="228600"/>
          </a:xfrm>
          <a:prstGeom prst="rect">
            <a:avLst/>
          </a:prstGeom>
          <a:noFill/>
          <a:ln/>
        </p:spPr>
        <p:txBody>
          <a:bodyPr wrap="square" lIns="0" tIns="0" rIns="0" bIns="0" rtlCol="0" anchor="t"/>
          <a:lstStyle/>
          <a:p>
            <a:pPr algn="r" indent="0" marL="0">
              <a:buNone/>
            </a:pPr>
            <a:r>
              <a:rPr lang="en-US" sz="900" dirty="0">
                <a:solidFill>
                  <a:srgbClr val="111111"/>
                </a:solidFill>
                <a:latin typeface="Helvetica Neue" pitchFamily="34" charset="0"/>
                <a:ea typeface="Helvetica Neue" pitchFamily="34" charset="-122"/>
                <a:cs typeface="Helvetica Neue" pitchFamily="34" charset="-120"/>
              </a:rPr>
              <a:t>18</a:t>
            </a:r>
            <a:endParaRPr lang="en-US" sz="900" dirty="0"/>
          </a:p>
        </p:txBody>
      </p:sp>
      <p:pic>
        <p:nvPicPr>
          <p:cNvPr id="7" name="Image 0" descr="preencoded.png">    </p:cNvPr>
          <p:cNvPicPr>
            <a:picLocks noChangeAspect="1"/>
          </p:cNvPicPr>
          <p:nvPr/>
        </p:nvPicPr>
        <p:blipFill>
          <a:blip r:embed="rId1"/>
          <a:stretch>
            <a:fillRect/>
          </a:stretch>
        </p:blipFill>
        <p:spPr>
          <a:xfrm>
            <a:off x="502920" y="1737360"/>
            <a:ext cx="310896" cy="310896"/>
          </a:xfrm>
          <a:prstGeom prst="rect">
            <a:avLst/>
          </a:prstGeom>
        </p:spPr>
      </p:pic>
      <p:sp>
        <p:nvSpPr>
          <p:cNvPr id="8" name="Text 4"/>
          <p:cNvSpPr txBox="1"/>
          <p:nvPr/>
        </p:nvSpPr>
        <p:spPr>
          <a:xfrm>
            <a:off x="1005840" y="1691640"/>
            <a:ext cx="2011680" cy="365760"/>
          </a:xfrm>
          <a:prstGeom prst="rect">
            <a:avLst/>
          </a:prstGeom>
          <a:noFill/>
          <a:ln/>
        </p:spPr>
        <p:txBody>
          <a:bodyPr wrap="square" lIns="0" tIns="0" rIns="0" bIns="0" rtlCol="0" anchor="t"/>
          <a:lstStyle/>
          <a:p>
            <a:pPr indent="0" marL="0">
              <a:buNone/>
            </a:pPr>
            <a:r>
              <a:rPr lang="en-US" sz="1600" dirty="0">
                <a:solidFill>
                  <a:srgbClr val="111111"/>
                </a:solidFill>
                <a:latin typeface="Helvetica Neue" pitchFamily="34" charset="0"/>
                <a:ea typeface="Helvetica Neue" pitchFamily="34" charset="-122"/>
                <a:cs typeface="Helvetica Neue" pitchFamily="34" charset="-120"/>
              </a:rPr>
              <a:t>Jev</a:t>
            </a:r>
            <a:endParaRPr lang="en-US" sz="1600" dirty="0"/>
          </a:p>
        </p:txBody>
      </p:sp>
      <p:sp>
        <p:nvSpPr>
          <p:cNvPr id="9" name="Text 5"/>
          <p:cNvSpPr txBox="1"/>
          <p:nvPr/>
        </p:nvSpPr>
        <p:spPr>
          <a:xfrm>
            <a:off x="2926080" y="1755648"/>
            <a:ext cx="8686800" cy="320040"/>
          </a:xfrm>
          <a:prstGeom prst="rect">
            <a:avLst/>
          </a:prstGeom>
          <a:noFill/>
          <a:ln/>
        </p:spPr>
        <p:txBody>
          <a:bodyPr wrap="square" lIns="0" tIns="0" rIns="0" bIns="0" rtlCol="0" anchor="t"/>
          <a:lstStyle/>
          <a:p>
            <a:pPr indent="0" marL="0">
              <a:buNone/>
            </a:pPr>
            <a:r>
              <a:rPr lang="en-US" sz="1200" dirty="0">
                <a:solidFill>
                  <a:srgbClr val="4C4C4C"/>
                </a:solidFill>
                <a:latin typeface="Helvetica Neue" pitchFamily="34" charset="0"/>
                <a:ea typeface="Helvetica Neue" pitchFamily="34" charset="-122"/>
                <a:cs typeface="Helvetica Neue" pitchFamily="34" charset="-120"/>
              </a:rPr>
              <a:t>OpenRouter · typesafe/jev-1.13 · Decisions API</a:t>
            </a:r>
            <a:endParaRPr lang="en-US" sz="1200" dirty="0"/>
          </a:p>
        </p:txBody>
      </p:sp>
      <p:sp>
        <p:nvSpPr>
          <p:cNvPr id="10" name="Shape 6"/>
          <p:cNvSpPr/>
          <p:nvPr/>
        </p:nvSpPr>
        <p:spPr>
          <a:xfrm>
            <a:off x="502920" y="2313432"/>
            <a:ext cx="11185855" cy="0"/>
          </a:xfrm>
          <a:prstGeom prst="line">
            <a:avLst/>
          </a:prstGeom>
          <a:noFill/>
          <a:ln w="9525">
            <a:solidFill>
              <a:srgbClr val="E8E8E8"/>
            </a:solidFill>
            <a:prstDash val="solid"/>
          </a:ln>
        </p:spPr>
      </p:sp>
      <p:pic>
        <p:nvPicPr>
          <p:cNvPr id="11" name="Image 1" descr="preencoded.png">    </p:cNvPr>
          <p:cNvPicPr>
            <a:picLocks noChangeAspect="1"/>
          </p:cNvPicPr>
          <p:nvPr/>
        </p:nvPicPr>
        <p:blipFill>
          <a:blip r:embed="rId2"/>
          <a:stretch>
            <a:fillRect/>
          </a:stretch>
        </p:blipFill>
        <p:spPr>
          <a:xfrm>
            <a:off x="502920" y="2606040"/>
            <a:ext cx="310896" cy="310896"/>
          </a:xfrm>
          <a:prstGeom prst="rect">
            <a:avLst/>
          </a:prstGeom>
        </p:spPr>
      </p:pic>
      <p:sp>
        <p:nvSpPr>
          <p:cNvPr id="12" name="Text 7"/>
          <p:cNvSpPr txBox="1"/>
          <p:nvPr/>
        </p:nvSpPr>
        <p:spPr>
          <a:xfrm>
            <a:off x="1005840" y="2560320"/>
            <a:ext cx="2011680" cy="365760"/>
          </a:xfrm>
          <a:prstGeom prst="rect">
            <a:avLst/>
          </a:prstGeom>
          <a:noFill/>
          <a:ln/>
        </p:spPr>
        <p:txBody>
          <a:bodyPr wrap="square" lIns="0" tIns="0" rIns="0" bIns="0" rtlCol="0" anchor="t"/>
          <a:lstStyle/>
          <a:p>
            <a:pPr indent="0" marL="0">
              <a:buNone/>
            </a:pPr>
            <a:r>
              <a:rPr lang="en-US" sz="1600" dirty="0">
                <a:solidFill>
                  <a:srgbClr val="111111"/>
                </a:solidFill>
                <a:latin typeface="Helvetica Neue" pitchFamily="34" charset="0"/>
                <a:ea typeface="Helvetica Neue" pitchFamily="34" charset="-122"/>
                <a:cs typeface="Helvetica Neue" pitchFamily="34" charset="-120"/>
              </a:rPr>
              <a:t>Laya</a:t>
            </a:r>
            <a:endParaRPr lang="en-US" sz="1600" dirty="0"/>
          </a:p>
        </p:txBody>
      </p:sp>
      <p:sp>
        <p:nvSpPr>
          <p:cNvPr id="13" name="Text 8"/>
          <p:cNvSpPr txBox="1"/>
          <p:nvPr/>
        </p:nvSpPr>
        <p:spPr>
          <a:xfrm>
            <a:off x="2926080" y="2624328"/>
            <a:ext cx="8686800" cy="320040"/>
          </a:xfrm>
          <a:prstGeom prst="rect">
            <a:avLst/>
          </a:prstGeom>
          <a:noFill/>
          <a:ln/>
        </p:spPr>
        <p:txBody>
          <a:bodyPr wrap="square" lIns="0" tIns="0" rIns="0" bIns="0" rtlCol="0" anchor="t"/>
          <a:lstStyle/>
          <a:p>
            <a:pPr indent="0" marL="0">
              <a:buNone/>
            </a:pPr>
            <a:r>
              <a:rPr lang="en-US" sz="1200" dirty="0">
                <a:solidFill>
                  <a:srgbClr val="4C4C4C"/>
                </a:solidFill>
                <a:latin typeface="Helvetica Neue" pitchFamily="34" charset="0"/>
                <a:ea typeface="Helvetica Neue" pitchFamily="34" charset="-122"/>
                <a:cs typeface="Helvetica Neue" pitchFamily="34" charset="-120"/>
              </a:rPr>
              <a:t>pip install laya · hosted demo · Jev-compatible laya-serve</a:t>
            </a:r>
            <a:endParaRPr lang="en-US" sz="1200" dirty="0"/>
          </a:p>
        </p:txBody>
      </p:sp>
      <p:sp>
        <p:nvSpPr>
          <p:cNvPr id="14" name="Shape 9"/>
          <p:cNvSpPr/>
          <p:nvPr/>
        </p:nvSpPr>
        <p:spPr>
          <a:xfrm>
            <a:off x="502920" y="3182112"/>
            <a:ext cx="11185855" cy="0"/>
          </a:xfrm>
          <a:prstGeom prst="line">
            <a:avLst/>
          </a:prstGeom>
          <a:noFill/>
          <a:ln w="9525">
            <a:solidFill>
              <a:srgbClr val="E8E8E8"/>
            </a:solidFill>
            <a:prstDash val="solid"/>
          </a:ln>
        </p:spPr>
      </p:sp>
      <p:pic>
        <p:nvPicPr>
          <p:cNvPr id="15" name="Image 2" descr="preencoded.png">    </p:cNvPr>
          <p:cNvPicPr>
            <a:picLocks noChangeAspect="1"/>
          </p:cNvPicPr>
          <p:nvPr/>
        </p:nvPicPr>
        <p:blipFill>
          <a:blip r:embed="rId3"/>
          <a:stretch>
            <a:fillRect/>
          </a:stretch>
        </p:blipFill>
        <p:spPr>
          <a:xfrm>
            <a:off x="502920" y="3474720"/>
            <a:ext cx="310896" cy="310896"/>
          </a:xfrm>
          <a:prstGeom prst="rect">
            <a:avLst/>
          </a:prstGeom>
        </p:spPr>
      </p:pic>
      <p:sp>
        <p:nvSpPr>
          <p:cNvPr id="16" name="Text 10"/>
          <p:cNvSpPr txBox="1"/>
          <p:nvPr/>
        </p:nvSpPr>
        <p:spPr>
          <a:xfrm>
            <a:off x="1005840" y="3429000"/>
            <a:ext cx="2011680" cy="365760"/>
          </a:xfrm>
          <a:prstGeom prst="rect">
            <a:avLst/>
          </a:prstGeom>
          <a:noFill/>
          <a:ln/>
        </p:spPr>
        <p:txBody>
          <a:bodyPr wrap="square" lIns="0" tIns="0" rIns="0" bIns="0" rtlCol="0" anchor="t"/>
          <a:lstStyle/>
          <a:p>
            <a:pPr indent="0" marL="0">
              <a:buNone/>
            </a:pPr>
            <a:r>
              <a:rPr lang="en-US" sz="1600" dirty="0">
                <a:solidFill>
                  <a:srgbClr val="111111"/>
                </a:solidFill>
                <a:latin typeface="Helvetica Neue" pitchFamily="34" charset="0"/>
                <a:ea typeface="Helvetica Neue" pitchFamily="34" charset="-122"/>
                <a:cs typeface="Helvetica Neue" pitchFamily="34" charset="-120"/>
              </a:rPr>
              <a:t>Fine-tune</a:t>
            </a:r>
            <a:endParaRPr lang="en-US" sz="1600" dirty="0"/>
          </a:p>
        </p:txBody>
      </p:sp>
      <p:sp>
        <p:nvSpPr>
          <p:cNvPr id="17" name="Text 11"/>
          <p:cNvSpPr txBox="1"/>
          <p:nvPr/>
        </p:nvSpPr>
        <p:spPr>
          <a:xfrm>
            <a:off x="2926080" y="3493008"/>
            <a:ext cx="8686800" cy="320040"/>
          </a:xfrm>
          <a:prstGeom prst="rect">
            <a:avLst/>
          </a:prstGeom>
          <a:noFill/>
          <a:ln/>
        </p:spPr>
        <p:txBody>
          <a:bodyPr wrap="square" lIns="0" tIns="0" rIns="0" bIns="0" rtlCol="0" anchor="t"/>
          <a:lstStyle/>
          <a:p>
            <a:pPr indent="0" marL="0">
              <a:buNone/>
            </a:pPr>
            <a:r>
              <a:rPr lang="en-US" sz="1200" dirty="0">
                <a:solidFill>
                  <a:srgbClr val="4C4C4C"/>
                </a:solidFill>
                <a:latin typeface="Helvetica Neue" pitchFamily="34" charset="0"/>
                <a:ea typeface="Helvetica Neue" pitchFamily="34" charset="-122"/>
                <a:cs typeface="Helvetica Neue" pitchFamily="34" charset="-120"/>
              </a:rPr>
              <a:t>Kaggle notebook on free 2×T4 GPUs</a:t>
            </a:r>
            <a:endParaRPr lang="en-US" sz="1200" dirty="0"/>
          </a:p>
        </p:txBody>
      </p:sp>
      <p:sp>
        <p:nvSpPr>
          <p:cNvPr id="18" name="Shape 12"/>
          <p:cNvSpPr/>
          <p:nvPr/>
        </p:nvSpPr>
        <p:spPr>
          <a:xfrm>
            <a:off x="502920" y="4050792"/>
            <a:ext cx="11185855" cy="0"/>
          </a:xfrm>
          <a:prstGeom prst="line">
            <a:avLst/>
          </a:prstGeom>
          <a:noFill/>
          <a:ln w="9525">
            <a:solidFill>
              <a:srgbClr val="E8E8E8"/>
            </a:solidFill>
            <a:prstDash val="solid"/>
          </a:ln>
        </p:spPr>
      </p:sp>
      <p:pic>
        <p:nvPicPr>
          <p:cNvPr id="19" name="Image 3" descr="preencoded.png">    </p:cNvPr>
          <p:cNvPicPr>
            <a:picLocks noChangeAspect="1"/>
          </p:cNvPicPr>
          <p:nvPr/>
        </p:nvPicPr>
        <p:blipFill>
          <a:blip r:embed="rId4"/>
          <a:stretch>
            <a:fillRect/>
          </a:stretch>
        </p:blipFill>
        <p:spPr>
          <a:xfrm>
            <a:off x="502920" y="4343400"/>
            <a:ext cx="310896" cy="310896"/>
          </a:xfrm>
          <a:prstGeom prst="rect">
            <a:avLst/>
          </a:prstGeom>
        </p:spPr>
      </p:pic>
      <p:sp>
        <p:nvSpPr>
          <p:cNvPr id="20" name="Text 13"/>
          <p:cNvSpPr txBox="1"/>
          <p:nvPr/>
        </p:nvSpPr>
        <p:spPr>
          <a:xfrm>
            <a:off x="1005840" y="4297680"/>
            <a:ext cx="2011680" cy="365760"/>
          </a:xfrm>
          <a:prstGeom prst="rect">
            <a:avLst/>
          </a:prstGeom>
          <a:noFill/>
          <a:ln/>
        </p:spPr>
        <p:txBody>
          <a:bodyPr wrap="square" lIns="0" tIns="0" rIns="0" bIns="0" rtlCol="0" anchor="t"/>
          <a:lstStyle/>
          <a:p>
            <a:pPr indent="0" marL="0">
              <a:buNone/>
            </a:pPr>
            <a:r>
              <a:rPr lang="en-US" sz="1600" dirty="0">
                <a:solidFill>
                  <a:srgbClr val="111111"/>
                </a:solidFill>
                <a:latin typeface="Helvetica Neue" pitchFamily="34" charset="0"/>
                <a:ea typeface="Helvetica Neue" pitchFamily="34" charset="-122"/>
                <a:cs typeface="Helvetica Neue" pitchFamily="34" charset="-120"/>
              </a:rPr>
              <a:t>Docs</a:t>
            </a:r>
            <a:endParaRPr lang="en-US" sz="1600" dirty="0"/>
          </a:p>
        </p:txBody>
      </p:sp>
      <p:sp>
        <p:nvSpPr>
          <p:cNvPr id="21" name="Text 14"/>
          <p:cNvSpPr txBox="1"/>
          <p:nvPr/>
        </p:nvSpPr>
        <p:spPr>
          <a:xfrm>
            <a:off x="2926080" y="4361688"/>
            <a:ext cx="8686800" cy="320040"/>
          </a:xfrm>
          <a:prstGeom prst="rect">
            <a:avLst/>
          </a:prstGeom>
          <a:noFill/>
          <a:ln/>
        </p:spPr>
        <p:txBody>
          <a:bodyPr wrap="square" lIns="0" tIns="0" rIns="0" bIns="0" rtlCol="0" anchor="t"/>
          <a:lstStyle/>
          <a:p>
            <a:pPr indent="0" marL="0">
              <a:buNone/>
            </a:pPr>
            <a:r>
              <a:rPr lang="en-US" sz="1200" dirty="0">
                <a:solidFill>
                  <a:srgbClr val="4C4C4C"/>
                </a:solidFill>
                <a:latin typeface="Helvetica Neue" pitchFamily="34" charset="0"/>
                <a:ea typeface="Helvetica Neue" pitchFamily="34" charset="-122"/>
                <a:cs typeface="Helvetica Neue" pitchFamily="34" charset="-120"/>
              </a:rPr>
              <a:t>docs.typesafe.ai · laya.convaiinnovations.com</a:t>
            </a:r>
            <a:endParaRPr lang="en-US" sz="1200" dirty="0"/>
          </a:p>
        </p:txBody>
      </p:sp>
      <p:sp>
        <p:nvSpPr>
          <p:cNvPr id="22" name="Shape 15"/>
          <p:cNvSpPr/>
          <p:nvPr/>
        </p:nvSpPr>
        <p:spPr>
          <a:xfrm>
            <a:off x="502920" y="4919472"/>
            <a:ext cx="11185855" cy="0"/>
          </a:xfrm>
          <a:prstGeom prst="line">
            <a:avLst/>
          </a:prstGeom>
          <a:noFill/>
          <a:ln w="9525">
            <a:solidFill>
              <a:srgbClr val="E8E8E8"/>
            </a:solidFill>
            <a:prstDash val="solid"/>
          </a:ln>
        </p:spPr>
      </p:sp>
      <p:sp>
        <p:nvSpPr>
          <p:cNvPr id="23" name="Text 16"/>
          <p:cNvSpPr txBox="1"/>
          <p:nvPr/>
        </p:nvSpPr>
        <p:spPr>
          <a:xfrm>
            <a:off x="502920" y="5138928"/>
            <a:ext cx="5486400" cy="274320"/>
          </a:xfrm>
          <a:prstGeom prst="rect">
            <a:avLst/>
          </a:prstGeom>
          <a:noFill/>
          <a:ln/>
        </p:spPr>
        <p:txBody>
          <a:bodyPr wrap="square" lIns="0" tIns="0" rIns="0" bIns="0" rtlCol="0" anchor="t"/>
          <a:lstStyle/>
          <a:p>
            <a:pPr indent="0" marL="0">
              <a:buNone/>
            </a:pPr>
            <a:r>
              <a:rPr lang="en-US" sz="1100" dirty="0">
                <a:solidFill>
                  <a:srgbClr val="7A7A7A"/>
                </a:solidFill>
                <a:latin typeface="Helvetica Neue" pitchFamily="34" charset="0"/>
                <a:ea typeface="Helvetica Neue" pitchFamily="34" charset="-122"/>
                <a:cs typeface="Helvetica Neue" pitchFamily="34" charset="-120"/>
              </a:rPr>
              <a:t>How the afternoon runs</a:t>
            </a:r>
            <a:endParaRPr lang="en-US" sz="1100" dirty="0"/>
          </a:p>
        </p:txBody>
      </p:sp>
      <p:sp>
        <p:nvSpPr>
          <p:cNvPr id="24" name="Shape 17"/>
          <p:cNvSpPr/>
          <p:nvPr/>
        </p:nvSpPr>
        <p:spPr>
          <a:xfrm>
            <a:off x="502920" y="5440680"/>
            <a:ext cx="2651760" cy="640080"/>
          </a:xfrm>
          <a:prstGeom prst="roundRect">
            <a:avLst>
              <a:gd name="adj" fmla="val 11429"/>
            </a:avLst>
          </a:prstGeom>
          <a:solidFill>
            <a:srgbClr val="FFFFFF"/>
          </a:solidFill>
          <a:ln w="9525">
            <a:solidFill>
              <a:srgbClr val="111111"/>
            </a:solidFill>
            <a:prstDash val="solid"/>
          </a:ln>
        </p:spPr>
      </p:sp>
      <p:sp>
        <p:nvSpPr>
          <p:cNvPr id="25" name="Shape 18"/>
          <p:cNvSpPr/>
          <p:nvPr/>
        </p:nvSpPr>
        <p:spPr>
          <a:xfrm>
            <a:off x="685800" y="5641848"/>
            <a:ext cx="237744" cy="237744"/>
          </a:xfrm>
          <a:prstGeom prst="ellipse">
            <a:avLst/>
          </a:prstGeom>
          <a:solidFill>
            <a:srgbClr val="FFFFFF"/>
          </a:solidFill>
          <a:ln w="9525">
            <a:solidFill>
              <a:srgbClr val="111111"/>
            </a:solidFill>
            <a:prstDash val="solid"/>
          </a:ln>
        </p:spPr>
      </p:sp>
      <p:sp>
        <p:nvSpPr>
          <p:cNvPr id="26" name="Text 19"/>
          <p:cNvSpPr txBox="1"/>
          <p:nvPr/>
        </p:nvSpPr>
        <p:spPr>
          <a:xfrm>
            <a:off x="685800" y="56509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1</a:t>
            </a:r>
            <a:endParaRPr lang="en-US" sz="900" dirty="0"/>
          </a:p>
        </p:txBody>
      </p:sp>
      <p:sp>
        <p:nvSpPr>
          <p:cNvPr id="27" name="Text 20"/>
          <p:cNvSpPr txBox="1"/>
          <p:nvPr/>
        </p:nvSpPr>
        <p:spPr>
          <a:xfrm>
            <a:off x="1033272" y="5458968"/>
            <a:ext cx="2011680" cy="603504"/>
          </a:xfrm>
          <a:prstGeom prst="rect">
            <a:avLst/>
          </a:prstGeom>
          <a:noFill/>
          <a:ln/>
        </p:spPr>
        <p:txBody>
          <a:bodyPr wrap="square" lIns="0" tIns="0" rIns="0" bIns="0" rtlCol="0" anchor="ctr"/>
          <a:lstStyle/>
          <a:p>
            <a:pPr indent="0" marL="0">
              <a:buNone/>
            </a:pPr>
            <a:r>
              <a:rPr lang="en-US" sz="1150" dirty="0">
                <a:solidFill>
                  <a:srgbClr val="111111"/>
                </a:solidFill>
                <a:latin typeface="Helvetica Neue" pitchFamily="34" charset="0"/>
                <a:ea typeface="Helvetica Neue" pitchFamily="34" charset="-122"/>
                <a:cs typeface="Helvetica Neue" pitchFamily="34" charset="-120"/>
              </a:rPr>
              <a:t>Form teams of 2–3</a:t>
            </a:r>
            <a:endParaRPr lang="en-US" sz="1150" dirty="0"/>
          </a:p>
        </p:txBody>
      </p:sp>
      <p:sp>
        <p:nvSpPr>
          <p:cNvPr id="28" name="Shape 21"/>
          <p:cNvSpPr/>
          <p:nvPr/>
        </p:nvSpPr>
        <p:spPr>
          <a:xfrm>
            <a:off x="3172968" y="5760720"/>
            <a:ext cx="146304" cy="0"/>
          </a:xfrm>
          <a:prstGeom prst="line">
            <a:avLst/>
          </a:prstGeom>
          <a:noFill/>
          <a:ln w="11430">
            <a:solidFill>
              <a:srgbClr val="111111"/>
            </a:solidFill>
            <a:prstDash val="solid"/>
            <a:tailEnd type="triangle"/>
          </a:ln>
        </p:spPr>
      </p:sp>
      <p:sp>
        <p:nvSpPr>
          <p:cNvPr id="29" name="Shape 22"/>
          <p:cNvSpPr/>
          <p:nvPr/>
        </p:nvSpPr>
        <p:spPr>
          <a:xfrm>
            <a:off x="3337560" y="5440680"/>
            <a:ext cx="2651760" cy="640080"/>
          </a:xfrm>
          <a:prstGeom prst="roundRect">
            <a:avLst>
              <a:gd name="adj" fmla="val 11429"/>
            </a:avLst>
          </a:prstGeom>
          <a:solidFill>
            <a:srgbClr val="FFFFFF"/>
          </a:solidFill>
          <a:ln w="9525">
            <a:solidFill>
              <a:srgbClr val="111111"/>
            </a:solidFill>
            <a:prstDash val="solid"/>
          </a:ln>
        </p:spPr>
      </p:sp>
      <p:sp>
        <p:nvSpPr>
          <p:cNvPr id="30" name="Shape 23"/>
          <p:cNvSpPr/>
          <p:nvPr/>
        </p:nvSpPr>
        <p:spPr>
          <a:xfrm>
            <a:off x="3520440" y="5641848"/>
            <a:ext cx="237744" cy="237744"/>
          </a:xfrm>
          <a:prstGeom prst="ellipse">
            <a:avLst/>
          </a:prstGeom>
          <a:solidFill>
            <a:srgbClr val="FFFFFF"/>
          </a:solidFill>
          <a:ln w="9525">
            <a:solidFill>
              <a:srgbClr val="111111"/>
            </a:solidFill>
            <a:prstDash val="solid"/>
          </a:ln>
        </p:spPr>
      </p:sp>
      <p:sp>
        <p:nvSpPr>
          <p:cNvPr id="31" name="Text 24"/>
          <p:cNvSpPr txBox="1"/>
          <p:nvPr/>
        </p:nvSpPr>
        <p:spPr>
          <a:xfrm>
            <a:off x="3520440" y="56509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2</a:t>
            </a:r>
            <a:endParaRPr lang="en-US" sz="900" dirty="0"/>
          </a:p>
        </p:txBody>
      </p:sp>
      <p:sp>
        <p:nvSpPr>
          <p:cNvPr id="32" name="Text 25"/>
          <p:cNvSpPr txBox="1"/>
          <p:nvPr/>
        </p:nvSpPr>
        <p:spPr>
          <a:xfrm>
            <a:off x="3867912" y="5458968"/>
            <a:ext cx="2011680" cy="603504"/>
          </a:xfrm>
          <a:prstGeom prst="rect">
            <a:avLst/>
          </a:prstGeom>
          <a:noFill/>
          <a:ln/>
        </p:spPr>
        <p:txBody>
          <a:bodyPr wrap="square" lIns="0" tIns="0" rIns="0" bIns="0" rtlCol="0" anchor="ctr"/>
          <a:lstStyle/>
          <a:p>
            <a:pPr indent="0" marL="0">
              <a:buNone/>
            </a:pPr>
            <a:r>
              <a:rPr lang="en-US" sz="1150" dirty="0">
                <a:solidFill>
                  <a:srgbClr val="111111"/>
                </a:solidFill>
                <a:latin typeface="Helvetica Neue" pitchFamily="34" charset="0"/>
                <a:ea typeface="Helvetica Neue" pitchFamily="34" charset="-122"/>
                <a:cs typeface="Helvetica Neue" pitchFamily="34" charset="-120"/>
              </a:rPr>
              <a:t>Build</a:t>
            </a:r>
            <a:endParaRPr lang="en-US" sz="1150" dirty="0"/>
          </a:p>
        </p:txBody>
      </p:sp>
      <p:sp>
        <p:nvSpPr>
          <p:cNvPr id="33" name="Shape 26"/>
          <p:cNvSpPr/>
          <p:nvPr/>
        </p:nvSpPr>
        <p:spPr>
          <a:xfrm>
            <a:off x="6007608" y="5760720"/>
            <a:ext cx="146304" cy="0"/>
          </a:xfrm>
          <a:prstGeom prst="line">
            <a:avLst/>
          </a:prstGeom>
          <a:noFill/>
          <a:ln w="11430">
            <a:solidFill>
              <a:srgbClr val="111111"/>
            </a:solidFill>
            <a:prstDash val="solid"/>
            <a:tailEnd type="triangle"/>
          </a:ln>
        </p:spPr>
      </p:sp>
      <p:sp>
        <p:nvSpPr>
          <p:cNvPr id="34" name="Shape 27"/>
          <p:cNvSpPr/>
          <p:nvPr/>
        </p:nvSpPr>
        <p:spPr>
          <a:xfrm>
            <a:off x="6172200" y="5440680"/>
            <a:ext cx="2651760" cy="640080"/>
          </a:xfrm>
          <a:prstGeom prst="roundRect">
            <a:avLst>
              <a:gd name="adj" fmla="val 11429"/>
            </a:avLst>
          </a:prstGeom>
          <a:solidFill>
            <a:srgbClr val="FFFFFF"/>
          </a:solidFill>
          <a:ln w="9525">
            <a:solidFill>
              <a:srgbClr val="111111"/>
            </a:solidFill>
            <a:prstDash val="solid"/>
          </a:ln>
        </p:spPr>
      </p:sp>
      <p:sp>
        <p:nvSpPr>
          <p:cNvPr id="35" name="Shape 28"/>
          <p:cNvSpPr/>
          <p:nvPr/>
        </p:nvSpPr>
        <p:spPr>
          <a:xfrm>
            <a:off x="6355080" y="5641848"/>
            <a:ext cx="237744" cy="237744"/>
          </a:xfrm>
          <a:prstGeom prst="ellipse">
            <a:avLst/>
          </a:prstGeom>
          <a:solidFill>
            <a:srgbClr val="FFFFFF"/>
          </a:solidFill>
          <a:ln w="9525">
            <a:solidFill>
              <a:srgbClr val="111111"/>
            </a:solidFill>
            <a:prstDash val="solid"/>
          </a:ln>
        </p:spPr>
      </p:sp>
      <p:sp>
        <p:nvSpPr>
          <p:cNvPr id="36" name="Text 29"/>
          <p:cNvSpPr txBox="1"/>
          <p:nvPr/>
        </p:nvSpPr>
        <p:spPr>
          <a:xfrm>
            <a:off x="6355080" y="56509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3</a:t>
            </a:r>
            <a:endParaRPr lang="en-US" sz="900" dirty="0"/>
          </a:p>
        </p:txBody>
      </p:sp>
      <p:sp>
        <p:nvSpPr>
          <p:cNvPr id="37" name="Text 30"/>
          <p:cNvSpPr txBox="1"/>
          <p:nvPr/>
        </p:nvSpPr>
        <p:spPr>
          <a:xfrm>
            <a:off x="6702552" y="5458968"/>
            <a:ext cx="2011680" cy="603504"/>
          </a:xfrm>
          <a:prstGeom prst="rect">
            <a:avLst/>
          </a:prstGeom>
          <a:noFill/>
          <a:ln/>
        </p:spPr>
        <p:txBody>
          <a:bodyPr wrap="square" lIns="0" tIns="0" rIns="0" bIns="0" rtlCol="0" anchor="ctr"/>
          <a:lstStyle/>
          <a:p>
            <a:pPr indent="0" marL="0">
              <a:buNone/>
            </a:pPr>
            <a:r>
              <a:rPr lang="en-US" sz="1150" dirty="0">
                <a:solidFill>
                  <a:srgbClr val="111111"/>
                </a:solidFill>
                <a:latin typeface="Helvetica Neue" pitchFamily="34" charset="0"/>
                <a:ea typeface="Helvetica Neue" pitchFamily="34" charset="-122"/>
                <a:cs typeface="Helvetica Neue" pitchFamily="34" charset="-120"/>
              </a:rPr>
              <a:t>Half-way check-in</a:t>
            </a:r>
            <a:endParaRPr lang="en-US" sz="1150" dirty="0"/>
          </a:p>
        </p:txBody>
      </p:sp>
      <p:sp>
        <p:nvSpPr>
          <p:cNvPr id="38" name="Shape 31"/>
          <p:cNvSpPr/>
          <p:nvPr/>
        </p:nvSpPr>
        <p:spPr>
          <a:xfrm>
            <a:off x="8842248" y="5760720"/>
            <a:ext cx="146304" cy="0"/>
          </a:xfrm>
          <a:prstGeom prst="line">
            <a:avLst/>
          </a:prstGeom>
          <a:noFill/>
          <a:ln w="11430">
            <a:solidFill>
              <a:srgbClr val="111111"/>
            </a:solidFill>
            <a:prstDash val="solid"/>
            <a:tailEnd type="triangle"/>
          </a:ln>
        </p:spPr>
      </p:sp>
      <p:sp>
        <p:nvSpPr>
          <p:cNvPr id="39" name="Shape 32"/>
          <p:cNvSpPr/>
          <p:nvPr/>
        </p:nvSpPr>
        <p:spPr>
          <a:xfrm>
            <a:off x="9006840" y="5440680"/>
            <a:ext cx="2651760" cy="640080"/>
          </a:xfrm>
          <a:prstGeom prst="roundRect">
            <a:avLst>
              <a:gd name="adj" fmla="val 11429"/>
            </a:avLst>
          </a:prstGeom>
          <a:solidFill>
            <a:srgbClr val="7B909B"/>
          </a:solidFill>
          <a:ln w="9525">
            <a:solidFill>
              <a:srgbClr val="7B909B"/>
            </a:solidFill>
            <a:prstDash val="solid"/>
          </a:ln>
        </p:spPr>
      </p:sp>
      <p:sp>
        <p:nvSpPr>
          <p:cNvPr id="40" name="Shape 33"/>
          <p:cNvSpPr/>
          <p:nvPr/>
        </p:nvSpPr>
        <p:spPr>
          <a:xfrm>
            <a:off x="9189720" y="5641848"/>
            <a:ext cx="237744" cy="237744"/>
          </a:xfrm>
          <a:prstGeom prst="ellipse">
            <a:avLst/>
          </a:prstGeom>
          <a:solidFill>
            <a:srgbClr val="FFFFFF"/>
          </a:solidFill>
          <a:ln w="9525">
            <a:solidFill>
              <a:srgbClr val="FFFFFF"/>
            </a:solidFill>
            <a:prstDash val="solid"/>
          </a:ln>
        </p:spPr>
      </p:sp>
      <p:sp>
        <p:nvSpPr>
          <p:cNvPr id="41" name="Text 34"/>
          <p:cNvSpPr txBox="1"/>
          <p:nvPr/>
        </p:nvSpPr>
        <p:spPr>
          <a:xfrm>
            <a:off x="9189720" y="5650992"/>
            <a:ext cx="237744" cy="219456"/>
          </a:xfrm>
          <a:prstGeom prst="rect">
            <a:avLst/>
          </a:prstGeom>
          <a:noFill/>
          <a:ln/>
        </p:spPr>
        <p:txBody>
          <a:bodyPr wrap="square" lIns="0" tIns="0" rIns="0" bIns="0" rtlCol="0" anchor="ctr"/>
          <a:lstStyle/>
          <a:p>
            <a:pPr algn="ctr" indent="0" marL="0">
              <a:buNone/>
            </a:pPr>
            <a:r>
              <a:rPr lang="en-US" sz="900" dirty="0">
                <a:solidFill>
                  <a:srgbClr val="111111"/>
                </a:solidFill>
                <a:latin typeface="Helvetica Neue" pitchFamily="34" charset="0"/>
                <a:ea typeface="Helvetica Neue" pitchFamily="34" charset="-122"/>
                <a:cs typeface="Helvetica Neue" pitchFamily="34" charset="-120"/>
              </a:rPr>
              <a:t>4</a:t>
            </a:r>
            <a:endParaRPr lang="en-US" sz="900" dirty="0"/>
          </a:p>
        </p:txBody>
      </p:sp>
      <p:sp>
        <p:nvSpPr>
          <p:cNvPr id="42" name="Text 35"/>
          <p:cNvSpPr txBox="1"/>
          <p:nvPr/>
        </p:nvSpPr>
        <p:spPr>
          <a:xfrm>
            <a:off x="9537192" y="5458968"/>
            <a:ext cx="2011680" cy="603504"/>
          </a:xfrm>
          <a:prstGeom prst="rect">
            <a:avLst/>
          </a:prstGeom>
          <a:noFill/>
          <a:ln/>
        </p:spPr>
        <p:txBody>
          <a:bodyPr wrap="square" lIns="0" tIns="0" rIns="0" bIns="0" rtlCol="0" anchor="ctr"/>
          <a:lstStyle/>
          <a:p>
            <a:pPr indent="0" marL="0">
              <a:buNone/>
            </a:pPr>
            <a:r>
              <a:rPr lang="en-US" sz="1150" dirty="0">
                <a:solidFill>
                  <a:srgbClr val="FFFFFF"/>
                </a:solidFill>
                <a:latin typeface="Helvetica Neue" pitchFamily="34" charset="0"/>
                <a:ea typeface="Helvetica Neue" pitchFamily="34" charset="-122"/>
                <a:cs typeface="Helvetica Neue" pitchFamily="34" charset="-120"/>
              </a:rPr>
              <a:t>Show &amp; tell: 3 min, one number</a:t>
            </a:r>
            <a:endParaRPr lang="en-US" sz="11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00000"/>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4632808" y="2651760"/>
            <a:ext cx="2926080" cy="504749"/>
          </a:xfrm>
          <a:prstGeom prst="rect">
            <a:avLst/>
          </a:prstGeom>
        </p:spPr>
      </p:pic>
      <p:sp>
        <p:nvSpPr>
          <p:cNvPr id="3" name="Text 0"/>
          <p:cNvSpPr txBox="1"/>
          <p:nvPr/>
        </p:nvSpPr>
        <p:spPr>
          <a:xfrm>
            <a:off x="1097280" y="3520440"/>
            <a:ext cx="9994392" cy="457200"/>
          </a:xfrm>
          <a:prstGeom prst="rect">
            <a:avLst/>
          </a:prstGeom>
          <a:noFill/>
          <a:ln/>
        </p:spPr>
        <p:txBody>
          <a:bodyPr wrap="square" lIns="0" tIns="0" rIns="0" bIns="0" rtlCol="0" anchor="t"/>
          <a:lstStyle/>
          <a:p>
            <a:pPr algn="ctr" indent="0" marL="0">
              <a:buNone/>
            </a:pPr>
            <a:r>
              <a:rPr lang="en-US" sz="1400" dirty="0">
                <a:solidFill>
                  <a:srgbClr val="B5B5B5"/>
                </a:solidFill>
                <a:latin typeface="Helvetica Neue" pitchFamily="34" charset="0"/>
                <a:ea typeface="Helvetica Neue" pitchFamily="34" charset="-122"/>
                <a:cs typeface="Helvetica Neue" pitchFamily="34" charset="-120"/>
              </a:rPr>
              <a:t>Build your own opinion. Don't let the hype on X shape it. Then share it with the room.</a:t>
            </a:r>
            <a:endParaRPr lang="en-US" sz="1400" dirty="0"/>
          </a:p>
        </p:txBody>
      </p:sp>
      <p:sp>
        <p:nvSpPr>
          <p:cNvPr id="4" name="Text 1"/>
          <p:cNvSpPr txBox="1"/>
          <p:nvPr/>
        </p:nvSpPr>
        <p:spPr>
          <a:xfrm>
            <a:off x="502920" y="6419088"/>
            <a:ext cx="8229600" cy="228600"/>
          </a:xfrm>
          <a:prstGeom prst="rect">
            <a:avLst/>
          </a:prstGeom>
          <a:noFill/>
          <a:ln/>
        </p:spPr>
        <p:txBody>
          <a:bodyPr wrap="square" lIns="0" tIns="0" rIns="0" bIns="0" rtlCol="0" anchor="t"/>
          <a:lstStyle/>
          <a:p>
            <a:pPr indent="0" marL="0">
              <a:buNone/>
            </a:pPr>
            <a:r>
              <a:rPr lang="en-US" sz="900" dirty="0">
                <a:solidFill>
                  <a:srgbClr val="FFFFFF"/>
                </a:solidFill>
                <a:latin typeface="Helvetica Neue" pitchFamily="34" charset="0"/>
                <a:ea typeface="Helvetica Neue" pitchFamily="34" charset="-122"/>
                <a:cs typeface="Helvetica Neue" pitchFamily="34" charset="-120"/>
              </a:rPr>
              <a:t>Builders Lounge @ GeneralMind  ·  WeWork IWF Campus, Whitefield, Bengaluru  ·  27 September 2026</a:t>
            </a:r>
            <a:endParaRPr lang="en-US" sz="900" dirty="0"/>
          </a:p>
        </p:txBody>
      </p:sp>
      <p:sp>
        <p:nvSpPr>
          <p:cNvPr id="5" name="Text 2"/>
          <p:cNvSpPr txBox="1"/>
          <p:nvPr/>
        </p:nvSpPr>
        <p:spPr>
          <a:xfrm>
            <a:off x="8945575" y="6419088"/>
            <a:ext cx="2743200" cy="228600"/>
          </a:xfrm>
          <a:prstGeom prst="rect">
            <a:avLst/>
          </a:prstGeom>
          <a:noFill/>
          <a:ln/>
        </p:spPr>
        <p:txBody>
          <a:bodyPr wrap="square" lIns="0" tIns="0" rIns="0" bIns="0" rtlCol="0" anchor="t"/>
          <a:lstStyle/>
          <a:p>
            <a:pPr algn="r" indent="0" marL="0">
              <a:buNone/>
            </a:pPr>
            <a:r>
              <a:rPr lang="en-US" sz="900" dirty="0">
                <a:solidFill>
                  <a:srgbClr val="FFFFFF"/>
                </a:solidFill>
                <a:latin typeface="Helvetica Neue" pitchFamily="34" charset="0"/>
                <a:ea typeface="Helvetica Neue" pitchFamily="34" charset="-122"/>
                <a:cs typeface="Helvetica Neue" pitchFamily="34" charset="-120"/>
              </a:rPr>
              <a:t>luma.com/mjtfcmq3</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GeneralMind</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System One models: Jev, RLCD and Laya — Builders Lounge @ GeneralMind</dc:title>
  <dc:subject>PptxGenJS Presentation</dc:subject>
  <dc:creator>Pranav Thombare</dc:creator>
  <cp:lastModifiedBy>Pranav Thombare</cp:lastModifiedBy>
  <cp:revision>1</cp:revision>
  <dcterms:created xsi:type="dcterms:W3CDTF">2026-09-27T06:45:47Z</dcterms:created>
  <dcterms:modified xsi:type="dcterms:W3CDTF">2026-09-27T06:45:47Z</dcterms:modified>
</cp:coreProperties>
</file>